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4b1b0650634a11" /><Relationship Type="http://schemas.openxmlformats.org/officeDocument/2006/relationships/extended-properties" Target="/docProps/app.xml" Id="R10cab921435c43b2" /><Relationship Type="http://schemas.openxmlformats.org/officeDocument/2006/relationships/officeDocument" Target="/ppt/presentation.xml" Id="R9cfc614e942740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7838322f884bc8"/>
  </p:sldMasterIdLst>
  <p:notesMasterIdLst>
    <p:notesMasterId xmlns:r="http://schemas.openxmlformats.org/officeDocument/2006/relationships" r:id="R390062e746cd4ae5"/>
  </p:notesMasterIdLst>
  <p:sldIdLst>
    <p:sldId xmlns:r="http://schemas.openxmlformats.org/officeDocument/2006/relationships" id="256" r:id="R86d399214927403c"/>
    <p:sldId xmlns:r="http://schemas.openxmlformats.org/officeDocument/2006/relationships" id="257" r:id="R311a78f7dc3342a8"/>
    <p:sldId xmlns:r="http://schemas.openxmlformats.org/officeDocument/2006/relationships" id="258" r:id="Rf3b4636000f04a1b"/>
    <p:sldId xmlns:r="http://schemas.openxmlformats.org/officeDocument/2006/relationships" id="259" r:id="R52d4b28674794728"/>
    <p:sldId xmlns:r="http://schemas.openxmlformats.org/officeDocument/2006/relationships" id="260" r:id="Rea1b213929c04fe0"/>
    <p:sldId xmlns:r="http://schemas.openxmlformats.org/officeDocument/2006/relationships" id="261" r:id="R78bc347c5f9a4c8b"/>
    <p:sldId xmlns:r="http://schemas.openxmlformats.org/officeDocument/2006/relationships" id="262" r:id="R30d2e6432e1048d4"/>
    <p:sldId xmlns:r="http://schemas.openxmlformats.org/officeDocument/2006/relationships" id="263" r:id="R514384530e0e425b"/>
    <p:sldId xmlns:r="http://schemas.openxmlformats.org/officeDocument/2006/relationships" id="264" r:id="R66a1ecb400604efb"/>
    <p:sldId xmlns:r="http://schemas.openxmlformats.org/officeDocument/2006/relationships" id="265" r:id="R3b09bc7eee544a4e"/>
    <p:sldId xmlns:r="http://schemas.openxmlformats.org/officeDocument/2006/relationships" id="266" r:id="R816a0c59998f40df"/>
    <p:sldId xmlns:r="http://schemas.openxmlformats.org/officeDocument/2006/relationships" id="267" r:id="R6fa9698bf2fe4e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45dd03146140dd" /><Relationship Type="http://schemas.openxmlformats.org/officeDocument/2006/relationships/slideMaster" Target="/ppt/slideMasters/slideMaster1.xml" Id="R847838322f884bc8" /><Relationship Type="http://schemas.openxmlformats.org/officeDocument/2006/relationships/notesMaster" Target="/ppt/notesMasters/notesMaster1.xml" Id="R390062e746cd4ae5" /><Relationship Type="http://schemas.openxmlformats.org/officeDocument/2006/relationships/presProps" Target="/ppt/presProps.xml" Id="R7b3aaba754b243fa" /><Relationship Type="http://schemas.openxmlformats.org/officeDocument/2006/relationships/tableStyles" Target="/ppt/tableStyles.xml" Id="R08669af5c13b4cec" /><Relationship Type="http://schemas.openxmlformats.org/officeDocument/2006/relationships/slide" Target="/ppt/slides/slide1.xml" Id="R86d399214927403c" /><Relationship Type="http://schemas.openxmlformats.org/officeDocument/2006/relationships/slide" Target="/ppt/slides/slide2.xml" Id="R311a78f7dc3342a8" /><Relationship Type="http://schemas.openxmlformats.org/officeDocument/2006/relationships/slide" Target="/ppt/slides/slide3.xml" Id="Rf3b4636000f04a1b" /><Relationship Type="http://schemas.openxmlformats.org/officeDocument/2006/relationships/slide" Target="/ppt/slides/slide4.xml" Id="R52d4b28674794728" /><Relationship Type="http://schemas.openxmlformats.org/officeDocument/2006/relationships/slide" Target="/ppt/slides/slide5.xml" Id="Rea1b213929c04fe0" /><Relationship Type="http://schemas.openxmlformats.org/officeDocument/2006/relationships/slide" Target="/ppt/slides/slide6.xml" Id="R78bc347c5f9a4c8b" /><Relationship Type="http://schemas.openxmlformats.org/officeDocument/2006/relationships/slide" Target="/ppt/slides/slide7.xml" Id="R30d2e6432e1048d4" /><Relationship Type="http://schemas.openxmlformats.org/officeDocument/2006/relationships/slide" Target="/ppt/slides/slide8.xml" Id="R514384530e0e425b" /><Relationship Type="http://schemas.openxmlformats.org/officeDocument/2006/relationships/slide" Target="/ppt/slides/slide9.xml" Id="R66a1ecb400604efb" /><Relationship Type="http://schemas.openxmlformats.org/officeDocument/2006/relationships/slide" Target="/ppt/slides/slide10.xml" Id="R3b09bc7eee544a4e" /><Relationship Type="http://schemas.openxmlformats.org/officeDocument/2006/relationships/slide" Target="/ppt/slides/slide11.xml" Id="R816a0c59998f40df" /><Relationship Type="http://schemas.openxmlformats.org/officeDocument/2006/relationships/slide" Target="/ppt/slides/slide12.xml" Id="R6fa9698bf2fe4e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29d0dab5054a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59b38628154bc9" /><Relationship Type="http://schemas.openxmlformats.org/officeDocument/2006/relationships/notesMaster" Target="/ppt/notesMasters/notesMaster1.xml" Id="Re99c225cf16e43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b63c4c056a4a36" /><Relationship Type="http://schemas.openxmlformats.org/officeDocument/2006/relationships/notesMaster" Target="/ppt/notesMasters/notesMaster1.xml" Id="R1ce08ea4891543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b1b96285ac4321" /><Relationship Type="http://schemas.openxmlformats.org/officeDocument/2006/relationships/notesMaster" Target="/ppt/notesMasters/notesMaster1.xml" Id="R437ac9531b7244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7d7537052e4ce6" /><Relationship Type="http://schemas.openxmlformats.org/officeDocument/2006/relationships/notesMaster" Target="/ppt/notesMasters/notesMaster1.xml" Id="Rd48bed1621d84d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da70f582bb4f68" /><Relationship Type="http://schemas.openxmlformats.org/officeDocument/2006/relationships/notesMaster" Target="/ppt/notesMasters/notesMaster1.xml" Id="R0d64cedd3cbb4f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cfdc7345d64a96" /><Relationship Type="http://schemas.openxmlformats.org/officeDocument/2006/relationships/notesMaster" Target="/ppt/notesMasters/notesMaster1.xml" Id="R1059240f2ede4a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1154c513134961" /><Relationship Type="http://schemas.openxmlformats.org/officeDocument/2006/relationships/notesMaster" Target="/ppt/notesMasters/notesMaster1.xml" Id="R85c7d29d4e5147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7bcdd1783f414d" /><Relationship Type="http://schemas.openxmlformats.org/officeDocument/2006/relationships/notesMaster" Target="/ppt/notesMasters/notesMaster1.xml" Id="Rd383fd87a5d949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2996ddc38147f5" /><Relationship Type="http://schemas.openxmlformats.org/officeDocument/2006/relationships/notesMaster" Target="/ppt/notesMasters/notesMaster1.xml" Id="R8c2924d344fb4a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347ca2f3e940d9" /><Relationship Type="http://schemas.openxmlformats.org/officeDocument/2006/relationships/notesMaster" Target="/ppt/notesMasters/notesMaster1.xml" Id="R7fd9cdb17b2545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2cac72cdc04e8c" /><Relationship Type="http://schemas.openxmlformats.org/officeDocument/2006/relationships/notesMaster" Target="/ppt/notesMasters/notesMaster1.xml" Id="R5c3c510c43954e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7ae175517be47da" /><Relationship Type="http://schemas.openxmlformats.org/officeDocument/2006/relationships/notesMaster" Target="/ppt/notesMasters/notesMaster1.xml" Id="R43738d33845744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我们做的是一个在浏览器里运行的文化探索游戏。用户可以环顾洞窟、寻找线索，再结合线索答题。今天重点解释两项功能：全景和点击发现怎样工作，紫外线模式又怎样把预先设计的线索显示出来。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项目材料：docs/展示PPT.pptx，第1、2、19页。封面图直接取自原稿，不作为真实洞窟影像的证明。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产品把全景浏览和侦探式解谜结合起来。用户选择地点和关卡后，可以拖动观察、打开编号线索，也能寻找隐藏发现。题目把观察结果组织成推理过程。项目包含原创教学素材和虚构情节，演示效果不能作为考古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src/views/GameView.vue</a:t>
            </a:r>
          </a:p>
          <a:p xmlns:a="http://schemas.openxmlformats.org/drawingml/2006/main">
            <a:r>
              <a:t>src/data/game.ts</a:t>
            </a:r>
          </a:p>
          <a:p xmlns:a="http://schemas.openxmlformats.org/drawingml/2006/main">
            <a:r>
              <a:t>图：2026-09-15本地项目真实运行截图。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原来的展示稿记录了这些决策：先确定探索与解谜的形式，再在研学过程中加入观察维度和新的地点。内容越来越多后，配置生成器降低了手写配置的负担。这里强调的是产品需求怎样推动技术选择。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团队过程记录：docs/展示PPT.pptx，第6页。</a:t>
            </a:r>
          </a:p>
          <a:p xmlns:a="http://schemas.openxmlformats.org/drawingml/2006/main">
            <a:r>
              <a:t>当前实现：src/data/game.ts、utils/index.html。</a:t>
            </a:r>
          </a:p>
          <a:p xmlns:a="http://schemas.openxmlformats.org/drawingml/2006/main">
            <a:r>
              <a:t>原稿记录的Google Earth Studio开场制作工具仅在此作为团队记录，运行时播放的是导出的MP4。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ue负责界面，路由负责跳转。Pinia保存当前游戏状态，localStorage让刷新后还能恢复。Three.js负责三维视图。关卡内容通过TypeScript配置，增加内容时通常无需重写页面。工具链负责构建、测试和静态部署。当前没有业务后端或服务器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package.json</a:t>
            </a:r>
          </a:p>
          <a:p xmlns:a="http://schemas.openxmlformats.org/drawingml/2006/main">
            <a:r>
              <a:t>src/main.ts</a:t>
            </a:r>
          </a:p>
          <a:p xmlns:a="http://schemas.openxmlformats.org/drawingml/2006/main">
            <a:r>
              <a:t>src/router/index.ts</a:t>
            </a:r>
          </a:p>
          <a:p xmlns:a="http://schemas.openxmlformats.org/drawingml/2006/main">
            <a:r>
              <a:t>src/stores/game.ts</a:t>
            </a:r>
          </a:p>
          <a:p xmlns:a="http://schemas.openxmlformats.org/drawingml/2006/main">
            <a:r>
              <a:t>src/types/game.ts</a:t>
            </a:r>
          </a:p>
          <a:p xmlns:a="http://schemas.openxmlformats.org/drawingml/2006/main">
            <a:r>
              <a:t>.github/workflows/deploy-pages.yml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把它想成站在一个内壁贴满照片的球里。等距柱状图把水平角和垂直角对应到图片坐标，完整覆盖360度乘180度，所以通常是2比1。Three.js生成球体，再反转X轴使内侧可见。相机留在球心，从一个方向看过去，就得到当前屏幕画面。单纯把普通照片拉成2比1不会变成正确的全景。项目中的半径10是场景单位，不代表真实洞窟尺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src/components/PanoramaViewer.vue：initialize()，SphereGeometry(10,64,32)、geometry.scale(-1,1,1)。</a:t>
            </a:r>
          </a:p>
          <a:p xmlns:a="http://schemas.openxmlformats.org/drawingml/2006/main">
            <a:r>
              <a:t>https://threejs.org/docs/pages/SphereGeometry.html</a:t>
            </a:r>
          </a:p>
          <a:p xmlns:a="http://schemas.openxmlformats.org/drawingml/2006/main">
            <a:r>
              <a:t>图：public/yungang/yungang_cave3_pano.jpg。球体插图为本次生成的概念示意，不是真实洞窟模型。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拖动时，代码修改水平角和垂直角，再让相机看向新的方向。缩放时修改FOV，也就是相机的垂直视野角：数值小，屏幕装下的范围更窄，物体就显得更大。这类似在原地用长焦观察，并没有走到物体前面。代码把FOV限制在30到100度。两个截图来自同一关卡、同一朝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src/components/PanoramaViewer.vue：move()、zoom()、render()。</a:t>
            </a:r>
          </a:p>
          <a:p xmlns:a="http://schemas.openxmlformats.org/drawingml/2006/main">
            <a:r>
              <a:t>https://threejs.org/docs/pages/PerspectiveCamera.html</a:t>
            </a:r>
          </a:p>
          <a:p xmlns:a="http://schemas.openxmlformats.org/drawingml/2006/main">
            <a:r>
              <a:t>图：本次本地运行截图，70度和40度。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点击不是把屏幕像素坐标直接存下来。先按画布大小把点击坐标归一化到负1到1，Raycaster结合相机投影生成射线，再与半径10的球求交。交点减去球心后，和配置的Vector3计算欧氏距离。距离不超过accept_click_range才算命中，重叠区域选最近的一个，in_uv负责匹配当前观察模式。示例配置半径0.9是场景单位。同一份空间坐标能随屏幕尺寸和朝向继续工作。注意编号线索按钮是CSS2DObject，隐藏发现才由这一段射线逻辑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src/components/PanoramaViewer.vue：discover()、rebuildHotspots()。</a:t>
            </a:r>
          </a:p>
          <a:p xmlns:a="http://schemas.openxmlformats.org/drawingml/2006/main">
            <a:r>
              <a:t>src/utils/clickPoints.ts：findMatchingClickPoint()。</a:t>
            </a:r>
          </a:p>
          <a:p xmlns:a="http://schemas.openxmlformats.org/drawingml/2006/main">
            <a:r>
              <a:t>src/utils/hotspots.ts</a:t>
            </a:r>
          </a:p>
          <a:p xmlns:a="http://schemas.openxmlformats.org/drawingml/2006/main">
            <a:r>
              <a:t>https://threejs.org/docs/pages/Raycaster.html</a:t>
            </a:r>
          </a:p>
          <a:p xmlns:a="http://schemas.openxmlformats.org/drawingml/2006/main">
            <a:r>
              <a:t>插图为本次生成的示意，位置与大小不表示真实尺度。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种技术的差别在于怎样表示场景。全景把一个观察点看到的颜色存进图片，旋转相机就能环顾。3D高斯使用大量位置、形状、颜色和不透明度可调整的高斯体，从多视角照片拟合场景，再把它们投影到新视角并混合成图像。因此它能支持观察位置变化，但效果取决于拍摄覆盖、相机位姿和优化质量。原稿记录我们受采集条件限制，选择全景方案。这是本项目的取舍，不是说全景在所有场景下都比3DGS更好。当前代码没有高斯模型或渲染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团队选型：docs/展示PPT.pptx，第7页。</a:t>
            </a:r>
          </a:p>
          <a:p xmlns:a="http://schemas.openxmlformats.org/drawingml/2006/main">
            <a:r>
              <a:t>实现核验：src/components/PanoramaViewer.vue、package.json。</a:t>
            </a:r>
          </a:p>
          <a:p xmlns:a="http://schemas.openxmlformats.org/drawingml/2006/main">
            <a:r>
              <a:t>Kerbl等，2023，3D Gaussian Splatting for Real-Time Radiance Field Rendering：https://repo-sam.inria.fr/fungraph/3d-gaussian-splatting/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有两个步骤。首先把普通纹理url换成专用的ultraviolet_url，然后启用紫外线着色器。专用素材已经画好了白色标记。着色器让背景偏紫蓝、让白色标记显得更亮。它不会从一张普通照片自动发现真实隐藏文字，也没有在测量真实紫外光。当前截图使用原创教学SVG，代表游戏里的视觉模拟。只有当前时相提供了专用素材，界面才允许开启这个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src/components/PanoramaViewer.vue：loadTexture()。</a:t>
            </a:r>
          </a:p>
          <a:p xmlns:a="http://schemas.openxmlformats.org/drawingml/2006/main">
            <a:r>
              <a:t>src/views/GameView.vue</a:t>
            </a:r>
          </a:p>
          <a:p xmlns:a="http://schemas.openxmlformats.org/drawingml/2006/main">
            <a:r>
              <a:t>src/data/game.ts：九色秘语的url与ultraviolet_url。</a:t>
            </a:r>
          </a:p>
          <a:p xmlns:a="http://schemas.openxmlformats.org/drawingml/2006/main">
            <a:r>
              <a:t>public/art/cave-02.svg、public/art/dunhuang-uv.svg。</a:t>
            </a:r>
          </a:p>
          <a:p xmlns:a="http://schemas.openxmlformats.org/drawingml/2006/main">
            <a:r>
              <a:t>图：同一朝向的本地项目截图，素材和效果均来自现有实现。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der可以理解成一段让GPU对每个像素执行的计算规则。代码先把sRGB纹理解码，在线性颜色空间里用加权RGB算亮度，再用最大分量减最小分量估计色差。白色既亮又没有明显色偏，所以用高亮度、低色差作为荧光候选。smoothstep让阈值平滑过渡。背景按明暗映射到紫蓝色，候选标记映射到亮青色。再取上下左右四个邻点的白色强度做平均，叠加一圈小范围辉光。流程是RenderPass渲染场景、ShaderPass改颜色、OutputPass处理最终输出。它是一种自定义后处理滤镜，不能判断文物的年代、材质或真实隐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src/components/PanoramaViewer.vue：ultravioletShader、whiteness()、ultravioletColor()、initialize()。</a:t>
            </a:r>
          </a:p>
          <a:p xmlns:a="http://schemas.openxmlformats.org/drawingml/2006/main">
            <a:r>
              <a:t>https://threejs.org/docs/pages/ShaderPass.html</a:t>
            </a:r>
          </a:p>
          <a:p xmlns:a="http://schemas.openxmlformats.org/drawingml/2006/main">
            <a:r>
              <a:t>https://threejs.org/docs/pages/EffectComposer.html</a:t>
            </a:r>
          </a:p>
          <a:p xmlns:a="http://schemas.openxmlformats.org/drawingml/2006/main">
            <a:r>
              <a:t>补充：uvLuminance()权重为0.2126、0.7152、0.0722。邻域步长为1.5/resolution。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除了画面效果，我们也处理真实使用中的问题。异步加载用编号区分新旧请求，避免旧请求覆盖新画面；纹理成功后才替换，并释放旧资源。普通模式直接渲染，紫外模式才运行后处理。存档在关键动作和页面离开时保存，另外每15秒备份。强制结束浏览器时，最后一小段计时仍可能丢失。项目有Vitest和Playwright测试，不能把存在测试等同于完全没有错误。虽然仓库有切片工具，当前渲染器还没有实现分级瓦片加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src/components/PanoramaViewer.vue：renderPixelRatio()、render()、loadTexture()、dispose()。</a:t>
            </a:r>
          </a:p>
          <a:p xmlns:a="http://schemas.openxmlformats.org/drawingml/2006/main">
            <a:r>
              <a:t>src/App.vue</a:t>
            </a:r>
          </a:p>
          <a:p xmlns:a="http://schemas.openxmlformats.org/drawingml/2006/main">
            <a:r>
              <a:t>src/stores/game.ts</a:t>
            </a:r>
          </a:p>
          <a:p xmlns:a="http://schemas.openxmlformats.org/drawingml/2006/main">
            <a:r>
              <a:t>tools/slice-panoramas.py</a:t>
            </a:r>
          </a:p>
          <a:p xmlns:a="http://schemas.openxmlformats.org/drawingml/2006/main">
            <a:r>
              <a:t>vitest.config.ts、playwright.config.ts。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演示三个动作。第一，在同一位置拖动和缩放，观察视野怎样变化。第二，打开紫外线模式，旋转到白色示意标记所在方向，比较两套素材的区别。第三，点击编号线索并打开题目。我们的理解可以压成两句话：全景是在球心看贴图，点击用射线求交和距离判断；紫外线模式先换专用素材，再按规则改变每个像素的颜色。网络不方便时，前面的截图也足以完成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依据与出处</a:t>
            </a:r>
          </a:p>
          <a:p xmlns:a="http://schemas.openxmlformats.org/drawingml/2006/main">
            <a:r>
              <a:t>网页地址来自docs/展示PPT.pptx，第20页：https://james-chenyuhang987.github.io/dunhuang-mystery/</a:t>
            </a:r>
          </a:p>
          <a:p xmlns:a="http://schemas.openxmlformats.org/drawingml/2006/main">
            <a:r>
              <a:t>图：本次本地运行截图。</a:t>
            </a:r>
          </a:p>
          <a:p xmlns:a="http://schemas.openxmlformats.org/drawingml/2006/main">
            <a:r>
              <a:t>演示建议约60秒，总讲解建议约6至8分钟。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7c69dde17c41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48e18ce76a40d8" /><Relationship Type="http://schemas.openxmlformats.org/officeDocument/2006/relationships/slideLayout" Target="/ppt/slideLayouts/slideLayout1.xml" Id="R086fa660e55045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6fa660e55045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81c7f8dfc46f2" /><Relationship Type="http://schemas.openxmlformats.org/officeDocument/2006/relationships/image" Target="/ppt/media/image.png" Id="R0bd434e1ce754923" /><Relationship Type="http://schemas.openxmlformats.org/officeDocument/2006/relationships/notesSlide" Target="/ppt/notesSlides/notesSlide1.xml" Id="R6ab06417081149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cd42f10984055" /><Relationship Type="http://schemas.openxmlformats.org/officeDocument/2006/relationships/image" Target="/ppt/media/image2.png" Id="R21769373cbcf4df2" /><Relationship Type="http://schemas.openxmlformats.org/officeDocument/2006/relationships/notesSlide" Target="/ppt/notesSlides/notesSlide2.xml" Id="Rbe9ff5daafa949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521e5d04e409d" /><Relationship Type="http://schemas.openxmlformats.org/officeDocument/2006/relationships/notesSlide" Target="/ppt/notesSlides/notesSlide3.xml" Id="R156786bffe1447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4d294ead94a00" /><Relationship Type="http://schemas.openxmlformats.org/officeDocument/2006/relationships/notesSlide" Target="/ppt/notesSlides/notesSlide4.xml" Id="Rfef6ff74284442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1d759dae44d6f" /><Relationship Type="http://schemas.openxmlformats.org/officeDocument/2006/relationships/image" Target="/ppt/media/image.jpeg" Id="Rad15de7406f140da" /><Relationship Type="http://schemas.openxmlformats.org/officeDocument/2006/relationships/image" Target="/ppt/media/image3.png" Id="Rccb8b335da014cd6" /><Relationship Type="http://schemas.openxmlformats.org/officeDocument/2006/relationships/notesSlide" Target="/ppt/notesSlides/notesSlide5.xml" Id="R7b058ccddd1c4e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bac2c3c8f495f" /><Relationship Type="http://schemas.openxmlformats.org/officeDocument/2006/relationships/image" Target="/ppt/media/image4.png" Id="R1747425ef00a4a9b" /><Relationship Type="http://schemas.openxmlformats.org/officeDocument/2006/relationships/image" Target="/ppt/media/image5.png" Id="Rc2388fafe2c741f4" /><Relationship Type="http://schemas.openxmlformats.org/officeDocument/2006/relationships/notesSlide" Target="/ppt/notesSlides/notesSlide6.xml" Id="Rfb58a1561ada4d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37840fa7b4be6" /><Relationship Type="http://schemas.openxmlformats.org/officeDocument/2006/relationships/image" Target="/ppt/media/image6.png" Id="R14d9c16c6cc4449f" /><Relationship Type="http://schemas.openxmlformats.org/officeDocument/2006/relationships/notesSlide" Target="/ppt/notesSlides/notesSlide7.xml" Id="R3ec0bac97cad46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d15f2324840f0" /><Relationship Type="http://schemas.openxmlformats.org/officeDocument/2006/relationships/notesSlide" Target="/ppt/notesSlides/notesSlide8.xml" Id="R8f83e301b4b64f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98b71bcde4af4" /><Relationship Type="http://schemas.openxmlformats.org/officeDocument/2006/relationships/image" Target="/ppt/media/image7.png" Id="R4adaffb68d2d4d68" /><Relationship Type="http://schemas.openxmlformats.org/officeDocument/2006/relationships/image" Target="/ppt/media/image8.png" Id="R2e6b8794a5f04d92" /><Relationship Type="http://schemas.openxmlformats.org/officeDocument/2006/relationships/notesSlide" Target="/ppt/notesSlides/notesSlide9.xml" Id="R822b7a6791014b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28f1619674c05" /><Relationship Type="http://schemas.openxmlformats.org/officeDocument/2006/relationships/image" Target="/ppt/media/image9.png" Id="Rf32b6468afd74819" /><Relationship Type="http://schemas.openxmlformats.org/officeDocument/2006/relationships/notesSlide" Target="/ppt/notesSlides/notesSlide10.xml" Id="Rd491b76eaf4d47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9139b14bd4b3b" /><Relationship Type="http://schemas.openxmlformats.org/officeDocument/2006/relationships/notesSlide" Target="/ppt/notesSlides/notesSlide11.xml" Id="R000f84b1c97f46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21a4655004560" /><Relationship Type="http://schemas.openxmlformats.org/officeDocument/2006/relationships/image" Target="/ppt/media/image10.png" Id="R016bf3f755294b42" /><Relationship Type="http://schemas.openxmlformats.org/officeDocument/2006/relationships/hyperlink" Target="https://james-chenyuhang987.github.io/dunhuang-mystery/" TargetMode="External" Id="R429cea8f2ff34d22" /><Relationship Type="http://schemas.openxmlformats.org/officeDocument/2006/relationships/notesSlide" Target="/ppt/notesSlides/notesSlide12.xml" Id="Rbac2c12571474a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10E312A9-4E88-408F-90D3-A05A28FA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敦煌·探迹">
            <a:extLst xmlns:a="http://schemas.openxmlformats.org/drawingml/2006/main">
              <a:ext uri="{FF2B5EF4-FFF2-40B4-BE49-F238E27FC236}">
                <a16:creationId xmlns:a16="http://schemas.microsoft.com/office/drawing/2014/main" id="{55781E8A-7BF8-4E2D-8056-DD3C3841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00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敦煌·探迹</a:t>
            </a:r>
          </a:p>
        </p:txBody>
      </p:sp>
      <p:sp>
        <p:nvSpPr>
          <p:cNvPr id="3" name="项目与核心原理">
            <a:extLst xmlns:a="http://schemas.openxmlformats.org/drawingml/2006/main">
              <a:ext uri="{FF2B5EF4-FFF2-40B4-BE49-F238E27FC236}">
                <a16:creationId xmlns:a16="http://schemas.microsoft.com/office/drawing/2014/main" id="{5B694A8D-FBC8-430E-8B05-25566FEC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850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rPr>
              <a:t>项目与核心原理</a:t>
            </a:r>
          </a:p>
        </p:txBody>
      </p:sp>
      <p:sp>
        <p:nvSpPr>
          <p:cNvPr id="4" name="360° 全景与点击发现&#10;紫外线观察">
            <a:extLst xmlns:a="http://schemas.openxmlformats.org/drawingml/2006/main">
              <a:ext uri="{FF2B5EF4-FFF2-40B4-BE49-F238E27FC236}">
                <a16:creationId xmlns:a16="http://schemas.microsoft.com/office/drawing/2014/main" id="{22F8DF15-261E-476E-BD72-3DA9F2FB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429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360° 全景与点击发现</a:t>
            </a:r>
          </a:p>
          <a:p xmlns:a="http://schemas.openxmlformats.org/drawingml/2006/main">
            <a:pPr>
              <a:defRPr sz="23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紫外线观察</a:t>
            </a:r>
          </a:p>
        </p:txBody>
      </p:sp>
      <p:sp>
        <p:nvSpPr>
          <p:cNvPr id="5" name="F4·筑境者">
            <a:extLst xmlns:a="http://schemas.openxmlformats.org/drawingml/2006/main">
              <a:ext uri="{FF2B5EF4-FFF2-40B4-BE49-F238E27FC236}">
                <a16:creationId xmlns:a16="http://schemas.microsoft.com/office/drawing/2014/main" id="{3023869D-FEE0-4A41-8362-252B34C7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rPr>
              <a:t>F4·筑境者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434e1ce754923"/>
          <a:stretch xmlns:a="http://schemas.openxmlformats.org/drawingml/2006/main"/>
        </p:blipFill>
        <p:spPr>
          <a:xfrm xmlns:a="http://schemas.openxmlformats.org/drawingml/2006/main">
            <a:off x="5238750" y="1560954"/>
            <a:ext cx="6343650" cy="35932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6193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在全景中观察、找线索、做推理">
            <a:extLst xmlns:a="http://schemas.openxmlformats.org/drawingml/2006/main">
              <a:ext uri="{FF2B5EF4-FFF2-40B4-BE49-F238E27FC236}">
                <a16:creationId xmlns:a16="http://schemas.microsoft.com/office/drawing/2014/main" id="{5755E584-76AA-4139-BDB6-129584E9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在全景中观察、找线索、做推理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A6E574BA-C9FE-41A9-917E-C9BAC746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69373cbcf4df2"/>
          <a:stretch xmlns:a="http://schemas.openxmlformats.org/drawingml/2006/main"/>
        </p:blipFill>
        <p:spPr>
          <a:xfrm xmlns:a="http://schemas.openxmlformats.org/drawingml/2006/main">
            <a:off x="985838" y="1571625"/>
            <a:ext cx="7010400" cy="4381500"/>
          </a:xfrm>
          <a:prstGeom xmlns:a="http://schemas.openxmlformats.org/drawingml/2006/main" prst="rect">
            <a:avLst/>
          </a:prstGeom>
        </p:spPr>
      </p:pic>
      <p:sp>
        <p:nvSpPr>
          <p:cNvPr id="4" name="用户在做什么">
            <a:extLst xmlns:a="http://schemas.openxmlformats.org/drawingml/2006/main">
              <a:ext uri="{FF2B5EF4-FFF2-40B4-BE49-F238E27FC236}">
                <a16:creationId xmlns:a16="http://schemas.microsoft.com/office/drawing/2014/main" id="{F8261D09-06CB-4A72-AE3C-5F6EC465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rPr>
              <a:t>用户在做什么</a:t>
            </a:r>
          </a:p>
        </p:txBody>
      </p:sp>
      <p:sp>
        <p:nvSpPr>
          <p:cNvPr id="5" name="环顾场景&#10;寻找线索&#10;结合证据答题">
            <a:extLst xmlns:a="http://schemas.openxmlformats.org/drawingml/2006/main">
              <a:ext uri="{FF2B5EF4-FFF2-40B4-BE49-F238E27FC236}">
                <a16:creationId xmlns:a16="http://schemas.microsoft.com/office/drawing/2014/main" id="{35A66646-4208-4F15-972B-A1C98F27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09825"/>
            <a:ext cx="2857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环顾场景</a:t>
            </a:r>
          </a:p>
          <a:p xmlns:a="http://schemas.openxmlformats.org/drawingml/2006/main">
            <a:pPr>
              <a:defRPr sz="24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寻找线索</a:t>
            </a:r>
          </a:p>
          <a:p xmlns:a="http://schemas.openxmlformats.org/drawingml/2006/main">
            <a:pPr>
              <a:defRPr sz="24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结合证据答题</a:t>
            </a:r>
          </a:p>
        </p:txBody>
      </p:sp>
      <p:sp>
        <p:nvSpPr>
          <p:cNvPr id="6" name="敦煌与云冈&#10;桌面和手机均可使用">
            <a:extLst xmlns:a="http://schemas.openxmlformats.org/drawingml/2006/main">
              <a:ext uri="{FF2B5EF4-FFF2-40B4-BE49-F238E27FC236}">
                <a16:creationId xmlns:a16="http://schemas.microsoft.com/office/drawing/2014/main" id="{2A856901-310D-49AC-9545-E6979A19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434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rPr>
              <a:t>敦煌与云冈</a:t>
            </a:r>
          </a:p>
          <a:p xmlns:a="http://schemas.openxmlformats.org/drawingml/2006/main">
            <a:pPr>
              <a:defRPr sz="1875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rPr>
              <a:t>桌面和手机均可使用</a:t>
            </a:r>
          </a:p>
        </p:txBody>
      </p:sp>
    </p:spTree>
    <p:extLst>
      <p:ext uri="{BB962C8B-B14F-4D97-AF65-F5344CB8AC3E}">
        <p14:creationId xmlns:p14="http://schemas.microsoft.com/office/powerpoint/2010/main" val="558102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研学过程中的几次取舍">
            <a:extLst xmlns:a="http://schemas.openxmlformats.org/drawingml/2006/main">
              <a:ext uri="{FF2B5EF4-FFF2-40B4-BE49-F238E27FC236}">
                <a16:creationId xmlns:a16="http://schemas.microsoft.com/office/drawing/2014/main" id="{2513F0C3-DD5A-4106-93D7-729C4C05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研学过程中的几次取舍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94C1CDC5-D0D6-4AAB-9BD2-DA97E299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8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7817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研学前">
            <a:extLst xmlns:a="http://schemas.openxmlformats.org/drawingml/2006/main">
              <a:ext uri="{FF2B5EF4-FFF2-40B4-BE49-F238E27FC236}">
                <a16:creationId xmlns:a16="http://schemas.microsoft.com/office/drawing/2014/main" id="{6F4DA5DD-8083-4E27-BCCB-360D7EF7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665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866536"/>
                </a:solidFill>
                <a:latin typeface="Hiragino Sans GB"/>
                <a:ea typeface="Hiragino Sans GB"/>
                <a:cs typeface="Hiragino Sans GB"/>
              </a:rPr>
              <a:t>研学前</a:t>
            </a:r>
          </a:p>
        </p:txBody>
      </p:sp>
      <p:sp>
        <p:nvSpPr>
          <p:cNvPr id="4" name="确定“全景浏览 + 侦探解谜”的产品形式">
            <a:extLst xmlns:a="http://schemas.openxmlformats.org/drawingml/2006/main">
              <a:ext uri="{FF2B5EF4-FFF2-40B4-BE49-F238E27FC236}">
                <a16:creationId xmlns:a16="http://schemas.microsoft.com/office/drawing/2014/main" id="{8CBD34DE-9AA2-4EB1-B1C7-2A5F1F38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657350"/>
            <a:ext cx="845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确定“全景浏览 + 侦探解谜”的产品形式</a:t>
            </a:r>
          </a:p>
        </p:txBody>
      </p:sp>
      <p:sp>
        <p:nvSpPr>
          <p:cNvPr id="5" name="研学第一天">
            <a:extLst xmlns:a="http://schemas.openxmlformats.org/drawingml/2006/main">
              <a:ext uri="{FF2B5EF4-FFF2-40B4-BE49-F238E27FC236}">
                <a16:creationId xmlns:a16="http://schemas.microsoft.com/office/drawing/2014/main" id="{D132A611-7ED0-4A5E-B18F-42D31082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665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866536"/>
                </a:solidFill>
                <a:latin typeface="Hiragino Sans GB"/>
                <a:ea typeface="Hiragino Sans GB"/>
                <a:cs typeface="Hiragino Sans GB"/>
              </a:rPr>
              <a:t>研学第一天</a:t>
            </a:r>
          </a:p>
        </p:txBody>
      </p:sp>
      <p:sp>
        <p:nvSpPr>
          <p:cNvPr id="6" name="把地点、关卡和题目集中到配置中">
            <a:extLst xmlns:a="http://schemas.openxmlformats.org/drawingml/2006/main">
              <a:ext uri="{FF2B5EF4-FFF2-40B4-BE49-F238E27FC236}">
                <a16:creationId xmlns:a16="http://schemas.microsoft.com/office/drawing/2014/main" id="{F182F41C-B8CA-4ADB-9906-C104B6F0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95550"/>
            <a:ext cx="845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把地点、关卡和题目集中到配置中</a:t>
            </a:r>
          </a:p>
        </p:txBody>
      </p:sp>
      <p:sp>
        <p:nvSpPr>
          <p:cNvPr id="7" name="参观过程中">
            <a:extLst xmlns:a="http://schemas.openxmlformats.org/drawingml/2006/main">
              <a:ext uri="{FF2B5EF4-FFF2-40B4-BE49-F238E27FC236}">
                <a16:creationId xmlns:a16="http://schemas.microsoft.com/office/drawing/2014/main" id="{012F175E-FFC4-45CC-B2A0-BAF91B3F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665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866536"/>
                </a:solidFill>
                <a:latin typeface="Hiragino Sans GB"/>
                <a:ea typeface="Hiragino Sans GB"/>
                <a:cs typeface="Hiragino Sans GB"/>
              </a:rPr>
              <a:t>参观过程中</a:t>
            </a:r>
          </a:p>
        </p:txBody>
      </p:sp>
      <p:sp>
        <p:nvSpPr>
          <p:cNvPr id="8" name="加入时间轴与紫外线观察">
            <a:extLst xmlns:a="http://schemas.openxmlformats.org/drawingml/2006/main">
              <a:ext uri="{FF2B5EF4-FFF2-40B4-BE49-F238E27FC236}">
                <a16:creationId xmlns:a16="http://schemas.microsoft.com/office/drawing/2014/main" id="{9488D198-8E4C-48F3-85D8-F6F2CA83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33750"/>
            <a:ext cx="845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加入时间轴与紫外线观察</a:t>
            </a:r>
          </a:p>
        </p:txBody>
      </p:sp>
      <p:sp>
        <p:nvSpPr>
          <p:cNvPr id="9" name="扩展到云冈">
            <a:extLst xmlns:a="http://schemas.openxmlformats.org/drawingml/2006/main">
              <a:ext uri="{FF2B5EF4-FFF2-40B4-BE49-F238E27FC236}">
                <a16:creationId xmlns:a16="http://schemas.microsoft.com/office/drawing/2014/main" id="{02AD3A27-53F6-426F-8BDE-4ECF93F2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665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866536"/>
                </a:solidFill>
                <a:latin typeface="Hiragino Sans GB"/>
                <a:ea typeface="Hiragino Sans GB"/>
                <a:cs typeface="Hiragino Sans GB"/>
              </a:rPr>
              <a:t>扩展到云冈</a:t>
            </a:r>
          </a:p>
        </p:txBody>
      </p:sp>
      <p:sp>
        <p:nvSpPr>
          <p:cNvPr id="10" name="用另一组地点内容检验通用结构">
            <a:extLst xmlns:a="http://schemas.openxmlformats.org/drawingml/2006/main">
              <a:ext uri="{FF2B5EF4-FFF2-40B4-BE49-F238E27FC236}">
                <a16:creationId xmlns:a16="http://schemas.microsoft.com/office/drawing/2014/main" id="{D316672A-15F5-45AA-BDF8-15A1DD00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71950"/>
            <a:ext cx="845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用另一组地点内容检验通用结构</a:t>
            </a:r>
          </a:p>
        </p:txBody>
      </p:sp>
      <p:sp>
        <p:nvSpPr>
          <p:cNvPr id="11" name="内容编辑阶段">
            <a:extLst xmlns:a="http://schemas.openxmlformats.org/drawingml/2006/main">
              <a:ext uri="{FF2B5EF4-FFF2-40B4-BE49-F238E27FC236}">
                <a16:creationId xmlns:a16="http://schemas.microsoft.com/office/drawing/2014/main" id="{AB88C720-E665-44AC-8988-BC94C3BD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86653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866536"/>
                </a:solidFill>
                <a:latin typeface="Hiragino Sans GB"/>
                <a:ea typeface="Hiragino Sans GB"/>
                <a:cs typeface="Hiragino Sans GB"/>
              </a:rPr>
              <a:t>内容编辑阶段</a:t>
            </a:r>
          </a:p>
        </p:txBody>
      </p:sp>
      <p:sp>
        <p:nvSpPr>
          <p:cNvPr id="12" name="增加图形化关卡配置生成器">
            <a:extLst xmlns:a="http://schemas.openxmlformats.org/drawingml/2006/main">
              <a:ext uri="{FF2B5EF4-FFF2-40B4-BE49-F238E27FC236}">
                <a16:creationId xmlns:a16="http://schemas.microsoft.com/office/drawing/2014/main" id="{E06F1EE2-E06B-4666-BCB2-75E02EA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010150"/>
            <a:ext cx="8458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增加图形化关卡配置生成器</a:t>
            </a:r>
          </a:p>
        </p:txBody>
      </p:sp>
    </p:spTree>
    <p:extLst>
      <p:ext uri="{BB962C8B-B14F-4D97-AF65-F5344CB8AC3E}">
        <p14:creationId xmlns:p14="http://schemas.microsoft.com/office/powerpoint/2010/main" val="4213404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页面、进度和全景各有分工">
            <a:extLst xmlns:a="http://schemas.openxmlformats.org/drawingml/2006/main">
              <a:ext uri="{FF2B5EF4-FFF2-40B4-BE49-F238E27FC236}">
                <a16:creationId xmlns:a16="http://schemas.microsoft.com/office/drawing/2014/main" id="{2CC244F5-E734-4425-8900-DE7A828C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页面、进度和全景各有分工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1D558B0C-4742-480C-957E-045172C3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8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7817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3429000"/>
                <a:gridCol w="5257800"/>
              </a:tblGrid>
              <a:tr h="6953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6F1E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职责</a:t>
                      </a:r>
                    </a:p>
                  </a:txBody>
                  <a:tcPr marL="171450" marR="171450" marT="152400" marB="114300" anchor="ctr">
                    <a:solidFill>
                      <a:srgbClr val="0A192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6F1E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技术</a:t>
                      </a:r>
                    </a:p>
                  </a:txBody>
                  <a:tcPr marL="171450" marR="171450" marT="152400" marB="114300" anchor="ctr">
                    <a:solidFill>
                      <a:srgbClr val="0A192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6F1E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项目中的工作</a:t>
                      </a:r>
                    </a:p>
                  </a:txBody>
                  <a:tcPr marL="171450" marR="171450" marT="152400" marB="114300" anchor="ctr">
                    <a:solidFill>
                      <a:srgbClr val="0A1924"/>
                    </a:solidFill>
                  </a:tcPr>
                </a:tc>
              </a:tr>
              <a:tr h="6953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页面与跳转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Vue + Vue Router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首页、选关、探索与结算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  <a:tr h="6953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进度与存档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Pinia + localStorage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答题记录、线索解锁、刷新恢复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  <a:tr h="6953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全景与特效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Three.js + WebGL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球面贴图、射线、紫外线着色器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  <a:tr h="6953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内容配置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TypeScript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约束地点、关卡和题目格式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</a:tbl>
          </a:graphicData>
        </a:graphic>
      </p:graphicFrame>
      <p:sp>
        <p:nvSpPr>
          <p:cNvPr id="4" name="Vite 构建，GitHub Pages 发布，Vite">
            <a:extLst xmlns:a="http://schemas.openxmlformats.org/drawingml/2006/main">
              <a:ext uri="{FF2B5EF4-FFF2-40B4-BE49-F238E27FC236}">
                <a16:creationId xmlns:a16="http://schemas.microsoft.com/office/drawing/2014/main" id="{37917827-45D0-42BB-806E-C07E9036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Vite 构建，GitHub Pages 发布，Vitest 与 Playwright 验证</a:t>
            </a:r>
          </a:p>
        </p:txBody>
      </p:sp>
    </p:spTree>
    <p:extLst>
      <p:ext uri="{BB962C8B-B14F-4D97-AF65-F5344CB8AC3E}">
        <p14:creationId xmlns:p14="http://schemas.microsoft.com/office/powerpoint/2010/main" val="9523729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2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360° 全景：在球心看一张环绕图片">
            <a:extLst xmlns:a="http://schemas.openxmlformats.org/drawingml/2006/main">
              <a:ext uri="{FF2B5EF4-FFF2-40B4-BE49-F238E27FC236}">
                <a16:creationId xmlns:a16="http://schemas.microsoft.com/office/drawing/2014/main" id="{8FBB1014-1033-496B-8ECF-D5BD1D91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360° 全景：在球心看一张环绕图片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A7FAEA6A-DE43-4DB9-9AA4-3D671BCE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全景图横向覆盖 360°&#10;纵向覆盖 180°">
            <a:extLst xmlns:a="http://schemas.openxmlformats.org/drawingml/2006/main">
              <a:ext uri="{FF2B5EF4-FFF2-40B4-BE49-F238E27FC236}">
                <a16:creationId xmlns:a16="http://schemas.microsoft.com/office/drawing/2014/main" id="{C7120346-45F4-4A8B-B7C3-3586618C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7148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全景图横向覆盖 360°</a:t>
            </a:r>
          </a:p>
          <a:p xmlns:a="http://schemas.openxmlformats.org/drawingml/2006/main">
            <a:pPr>
              <a:defRPr sz="225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纵向覆盖 180°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5de7406f140da"/>
          <a:stretch xmlns:a="http://schemas.openxmlformats.org/drawingml/2006/main"/>
        </p:blipFill>
        <p:spPr>
          <a:xfrm xmlns:a="http://schemas.openxmlformats.org/drawingml/2006/main">
            <a:off x="609600" y="2800350"/>
            <a:ext cx="4457700" cy="2228850"/>
          </a:xfrm>
          <a:prstGeom xmlns:a="http://schemas.openxmlformats.org/drawingml/2006/main" prst="rect">
            <a:avLst/>
          </a:prstGeom>
        </p:spPr>
      </p:pic>
      <p:sp>
        <p:nvSpPr>
          <p:cNvPr id="5" name="把 2:1 等距柱状图贴到球内壁&#10;虚拟相机固定在球心">
            <a:extLst xmlns:a="http://schemas.openxmlformats.org/drawingml/2006/main">
              <a:ext uri="{FF2B5EF4-FFF2-40B4-BE49-F238E27FC236}">
                <a16:creationId xmlns:a16="http://schemas.microsoft.com/office/drawing/2014/main" id="{54C14455-C664-433F-A0C1-4B6C7830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5286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rPr>
              <a:t>把 2:1 等距柱状图贴到球内壁</a:t>
            </a:r>
          </a:p>
          <a:p xmlns:a="http://schemas.openxmlformats.org/drawingml/2006/main">
            <a:pPr>
              <a:defRPr sz="21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rPr>
              <a:t>虚拟相机固定在球心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8b335da014cd6"/>
          <a:stretch xmlns:a="http://schemas.openxmlformats.org/drawingml/2006/main"/>
        </p:blipFill>
        <p:spPr>
          <a:xfrm xmlns:a="http://schemas.openxmlformats.org/drawingml/2006/main">
            <a:off x="5353050" y="1431925"/>
            <a:ext cx="6362700" cy="4241800"/>
          </a:xfrm>
          <a:prstGeom xmlns:a="http://schemas.openxmlformats.org/drawingml/2006/main" prst="rect">
            <a:avLst/>
          </a:prstGeom>
        </p:spPr>
      </p:pic>
      <p:sp>
        <p:nvSpPr>
          <p:cNvPr id="7" name="概念示意">
            <a:extLst xmlns:a="http://schemas.openxmlformats.org/drawingml/2006/main">
              <a:ext uri="{FF2B5EF4-FFF2-40B4-BE49-F238E27FC236}">
                <a16:creationId xmlns:a16="http://schemas.microsoft.com/office/drawing/2014/main" id="{23767A99-F46B-487A-A764-462E445C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772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rPr>
              <a:t>概念示意</a:t>
            </a:r>
          </a:p>
        </p:txBody>
      </p:sp>
    </p:spTree>
    <p:extLst>
      <p:ext uri="{BB962C8B-B14F-4D97-AF65-F5344CB8AC3E}">
        <p14:creationId xmlns:p14="http://schemas.microsoft.com/office/powerpoint/2010/main" val="4913391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拖动改变朝向，缩放改变视野">
            <a:extLst xmlns:a="http://schemas.openxmlformats.org/drawingml/2006/main">
              <a:ext uri="{FF2B5EF4-FFF2-40B4-BE49-F238E27FC236}">
                <a16:creationId xmlns:a16="http://schemas.microsoft.com/office/drawing/2014/main" id="{12E493F9-FA57-4B41-BF61-F097E7C0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拖动改变朝向，缩放改变视野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50DAA262-F9B1-476B-9988-4AC46AFA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FOV 70°：看得更宽">
            <a:extLst xmlns:a="http://schemas.openxmlformats.org/drawingml/2006/main">
              <a:ext uri="{FF2B5EF4-FFF2-40B4-BE49-F238E27FC236}">
                <a16:creationId xmlns:a16="http://schemas.microsoft.com/office/drawing/2014/main" id="{B4545131-B416-4082-8DF0-EFFC3978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rPr>
              <a:t>FOV 70°：看得更宽</a:t>
            </a:r>
          </a:p>
        </p:txBody>
      </p:sp>
      <p:sp>
        <p:nvSpPr>
          <p:cNvPr id="4" name="FOV 40°：同一方向看得更近">
            <a:extLst xmlns:a="http://schemas.openxmlformats.org/drawingml/2006/main">
              <a:ext uri="{FF2B5EF4-FFF2-40B4-BE49-F238E27FC236}">
                <a16:creationId xmlns:a16="http://schemas.microsoft.com/office/drawing/2014/main" id="{EFFCBA58-B0EA-4EB7-B7D4-4BABE3A9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52575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rPr>
              <a:t>FOV 40°：同一方向看得更近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7425ef00a4a9b"/>
          <a:stretch xmlns:a="http://schemas.openxmlformats.org/drawingml/2006/main"/>
        </p:blipFill>
        <p:spPr>
          <a:xfrm xmlns:a="http://schemas.openxmlformats.org/drawingml/2006/main">
            <a:off x="609600" y="2195513"/>
            <a:ext cx="5257800" cy="3286125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88fafe2c741f4"/>
          <a:stretch xmlns:a="http://schemas.openxmlformats.org/drawingml/2006/main"/>
        </p:blipFill>
        <p:spPr>
          <a:xfrm xmlns:a="http://schemas.openxmlformats.org/drawingml/2006/main">
            <a:off x="6324600" y="2195513"/>
            <a:ext cx="5257800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相机位置保持不变，图片也没有增加新细节">
            <a:extLst xmlns:a="http://schemas.openxmlformats.org/drawingml/2006/main">
              <a:ext uri="{FF2B5EF4-FFF2-40B4-BE49-F238E27FC236}">
                <a16:creationId xmlns:a16="http://schemas.microsoft.com/office/drawing/2014/main" id="{CFA53CF3-96B1-47B3-BA48-524CFF74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相机位置保持不变，图片也没有增加新细节</a:t>
            </a:r>
          </a:p>
        </p:txBody>
      </p:sp>
    </p:spTree>
    <p:extLst>
      <p:ext uri="{BB962C8B-B14F-4D97-AF65-F5344CB8AC3E}">
        <p14:creationId xmlns:p14="http://schemas.microsoft.com/office/powerpoint/2010/main" val="2349630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2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点击发现：求交点，再比较距离">
            <a:extLst xmlns:a="http://schemas.openxmlformats.org/drawingml/2006/main">
              <a:ext uri="{FF2B5EF4-FFF2-40B4-BE49-F238E27FC236}">
                <a16:creationId xmlns:a16="http://schemas.microsoft.com/office/drawing/2014/main" id="{77E53BD4-EA0E-4985-8DBA-B5D02802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点击发现：求交点，再比较距离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EE6AFA5D-BA8D-4241-8CFD-38D3B509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9c16c6cc4449f"/>
          <a:stretch xmlns:a="http://schemas.openxmlformats.org/drawingml/2006/main"/>
        </p:blipFill>
        <p:spPr>
          <a:xfrm xmlns:a="http://schemas.openxmlformats.org/drawingml/2006/main">
            <a:off x="285750" y="1447800"/>
            <a:ext cx="6572250" cy="4381500"/>
          </a:xfrm>
          <a:prstGeom xmlns:a="http://schemas.openxmlformats.org/drawingml/2006/main" prst="rect">
            <a:avLst/>
          </a:prstGeom>
        </p:spPr>
      </p:pic>
      <p:sp>
        <p:nvSpPr>
          <p:cNvPr id="4" name="点击怎样变成一个三维点">
            <a:extLst xmlns:a="http://schemas.openxmlformats.org/drawingml/2006/main">
              <a:ext uri="{FF2B5EF4-FFF2-40B4-BE49-F238E27FC236}">
                <a16:creationId xmlns:a16="http://schemas.microsoft.com/office/drawing/2014/main" id="{7226654F-9B64-4444-AF91-F0A9DFA0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19250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rPr>
              <a:t>点击怎样变成一个三维点</a:t>
            </a:r>
          </a:p>
        </p:txBody>
      </p:sp>
      <p:sp>
        <p:nvSpPr>
          <p:cNvPr id="5" name="1  将屏幕点击换成射线&#10;2  求出射线与球面的交点&#10;3">
            <a:extLst xmlns:a="http://schemas.openxmlformats.org/drawingml/2006/main">
              <a:ext uri="{FF2B5EF4-FFF2-40B4-BE49-F238E27FC236}">
                <a16:creationId xmlns:a16="http://schemas.microsoft.com/office/drawing/2014/main" id="{910E3494-43B9-479C-B7B5-8C04E2E1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47925"/>
            <a:ext cx="4572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1  将屏幕点击换成射线</a:t>
            </a:r>
          </a:p>
          <a:p xmlns:a="http://schemas.openxmlformats.org/drawingml/2006/main">
            <a:pPr>
              <a:defRPr sz="21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2  求出射线与球面的交点</a:t>
            </a:r>
          </a:p>
          <a:p xmlns:a="http://schemas.openxmlformats.org/drawingml/2006/main">
            <a:pPr>
              <a:defRPr sz="21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3  找范围内最近的配置点</a:t>
            </a:r>
          </a:p>
        </p:txBody>
      </p:sp>
      <p:sp>
        <p:nvSpPr>
          <p:cNvPr id="6" name="距离 ≤ 点击半径&#10;且普通／紫外模式一致">
            <a:extLst xmlns:a="http://schemas.openxmlformats.org/drawingml/2006/main">
              <a:ext uri="{FF2B5EF4-FFF2-40B4-BE49-F238E27FC236}">
                <a16:creationId xmlns:a16="http://schemas.microsoft.com/office/drawing/2014/main" id="{03820537-3D3E-463F-BF45-685CC8DB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67225"/>
            <a:ext cx="4572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77D4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77D4D5"/>
                </a:solidFill>
                <a:latin typeface="Hiragino Sans GB"/>
                <a:ea typeface="Hiragino Sans GB"/>
                <a:cs typeface="Hiragino Sans GB"/>
              </a:rPr>
              <a:t>距离 ≤ 点击半径</a:t>
            </a:r>
          </a:p>
          <a:p xmlns:a="http://schemas.openxmlformats.org/drawingml/2006/main">
            <a:pPr>
              <a:defRPr sz="2400" b="1">
                <a:solidFill>
                  <a:srgbClr val="77D4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77D4D5"/>
                </a:solidFill>
                <a:latin typeface="Hiragino Sans GB"/>
                <a:ea typeface="Hiragino Sans GB"/>
                <a:cs typeface="Hiragino Sans GB"/>
              </a:rPr>
              <a:t>且普通／紫外模式一致</a:t>
            </a:r>
          </a:p>
        </p:txBody>
      </p:sp>
      <p:sp>
        <p:nvSpPr>
          <p:cNvPr id="7" name="编号按钮用 CSS2D 定位，隐藏发现使用射线判定">
            <a:extLst xmlns:a="http://schemas.openxmlformats.org/drawingml/2006/main">
              <a:ext uri="{FF2B5EF4-FFF2-40B4-BE49-F238E27FC236}">
                <a16:creationId xmlns:a16="http://schemas.microsoft.com/office/drawing/2014/main" id="{CA5623A0-3032-4C5B-8689-9D995391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rPr>
              <a:t>编号按钮用 CSS2D 定位，隐藏发现使用射线判定</a:t>
            </a:r>
          </a:p>
        </p:txBody>
      </p:sp>
    </p:spTree>
    <p:extLst>
      <p:ext uri="{BB962C8B-B14F-4D97-AF65-F5344CB8AC3E}">
        <p14:creationId xmlns:p14="http://schemas.microsoft.com/office/powerpoint/2010/main" val="21279359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为什么选择球面全景">
            <a:extLst xmlns:a="http://schemas.openxmlformats.org/drawingml/2006/main">
              <a:ext uri="{FF2B5EF4-FFF2-40B4-BE49-F238E27FC236}">
                <a16:creationId xmlns:a16="http://schemas.microsoft.com/office/drawing/2014/main" id="{23C729F4-6B62-4D5F-B8DE-0B2F4B1D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为什么选择球面全景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17BCCFFC-A202-4085-B271-8689214A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8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7817E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505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4400550"/>
                <a:gridCol w="4857750"/>
              </a:tblGrid>
              <a:tr h="7010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6F1E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</a:t>
                      </a:r>
                    </a:p>
                  </a:txBody>
                  <a:tcPr marL="171450" marR="171450" marT="152400" marB="114300" anchor="ctr">
                    <a:solidFill>
                      <a:srgbClr val="0A192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6F1E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本项目的球面全景</a:t>
                      </a:r>
                    </a:p>
                  </a:txBody>
                  <a:tcPr marL="171450" marR="171450" marT="152400" marB="114300" anchor="ctr">
                    <a:solidFill>
                      <a:srgbClr val="0A192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6F1E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3D 高斯（3DGS）</a:t>
                      </a:r>
                    </a:p>
                  </a:txBody>
                  <a:tcPr marL="171450" marR="171450" marT="152400" marB="114300" anchor="ctr">
                    <a:solidFill>
                      <a:srgbClr val="0A1924"/>
                    </a:solidFill>
                  </a:tcPr>
                </a:tc>
              </a:tr>
              <a:tr h="7010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一个观察点的全景图片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多角度照片与相机位姿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  <a:tr h="7010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场景表示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球体内壁的一张贴图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许多带颜色和透明度的空间椭球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  <a:tr h="7010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观察方式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在原地环顾、改变视野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在采集覆盖范围内渲染新视角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  <a:tr h="7010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当前项目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已经实现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未接入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</a:tbl>
          </a:graphicData>
        </a:graphic>
      </p:graphicFrame>
      <p:sp>
        <p:nvSpPr>
          <p:cNvPr id="4" name="团队记录：采集条件有限，先保证环顾和解谜体验">
            <a:extLst xmlns:a="http://schemas.openxmlformats.org/drawingml/2006/main">
              <a:ext uri="{FF2B5EF4-FFF2-40B4-BE49-F238E27FC236}">
                <a16:creationId xmlns:a16="http://schemas.microsoft.com/office/drawing/2014/main" id="{3603FB00-4897-4F37-8080-66302547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团队记录：采集条件有限，先保证环顾和解谜体验</a:t>
            </a:r>
          </a:p>
        </p:txBody>
      </p:sp>
    </p:spTree>
    <p:extLst>
      <p:ext uri="{BB962C8B-B14F-4D97-AF65-F5344CB8AC3E}">
        <p14:creationId xmlns:p14="http://schemas.microsoft.com/office/powerpoint/2010/main" val="19040924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紫外线观察：切换素材，再突出标记">
            <a:extLst xmlns:a="http://schemas.openxmlformats.org/drawingml/2006/main">
              <a:ext uri="{FF2B5EF4-FFF2-40B4-BE49-F238E27FC236}">
                <a16:creationId xmlns:a16="http://schemas.microsoft.com/office/drawing/2014/main" id="{AB4E9C1E-4C55-4B65-9BC2-27B7BA94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紫外线观察：切换素材，再突出标记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934282A7-64AD-4179-A2F5-2C49AA48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普通素材">
            <a:extLst xmlns:a="http://schemas.openxmlformats.org/drawingml/2006/main">
              <a:ext uri="{FF2B5EF4-FFF2-40B4-BE49-F238E27FC236}">
                <a16:creationId xmlns:a16="http://schemas.microsoft.com/office/drawing/2014/main" id="{F7660B71-6016-460E-82BE-DB64AD31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rPr>
              <a:t>普通素材</a:t>
            </a:r>
          </a:p>
        </p:txBody>
      </p:sp>
      <p:sp>
        <p:nvSpPr>
          <p:cNvPr id="4" name="紫外线素材 + 着色器">
            <a:extLst xmlns:a="http://schemas.openxmlformats.org/drawingml/2006/main">
              <a:ext uri="{FF2B5EF4-FFF2-40B4-BE49-F238E27FC236}">
                <a16:creationId xmlns:a16="http://schemas.microsoft.com/office/drawing/2014/main" id="{D8270EBC-3900-4E3D-9D17-91FD3F51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5257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A0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B8A0EA"/>
                </a:solidFill>
                <a:latin typeface="Hiragino Sans GB"/>
                <a:ea typeface="Hiragino Sans GB"/>
                <a:cs typeface="Hiragino Sans GB"/>
              </a:rPr>
              <a:t>紫外线素材 + 着色器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affb68d2d4d68"/>
          <a:stretch xmlns:a="http://schemas.openxmlformats.org/drawingml/2006/main"/>
        </p:blipFill>
        <p:spPr>
          <a:xfrm xmlns:a="http://schemas.openxmlformats.org/drawingml/2006/main">
            <a:off x="609600" y="2128838"/>
            <a:ext cx="5257800" cy="3286125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b8794a5f04d92"/>
          <a:stretch xmlns:a="http://schemas.openxmlformats.org/drawingml/2006/main"/>
        </p:blipFill>
        <p:spPr>
          <a:xfrm xmlns:a="http://schemas.openxmlformats.org/drawingml/2006/main">
            <a:off x="6324600" y="2128838"/>
            <a:ext cx="5257800" cy="3286125"/>
          </a:xfrm>
          <a:prstGeom xmlns:a="http://schemas.openxmlformats.org/drawingml/2006/main" prst="rect">
            <a:avLst/>
          </a:prstGeom>
        </p:spPr>
      </p:pic>
      <p:sp>
        <p:nvSpPr>
          <p:cNvPr id="7" name="线索先画进专用素材，程序负责让它更醒目">
            <a:extLst xmlns:a="http://schemas.openxmlformats.org/drawingml/2006/main">
              <a:ext uri="{FF2B5EF4-FFF2-40B4-BE49-F238E27FC236}">
                <a16:creationId xmlns:a16="http://schemas.microsoft.com/office/drawing/2014/main" id="{C9D87D25-1CF7-4F37-91CB-BC35AEB9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线索先画进专用素材，程序负责让它更醒目</a:t>
            </a:r>
          </a:p>
        </p:txBody>
      </p:sp>
    </p:spTree>
    <p:extLst>
      <p:ext uri="{BB962C8B-B14F-4D97-AF65-F5344CB8AC3E}">
        <p14:creationId xmlns:p14="http://schemas.microsoft.com/office/powerpoint/2010/main" val="10218092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着色器给每个像素重新算颜色">
            <a:extLst xmlns:a="http://schemas.openxmlformats.org/drawingml/2006/main">
              <a:ext uri="{FF2B5EF4-FFF2-40B4-BE49-F238E27FC236}">
                <a16:creationId xmlns:a16="http://schemas.microsoft.com/office/drawing/2014/main" id="{05F90148-A5C1-4B28-95B1-27BFD1F5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着色器给每个像素重新算颜色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766BCB3D-56DE-4278-AC0A-6E8B9C0B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专用素材中已有白色标记">
            <a:extLst xmlns:a="http://schemas.openxmlformats.org/drawingml/2006/main">
              <a:ext uri="{FF2B5EF4-FFF2-40B4-BE49-F238E27FC236}">
                <a16:creationId xmlns:a16="http://schemas.microsoft.com/office/drawing/2014/main" id="{2777D71A-A97F-4DC6-9179-A8070C94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rPr>
              <a:t>专用素材中已有白色标记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b6468afd74819"/>
          <a:stretch xmlns:a="http://schemas.openxmlformats.org/drawingml/2006/main"/>
        </p:blipFill>
        <p:spPr>
          <a:xfrm xmlns:a="http://schemas.openxmlformats.org/drawingml/2006/main">
            <a:off x="609600" y="2190750"/>
            <a:ext cx="5200650" cy="2600325"/>
          </a:xfrm>
          <a:prstGeom xmlns:a="http://schemas.openxmlformats.org/drawingml/2006/main" prst="rect">
            <a:avLst/>
          </a:prstGeom>
        </p:spPr>
      </p:pic>
      <p:sp>
        <p:nvSpPr>
          <p:cNvPr id="5" name="1  读取像素明暗和色差&#10;&#10;2  用“亮且接近白色”找标">
            <a:extLst xmlns:a="http://schemas.openxmlformats.org/drawingml/2006/main">
              <a:ext uri="{FF2B5EF4-FFF2-40B4-BE49-F238E27FC236}">
                <a16:creationId xmlns:a16="http://schemas.microsoft.com/office/drawing/2014/main" id="{AD353D73-5711-4EDD-A1F0-4B37D3B5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314950" cy="3400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1  读取像素明暗和色差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2  用“亮且接近白色”找标记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3  背景转紫蓝，标记转亮青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4  采样上下左右，叠加辉光</a:t>
            </a:r>
          </a:p>
        </p:txBody>
      </p:sp>
      <p:sp>
        <p:nvSpPr>
          <p:cNvPr id="6" name="亮度 = 0.2126R + 0.7152G + 0.0">
            <a:extLst xmlns:a="http://schemas.openxmlformats.org/drawingml/2006/main">
              <a:ext uri="{FF2B5EF4-FFF2-40B4-BE49-F238E27FC236}">
                <a16:creationId xmlns:a16="http://schemas.microsoft.com/office/drawing/2014/main" id="{F31254AD-B90C-476F-B9DB-C1C51398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77D4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77D4D5"/>
                </a:solidFill>
                <a:latin typeface="Helvetica Neue"/>
                <a:ea typeface="Helvetica Neue"/>
                <a:cs typeface="Helvetica Neue"/>
              </a:rPr>
              <a:t>亮度 = 0.2126R + 0.7152G + 0.0722B</a:t>
            </a:r>
          </a:p>
        </p:txBody>
      </p:sp>
      <p:sp>
        <p:nvSpPr>
          <p:cNvPr id="7" name="GPU 在当前画面上逐像素处理，形成可控的视觉滤镜">
            <a:extLst xmlns:a="http://schemas.openxmlformats.org/drawingml/2006/main">
              <a:ext uri="{FF2B5EF4-FFF2-40B4-BE49-F238E27FC236}">
                <a16:creationId xmlns:a16="http://schemas.microsoft.com/office/drawing/2014/main" id="{4F201A96-EF04-4B49-9A96-B81CB210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GPU 在当前画面上逐像素处理，形成可控的视觉滤镜</a:t>
            </a:r>
          </a:p>
        </p:txBody>
      </p:sp>
    </p:spTree>
    <p:extLst>
      <p:ext uri="{BB962C8B-B14F-4D97-AF65-F5344CB8AC3E}">
        <p14:creationId xmlns:p14="http://schemas.microsoft.com/office/powerpoint/2010/main" val="9657569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功能落地，还要处理加载和恢复">
            <a:extLst xmlns:a="http://schemas.openxmlformats.org/drawingml/2006/main">
              <a:ext uri="{FF2B5EF4-FFF2-40B4-BE49-F238E27FC236}">
                <a16:creationId xmlns:a16="http://schemas.microsoft.com/office/drawing/2014/main" id="{653F4FF5-D27E-4D3A-ACDC-2F4C4BE2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功能落地，还要处理加载和恢复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7F824962-C3C6-41CF-B21D-30230C7C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81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77817E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505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7010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6F1E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用户遇到的情况</a:t>
                      </a:r>
                    </a:p>
                  </a:txBody>
                  <a:tcPr marL="171450" marR="171450" marT="152400" marB="114300" anchor="ctr">
                    <a:solidFill>
                      <a:srgbClr val="0A192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6F1E7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目前的处理</a:t>
                      </a:r>
                    </a:p>
                  </a:txBody>
                  <a:tcPr marL="171450" marR="171450" marT="152400" marB="114300" anchor="ctr">
                    <a:solidFill>
                      <a:srgbClr val="0A1924"/>
                    </a:solidFill>
                  </a:tcPr>
                </a:tc>
              </a:tr>
              <a:tr h="7010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快速切换全景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新素材加载成功后替换，丢弃过期结果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  <a:tr h="7010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手机渲染压力较大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像素比上限1.5，普通模式直接渲染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  <a:tr h="7010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刷新或离开页面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保存进度，另有每15秒自动备份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  <a:tr h="70104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素材失败或存档损坏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43139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显示错误和重试入口，恢复前校验数据</a:t>
                      </a:r>
                    </a:p>
                  </a:txBody>
                  <a:tcPr marL="171450" marR="171450" marT="152400" marB="114300" anchor="ctr">
                    <a:solidFill>
                      <a:srgbClr val="F6F1E7"/>
                    </a:solidFill>
                  </a:tcPr>
                </a:tc>
              </a:tr>
            </a:tbl>
          </a:graphicData>
        </a:graphic>
      </p:graphicFrame>
      <p:sp>
        <p:nvSpPr>
          <p:cNvPr id="4" name="目前全景仍整图加载，分辨率决定放大后的细节上限">
            <a:extLst xmlns:a="http://schemas.openxmlformats.org/drawingml/2006/main">
              <a:ext uri="{FF2B5EF4-FFF2-40B4-BE49-F238E27FC236}">
                <a16:creationId xmlns:a16="http://schemas.microsoft.com/office/drawing/2014/main" id="{E64D40DD-2C7F-4448-9B7A-7A28FD18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43139"/>
                </a:solidFill>
                <a:latin typeface="Hiragino Sans GB"/>
                <a:ea typeface="Hiragino Sans GB"/>
                <a:cs typeface="Hiragino Sans GB"/>
              </a:rPr>
              <a:t>目前全景仍整图加载，分辨率决定放大后的细节上限</a:t>
            </a:r>
          </a:p>
        </p:txBody>
      </p:sp>
    </p:spTree>
    <p:extLst>
      <p:ext uri="{BB962C8B-B14F-4D97-AF65-F5344CB8AC3E}">
        <p14:creationId xmlns:p14="http://schemas.microsoft.com/office/powerpoint/2010/main" val="4419210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9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现场演示">
            <a:extLst xmlns:a="http://schemas.openxmlformats.org/drawingml/2006/main">
              <a:ext uri="{FF2B5EF4-FFF2-40B4-BE49-F238E27FC236}">
                <a16:creationId xmlns:a16="http://schemas.microsoft.com/office/drawing/2014/main" id="{24D216C0-BC84-4ED5-934F-6E92B09C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现场演示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BDA1404A-6659-4D64-8CDA-036A8BAD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A9B6B6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全景与点击">
            <a:extLst xmlns:a="http://schemas.openxmlformats.org/drawingml/2006/main">
              <a:ext uri="{FF2B5EF4-FFF2-40B4-BE49-F238E27FC236}">
                <a16:creationId xmlns:a16="http://schemas.microsoft.com/office/drawing/2014/main" id="{AE25D690-5749-4387-88ED-3F183D5A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DCAF64"/>
                </a:solidFill>
                <a:latin typeface="Hiragino Sans GB"/>
                <a:ea typeface="Hiragino Sans GB"/>
                <a:cs typeface="Hiragino Sans GB"/>
              </a:rPr>
              <a:t>全景与点击</a:t>
            </a:r>
          </a:p>
        </p:txBody>
      </p:sp>
      <p:sp>
        <p:nvSpPr>
          <p:cNvPr id="4" name="球内贴图，原地环顾&#10;射线求交，距离判定">
            <a:extLst xmlns:a="http://schemas.openxmlformats.org/drawingml/2006/main">
              <a:ext uri="{FF2B5EF4-FFF2-40B4-BE49-F238E27FC236}">
                <a16:creationId xmlns:a16="http://schemas.microsoft.com/office/drawing/2014/main" id="{F1312D34-C4BF-43CA-8105-30E9D873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524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球内贴图，原地环顾</a:t>
            </a:r>
          </a:p>
          <a:p xmlns:a="http://schemas.openxmlformats.org/drawingml/2006/main">
            <a:pPr>
              <a:defRPr sz="27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射线求交，距离判定</a:t>
            </a:r>
          </a:p>
        </p:txBody>
      </p:sp>
      <p:sp>
        <p:nvSpPr>
          <p:cNvPr id="5" name="紫外线观察">
            <a:extLst xmlns:a="http://schemas.openxmlformats.org/drawingml/2006/main">
              <a:ext uri="{FF2B5EF4-FFF2-40B4-BE49-F238E27FC236}">
                <a16:creationId xmlns:a16="http://schemas.microsoft.com/office/drawing/2014/main" id="{34D402B3-DFE1-4E9D-9185-41BAFB29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B8A0E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B8A0EA"/>
                </a:solidFill>
                <a:latin typeface="Hiragino Sans GB"/>
                <a:ea typeface="Hiragino Sans GB"/>
                <a:cs typeface="Hiragino Sans GB"/>
              </a:rPr>
              <a:t>紫外线观察</a:t>
            </a:r>
          </a:p>
        </p:txBody>
      </p:sp>
      <p:sp>
        <p:nvSpPr>
          <p:cNvPr id="6" name="切换专用素材&#10;按像素计算颜色和辉光">
            <a:extLst xmlns:a="http://schemas.openxmlformats.org/drawingml/2006/main">
              <a:ext uri="{FF2B5EF4-FFF2-40B4-BE49-F238E27FC236}">
                <a16:creationId xmlns:a16="http://schemas.microsoft.com/office/drawing/2014/main" id="{37BB2DE4-A347-42A7-A6AF-241B8878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5524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切换专用素材</a:t>
            </a:r>
          </a:p>
          <a:p xmlns:a="http://schemas.openxmlformats.org/drawingml/2006/main">
            <a:pPr>
              <a:defRPr sz="27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F6F1E7"/>
                </a:solidFill>
                <a:latin typeface="Hiragino Sans GB"/>
                <a:ea typeface="Hiragino Sans GB"/>
                <a:cs typeface="Hiragino Sans GB"/>
              </a:rPr>
              <a:t>按像素计算颜色和辉光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bf3f755294b42"/>
          <a:stretch xmlns:a="http://schemas.openxmlformats.org/drawingml/2006/main"/>
        </p:blipFill>
        <p:spPr>
          <a:xfrm xmlns:a="http://schemas.openxmlformats.org/drawingml/2006/main">
            <a:off x="6686550" y="1632347"/>
            <a:ext cx="4895850" cy="3059906"/>
          </a:xfrm>
          <a:prstGeom xmlns:a="http://schemas.openxmlformats.org/drawingml/2006/main" prst="rect">
            <a:avLst/>
          </a:prstGeom>
        </p:spPr>
      </p:pic>
      <p:sp>
        <p:nvSpPr>
          <p:cNvPr id="8" name="打开项目网页">
            <a:extLst xmlns:a="http://schemas.openxmlformats.org/drawingml/2006/main">
              <a:ext uri="{FF2B5EF4-FFF2-40B4-BE49-F238E27FC236}">
                <a16:creationId xmlns:a16="http://schemas.microsoft.com/office/drawing/2014/main" id="{8FC26C16-C163-4336-AAB8-4EEAA801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0065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7D4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u="sng">
                <a:solidFill>
                  <a:srgbClr val="77D4D5"/>
                </a:solidFill>
                <a:hlinkClick xmlns:r="http://schemas.openxmlformats.org/officeDocument/2006/relationships" r:id="R429cea8f2ff34d22"/>
              </a:rPr>
              <a:t>打开项目网页</a:t>
            </a:r>
          </a:p>
        </p:txBody>
      </p:sp>
      <p:sp>
        <p:nvSpPr>
          <p:cNvPr id="9" name="拖动和缩放，切换紫外线，查看线索">
            <a:extLst xmlns:a="http://schemas.openxmlformats.org/drawingml/2006/main">
              <a:ext uri="{FF2B5EF4-FFF2-40B4-BE49-F238E27FC236}">
                <a16:creationId xmlns:a16="http://schemas.microsoft.com/office/drawing/2014/main" id="{1C6EBBA0-0362-4107-941E-C40C2701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A9B6B6"/>
                </a:solidFill>
                <a:latin typeface="Hiragino Sans GB"/>
                <a:ea typeface="Hiragino Sans GB"/>
                <a:cs typeface="Hiragino Sans GB"/>
              </a:rPr>
              <a:t>拖动和缩放，切换紫外线，查看线索</a:t>
            </a:r>
          </a:p>
        </p:txBody>
      </p:sp>
    </p:spTree>
    <p:extLst>
      <p:ext uri="{BB962C8B-B14F-4D97-AF65-F5344CB8AC3E}">
        <p14:creationId xmlns:p14="http://schemas.microsoft.com/office/powerpoint/2010/main" val="3246976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2026-09-15T13:27:37.6900000Z</dcterms:created>
  <dcterms:modified xsi:type="dcterms:W3CDTF">2026-09-15T13:27:37.6900000Z</dcterms:modified>
</coreProperties>
</file>