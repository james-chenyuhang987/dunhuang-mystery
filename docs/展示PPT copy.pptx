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9" r:id="rId5"/>
    <p:sldId id="258" r:id="rId6"/>
    <p:sldId id="267" r:id="rId7"/>
    <p:sldId id="270" r:id="rId8"/>
    <p:sldId id="271" r:id="rId9"/>
    <p:sldId id="260" r:id="rId10"/>
    <p:sldId id="261" r:id="rId11"/>
    <p:sldId id="262" r:id="rId12"/>
    <p:sldId id="263" r:id="rId13"/>
    <p:sldId id="268" r:id="rId14"/>
    <p:sldId id="264" r:id="rId15"/>
    <p:sldId id="265" r:id="rId16"/>
    <p:sldId id="266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13232" y="658368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DCAF64"/>
                </a:solidFill>
                <a:latin typeface="Aptos"/>
              </a:rPr>
              <a:t>DUNHUANG · EXPLORER</a:t>
            </a:r>
            <a:endParaRPr sz="12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539496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ingFang SC" panose="020B0400000000000000" charset="-122"/>
              </a:rPr>
              <a:t>一眼千年</a:t>
            </a:r>
            <a:endParaRPr sz="44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2404872"/>
            <a:ext cx="5029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 i="0">
                <a:solidFill>
                  <a:srgbClr val="F5D287"/>
                </a:solidFill>
                <a:latin typeface="PingFang SC" panose="020B0400000000000000" charset="-122"/>
              </a:rPr>
              <a:t>敦煌·探迹</a:t>
            </a:r>
            <a:endParaRPr sz="2500" b="1" i="0">
              <a:solidFill>
                <a:srgbClr val="F5D287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3127248"/>
            <a:ext cx="5029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0" i="0">
                <a:solidFill>
                  <a:srgbClr val="E0E5E4"/>
                </a:solidFill>
                <a:latin typeface="PingFang SC" panose="020B0400000000000000" charset="-122"/>
              </a:rPr>
              <a:t>产品与代码技术介绍</a:t>
            </a:r>
            <a:endParaRPr sz="2100" b="0" i="0">
              <a:solidFill>
                <a:srgbClr val="E0E5E4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" y="4069080"/>
            <a:ext cx="4846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A6B0B8"/>
                </a:solidFill>
                <a:latin typeface="PingFang SC" panose="020B0400000000000000" charset="-122"/>
              </a:rPr>
              <a:t>让千年壁画，再次开口。
从“能用”到“知道为什么能用”。</a:t>
            </a:r>
            <a:endParaRPr sz="1500" b="0" i="0">
              <a:solidFill>
                <a:srgbClr val="A6B0B8"/>
              </a:solidFill>
              <a:latin typeface="PingFang SC" panose="020B0400000000000000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749808" y="5074920"/>
            <a:ext cx="2130552" cy="0"/>
          </a:xfrm>
          <a:prstGeom prst="line">
            <a:avLst/>
          </a:prstGeom>
          <a:ln w="25400">
            <a:solidFill>
              <a:srgbClr val="DCAF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5303520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6AD3D7"/>
                </a:solidFill>
                <a:latin typeface="Aptos"/>
              </a:rPr>
              <a:t>Vue 3  ·  TypeScript  ·  Three.js  ·  Pinia</a:t>
            </a:r>
            <a:endParaRPr sz="1100" b="0" i="0">
              <a:solidFill>
                <a:srgbClr val="6AD3D7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6172200"/>
            <a:ext cx="52120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A6B0B8"/>
                </a:solidFill>
                <a:latin typeface="Aptos"/>
              </a:rPr>
              <a:t>2026  |  PRODUCT + ENGINEERING BRIEF</a:t>
            </a:r>
            <a:endParaRPr sz="900" b="0" i="0">
              <a:solidFill>
                <a:srgbClr val="A6B0B8"/>
              </a:solidFill>
              <a:latin typeface="Apto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0790" y="944245"/>
            <a:ext cx="8180070" cy="4633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01 · PRODUCT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 panose="020B0400000000000000" charset="-122"/>
              </a:rPr>
              <a:t>不是看图，而是进入一段可推理的故事</a:t>
            </a:r>
            <a:endParaRPr sz="27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02  /  DUNHUANG EXPLORER</a:t>
            </a:r>
            <a:endParaRPr sz="800" b="0" i="0">
              <a:solidFill>
                <a:srgbClr val="6C747B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1F262F"/>
                </a:solidFill>
                <a:latin typeface="PingFang SC" panose="020B0400000000000000" charset="-122"/>
              </a:rPr>
              <a:t>用户在洞窟全景里观察、切换时相、拾取线索，再用问题把证据连接起来。</a:t>
            </a:r>
            <a:endParaRPr sz="1500" b="0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 panose="020B0400000000000000" charset="-122"/>
              </a:rPr>
              <a:t>环顾</a:t>
            </a:r>
            <a:endParaRPr sz="17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0392" y="2624328"/>
            <a:ext cx="21488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PingFang SC" panose="020B0400000000000000" charset="-122"/>
              </a:rPr>
              <a:t>拖动 360° 观察洞窟，滚轮 / 双指改变视野。</a:t>
            </a:r>
            <a:endParaRPr sz="1200" b="0" i="0">
              <a:solidFill>
                <a:schemeClr val="tx1"/>
              </a:solidFill>
              <a:latin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337560" y="205740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05740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2221992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 panose="020B0400000000000000" charset="-122"/>
              </a:rPr>
              <a:t>寻迹</a:t>
            </a:r>
            <a:endParaRPr sz="17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47872" y="2624328"/>
            <a:ext cx="21488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PingFang SC" panose="020B0400000000000000" charset="-122"/>
              </a:rPr>
              <a:t>点击全景中的隐藏发现，编号热点直达探秘手札。</a:t>
            </a:r>
            <a:endParaRPr sz="1200" b="0" i="0">
              <a:solidFill>
                <a:schemeClr val="tx1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035040" y="205740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0" y="205740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2221992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 panose="020B0400000000000000" charset="-122"/>
              </a:rPr>
              <a:t>辨色</a:t>
            </a:r>
            <a:endParaRPr sz="17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45352" y="2624328"/>
            <a:ext cx="21488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PingFang SC" panose="020B0400000000000000" charset="-122"/>
              </a:rPr>
              <a:t>切换时间档案与紫外线观察，发现肉眼看不到的线索。</a:t>
            </a:r>
            <a:endParaRPr sz="1200" b="0" i="0">
              <a:solidFill>
                <a:schemeClr val="tx1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32520" y="2057400"/>
            <a:ext cx="2514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32520" y="2057400"/>
            <a:ext cx="54864" cy="1828800"/>
          </a:xfrm>
          <a:prstGeom prst="roundRect">
            <a:avLst>
              <a:gd name="adj" fmla="val 12000"/>
            </a:avLst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42832" y="2221992"/>
            <a:ext cx="21488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PingFang SC" panose="020B0400000000000000" charset="-122"/>
              </a:rPr>
              <a:t>推理</a:t>
            </a:r>
            <a:endParaRPr sz="17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942832" y="2624328"/>
            <a:ext cx="214884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chemeClr val="tx1"/>
                </a:solidFill>
                <a:latin typeface="PingFang SC" panose="020B0400000000000000" charset="-122"/>
              </a:rPr>
              <a:t>结合线索答题，答错也保留记录，完成一关后形成探索回响。</a:t>
            </a:r>
            <a:endParaRPr sz="1200" b="0" i="0">
              <a:solidFill>
                <a:schemeClr val="tx1"/>
              </a:solidFill>
              <a:latin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" y="457200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DCAF64"/>
                </a:solidFill>
                <a:latin typeface="PingFang SC" panose="020B0400000000000000" charset="-122"/>
              </a:rPr>
              <a:t>产品形态</a:t>
            </a:r>
            <a:endParaRPr sz="1100" b="1" i="0">
              <a:solidFill>
                <a:srgbClr val="DCAF64"/>
              </a:solidFill>
              <a:latin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919472"/>
            <a:ext cx="1417320" cy="27432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942332"/>
            <a:ext cx="141732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敦煌莫高窟</a:t>
            </a:r>
            <a:endParaRPr sz="900" b="1" i="0">
              <a:solidFill>
                <a:srgbClr val="0A1523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240280" y="4919472"/>
            <a:ext cx="1234440" cy="27432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4942332"/>
            <a:ext cx="12344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云冈石窟</a:t>
            </a:r>
            <a:endParaRPr sz="900" b="1" i="0">
              <a:solidFill>
                <a:srgbClr val="0A1523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639312" y="4919472"/>
            <a:ext cx="1600200" cy="274320"/>
          </a:xfrm>
          <a:prstGeom prst="roundRect">
            <a:avLst>
              <a:gd name="adj" fmla="val 12000"/>
            </a:avLst>
          </a:prstGeom>
          <a:solidFill>
            <a:srgbClr val="E1DFD4"/>
          </a:solidFill>
          <a:ln>
            <a:solidFill>
              <a:srgbClr val="E1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2" y="4942332"/>
            <a:ext cx="1600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1F262F"/>
                </a:solidFill>
                <a:latin typeface="Aptos"/>
              </a:rPr>
              <a:t>桌面 + 移动端</a:t>
            </a:r>
            <a:endParaRPr sz="900" b="1" i="0">
              <a:solidFill>
                <a:srgbClr val="1F262F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413248" y="4919472"/>
            <a:ext cx="1600200" cy="274320"/>
          </a:xfrm>
          <a:prstGeom prst="roundRect">
            <a:avLst>
              <a:gd name="adj" fmla="val 12000"/>
            </a:avLst>
          </a:prstGeom>
          <a:solidFill>
            <a:srgbClr val="E1DFD4"/>
          </a:solidFill>
          <a:ln>
            <a:solidFill>
              <a:srgbClr val="E1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3248" y="4942332"/>
            <a:ext cx="1600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1F262F"/>
                </a:solidFill>
                <a:latin typeface="Aptos"/>
              </a:rPr>
              <a:t>原创教学素材</a:t>
            </a:r>
            <a:endParaRPr sz="900" b="1" i="0">
              <a:solidFill>
                <a:srgbClr val="1F262F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8368" y="5715000"/>
            <a:ext cx="10241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62F"/>
                </a:solidFill>
                <a:latin typeface="PingFang SC" panose="020B0400000000000000" charset="-122"/>
              </a:rPr>
              <a:t>核心价值：把文化内容变成“可进入、可观察、可验证”的互动体验。</a:t>
            </a:r>
            <a:endParaRPr sz="17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4 at 19.08.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2165" cy="6858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02 · PRODUCT EXPERIENCE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</a:rPr>
              <a:t>一条完整的探索路径</a:t>
            </a:r>
            <a:endParaRPr sz="27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03  /  DUNHUANG EXPLORER</a:t>
            </a:r>
            <a:endParaRPr sz="800" b="0" i="0">
              <a:solidFill>
                <a:srgbClr val="A6B0B8"/>
              </a:solidFill>
              <a:latin typeface="Aptos"/>
            </a:endParaRPr>
          </a:p>
        </p:txBody>
      </p:sp>
      <p:pic>
        <p:nvPicPr>
          <p:cNvPr id="5" name="Picture 4" descr="home-desktop.png"/>
          <p:cNvPicPr>
            <a:picLocks noChangeAspect="1"/>
          </p:cNvPicPr>
          <p:nvPr/>
        </p:nvPicPr>
        <p:blipFill>
          <a:blip r:embed="rId1"/>
          <a:srcRect l="119" r="119"/>
          <a:stretch>
            <a:fillRect/>
          </a:stretch>
        </p:blipFill>
        <p:spPr>
          <a:xfrm>
            <a:off x="640080" y="1371600"/>
            <a:ext cx="3520440" cy="2450592"/>
          </a:xfrm>
          <a:prstGeom prst="rect">
            <a:avLst/>
          </a:prstGeom>
          <a:ln w="16510">
            <a:solidFill>
              <a:srgbClr val="3D576A"/>
            </a:solidFill>
          </a:ln>
        </p:spPr>
      </p:pic>
      <p:pic>
        <p:nvPicPr>
          <p:cNvPr id="6" name="Picture 5" descr="selection-desktop.png"/>
          <p:cNvPicPr>
            <a:picLocks noChangeAspect="1"/>
          </p:cNvPicPr>
          <p:nvPr/>
        </p:nvPicPr>
        <p:blipFill>
          <a:blip r:embed="rId2"/>
          <a:srcRect t="3421" b="3421"/>
          <a:stretch>
            <a:fillRect/>
          </a:stretch>
        </p:blipFill>
        <p:spPr>
          <a:xfrm>
            <a:off x="4334256" y="1371600"/>
            <a:ext cx="3520440" cy="2450592"/>
          </a:xfrm>
          <a:prstGeom prst="rect">
            <a:avLst/>
          </a:prstGeom>
          <a:ln w="16510">
            <a:solidFill>
              <a:srgbClr val="3D576A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94944" y="3977639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DCAF64"/>
                </a:solidFill>
                <a:latin typeface="PingFang SC" panose="020B0400000000000000" charset="-122"/>
              </a:rPr>
              <a:t>01 进入地点</a:t>
            </a:r>
            <a:endParaRPr sz="1300" b="1" i="0">
              <a:solidFill>
                <a:srgbClr val="DCAF64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" y="4315968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A6B0B8"/>
                </a:solidFill>
                <a:latin typeface="PingFang SC" panose="020B0400000000000000" charset="-122"/>
              </a:rPr>
              <a:t>开场动画只播放一次，入口以地点为单位组织。</a:t>
            </a:r>
            <a:endParaRPr sz="1100" b="0" i="0">
              <a:solidFill>
                <a:srgbClr val="A6B0B8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0" y="3977639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DCAF64"/>
                </a:solidFill>
                <a:latin typeface="PingFang SC" panose="020B0400000000000000" charset="-122"/>
              </a:rPr>
              <a:t>02 选择关卡</a:t>
            </a:r>
            <a:endParaRPr sz="1300" b="1" i="0">
              <a:solidFill>
                <a:srgbClr val="DCAF64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0" y="4315968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A6B0B8"/>
                </a:solidFill>
                <a:latin typeface="PingFang SC" panose="020B0400000000000000" charset="-122"/>
              </a:rPr>
              <a:t>难度决定题量；关卡、时相和线索全部由数据驱动。</a:t>
            </a:r>
            <a:endParaRPr sz="1100" b="0" i="0">
              <a:solidFill>
                <a:srgbClr val="A6B0B8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83296" y="3977639"/>
            <a:ext cx="3200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DCAF64"/>
                </a:solidFill>
                <a:latin typeface="PingFang SC" panose="020B0400000000000000" charset="-122"/>
              </a:rPr>
              <a:t>03 沉浸探索</a:t>
            </a:r>
            <a:endParaRPr sz="1300" b="1" i="0">
              <a:solidFill>
                <a:srgbClr val="DCAF64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83296" y="4315968"/>
            <a:ext cx="3154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A6B0B8"/>
                </a:solidFill>
                <a:latin typeface="PingFang SC" panose="020B0400000000000000" charset="-122"/>
              </a:rPr>
              <a:t>全景 + 时间轴 + 热点 + 题目，形成完整闭环。</a:t>
            </a:r>
            <a:endParaRPr sz="1100" b="0" i="0">
              <a:solidFill>
                <a:srgbClr val="A6B0B8"/>
              </a:solidFill>
              <a:latin typeface="PingFang SC" panose="020B0400000000000000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4160520" y="2587752"/>
            <a:ext cx="155448" cy="0"/>
          </a:xfrm>
          <a:prstGeom prst="line">
            <a:avLst/>
          </a:prstGeom>
          <a:ln w="2540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854696" y="2587752"/>
            <a:ext cx="155448" cy="0"/>
          </a:xfrm>
          <a:prstGeom prst="line">
            <a:avLst/>
          </a:prstGeom>
          <a:ln w="2540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5486400"/>
            <a:ext cx="7315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ingFang SC" panose="020B0400000000000000" charset="-122"/>
              </a:rPr>
              <a:t>“先看见，再解释；先发现，再作答。”</a:t>
            </a:r>
            <a:endParaRPr sz="19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18120" y="5577840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0" i="0">
                <a:solidFill>
                  <a:srgbClr val="6AD3D7"/>
                </a:solidFill>
                <a:latin typeface="Aptos"/>
              </a:rPr>
              <a:t>视觉验证：Playwright snapshots / desktop + mobile</a:t>
            </a:r>
            <a:endParaRPr sz="1000" b="0" i="0">
              <a:solidFill>
                <a:srgbClr val="6AD3D7"/>
              </a:solidFill>
              <a:latin typeface="Aptos"/>
            </a:endParaRPr>
          </a:p>
        </p:txBody>
      </p:sp>
      <p:pic>
        <p:nvPicPr>
          <p:cNvPr id="19" name="Picture 18" descr="/Users/chenyuhang/Library/Containers/com.kingsoft.wpsoffice.mac/Data/tmp/picturecompress_20260914182548/output_1.pngoutput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550" y="1364615"/>
            <a:ext cx="3938270" cy="2428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4 at 19.08.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629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03 · ARCHITECTURE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 panose="020B0400000000000000" charset="-122"/>
              </a:rPr>
              <a:t>一份配置，驱动一条可扩展的产品链路</a:t>
            </a:r>
            <a:endParaRPr sz="27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04  /  DUNHUANG EXPLORER</a:t>
            </a:r>
            <a:endParaRPr sz="800" b="0" i="0">
              <a:solidFill>
                <a:srgbClr val="6C747B"/>
              </a:solidFill>
              <a:latin typeface="Aptos"/>
            </a:endParaRPr>
          </a:p>
        </p:txBody>
      </p:sp>
      <p:pic>
        <p:nvPicPr>
          <p:cNvPr id="28" name="Picture 27" descr="Screenshot 2026-09-14 at 19.22.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5210" y="1289685"/>
            <a:ext cx="7348855" cy="4779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03 · ARCHITECTURE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 panose="020B0400000000000000" charset="-122"/>
              </a:rPr>
              <a:t>一份配置，驱动一条可扩展的产品链路</a:t>
            </a:r>
            <a:endParaRPr sz="27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04  /  DUNHUANG EXPLORER</a:t>
            </a:r>
            <a:endParaRPr sz="800" b="0" i="0">
              <a:solidFill>
                <a:srgbClr val="6C747B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0A1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VIEW LAYER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8840" y="1554480"/>
            <a:ext cx="8138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HomeView  ·  PlaceHome  ·  GameView  ·  EndingView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12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5059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6AD3D7"/>
                </a:solidFill>
                <a:latin typeface="Aptos"/>
              </a:rPr>
              <a:t>COMPONENTS</a:t>
            </a:r>
            <a:endParaRPr sz="1000" b="1" i="0">
              <a:solidFill>
                <a:srgbClr val="6AD3D7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8840" y="2423160"/>
            <a:ext cx="8412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PanoramaViewer  ·  CluePanel  ·  DifficultyControl  ·  MediaViewer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E5E0D3"/>
          </a:solidFill>
          <a:ln>
            <a:solidFill>
              <a:srgbClr val="C9C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1927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8770DC"/>
                </a:solidFill>
                <a:latin typeface="Aptos"/>
              </a:rPr>
              <a:t>STATE</a:t>
            </a:r>
            <a:endParaRPr sz="1000" b="1" i="0">
              <a:solidFill>
                <a:srgbClr val="8770DC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48840" y="3291840"/>
            <a:ext cx="8412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F262F"/>
                </a:solidFill>
                <a:latin typeface="PingFang SC" panose="020B0400000000000000" charset="-122"/>
              </a:rPr>
              <a:t>Pinia game store  ·  答题记录  ·  线索解锁  ·  localStorage 存档</a:t>
            </a:r>
            <a:endParaRPr sz="15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744200" cy="658368"/>
          </a:xfrm>
          <a:prstGeom prst="roundRect">
            <a:avLst>
              <a:gd name="adj" fmla="val 12000"/>
            </a:avLst>
          </a:prstGeom>
          <a:solidFill>
            <a:srgbClr val="DBEBE7"/>
          </a:solidFill>
          <a:ln>
            <a:solidFill>
              <a:srgbClr val="AD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87952"/>
            <a:ext cx="13258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247F7E"/>
                </a:solidFill>
                <a:latin typeface="Aptos"/>
              </a:rPr>
              <a:t>RENDER</a:t>
            </a:r>
            <a:endParaRPr sz="1000" b="1" i="0">
              <a:solidFill>
                <a:srgbClr val="247F7E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148840" y="4160520"/>
            <a:ext cx="84124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F262F"/>
                </a:solidFill>
                <a:latin typeface="PingFang SC" panose="020B0400000000000000" charset="-122"/>
              </a:rPr>
              <a:t>Three.js / WebGL  ·  SphereGeometry  ·  Raycaster  ·  ShaderPass</a:t>
            </a:r>
            <a:endParaRPr sz="15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516636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TOOLING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691640" y="5102352"/>
            <a:ext cx="685800" cy="27432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5125212"/>
            <a:ext cx="685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Vite</a:t>
            </a:r>
            <a:endParaRPr sz="900" b="1" i="0">
              <a:solidFill>
                <a:srgbClr val="0A1523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514600" y="5102352"/>
            <a:ext cx="822960" cy="27432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25212"/>
            <a:ext cx="822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Vitest</a:t>
            </a:r>
            <a:endParaRPr sz="900" b="1" i="0">
              <a:solidFill>
                <a:srgbClr val="0A1523"/>
              </a:solidFill>
              <a:latin typeface="Apto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74720" y="5102352"/>
            <a:ext cx="1097280" cy="274320"/>
          </a:xfrm>
          <a:prstGeom prst="roundRect">
            <a:avLst>
              <a:gd name="adj" fmla="val 12000"/>
            </a:avLst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5125212"/>
            <a:ext cx="10972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0A1523"/>
                </a:solidFill>
                <a:latin typeface="Aptos"/>
              </a:rPr>
              <a:t>Playwright</a:t>
            </a:r>
            <a:endParaRPr sz="900" b="1" i="0">
              <a:solidFill>
                <a:srgbClr val="0A1523"/>
              </a:solidFill>
              <a:latin typeface="Apto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709160" y="5102352"/>
            <a:ext cx="1234440" cy="274320"/>
          </a:xfrm>
          <a:prstGeom prst="roundRect">
            <a:avLst>
              <a:gd name="adj" fmla="val 12000"/>
            </a:avLst>
          </a:prstGeom>
          <a:solidFill>
            <a:srgbClr val="E1DFD4"/>
          </a:solidFill>
          <a:ln>
            <a:solidFill>
              <a:srgbClr val="E1D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5125212"/>
            <a:ext cx="12344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1" i="0">
                <a:solidFill>
                  <a:srgbClr val="1F262F"/>
                </a:solidFill>
                <a:latin typeface="Aptos"/>
              </a:rPr>
              <a:t>GitHub Pages</a:t>
            </a:r>
            <a:endParaRPr sz="900" b="1" i="0">
              <a:solidFill>
                <a:srgbClr val="1F262F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5806440"/>
            <a:ext cx="795527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 i="0">
                <a:solidFill>
                  <a:srgbClr val="1F262F"/>
                </a:solidFill>
                <a:latin typeface="PingFang SC" panose="020B0400000000000000" charset="-122"/>
              </a:rPr>
              <a:t>新增地点主要改 data/game.ts；新增交互不必重写页面骨架。</a:t>
            </a:r>
            <a:endParaRPr sz="17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04 · CODE MAP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</a:rPr>
              <a:t>代码怎么分工：让“页面、状态、渲染、数据”各司其职</a:t>
            </a:r>
            <a:endParaRPr sz="27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05  /  DUNHUANG EXPLORER</a:t>
            </a:r>
            <a:endParaRPr sz="800" b="0" i="0">
              <a:solidFill>
                <a:srgbClr val="A6B0B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298448"/>
            <a:ext cx="5074920" cy="4297680"/>
          </a:xfrm>
          <a:prstGeom prst="roundRect">
            <a:avLst>
              <a:gd name="adj" fmla="val 12000"/>
            </a:avLst>
          </a:prstGeom>
          <a:solidFill>
            <a:srgbClr val="070F19"/>
          </a:solidFill>
          <a:ln>
            <a:solidFill>
              <a:srgbClr val="2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408176"/>
            <a:ext cx="4782312" cy="40782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CADCE0"/>
                </a:solidFill>
                <a:latin typeface="Menlo" panose="020B0609030804020204"/>
              </a:rPr>
              <a:t>src/
├─ views/                 页面编排
├─ components/            交互组件
│  ├─ PanoramaViewer.vue   WebGL 全景 / 热点 / UV
│  ├─ CluePanel.vue        线索锁定与展开
│  └─ MediaViewer.vue      全屏、缩放、拖动
├─ stores/game.ts          Pinia + 存档 + 答题规则
├─ data/game.ts            地点 / 关卡 / 线索 / 题目
├─ utils/
│  ├─ clickPoints.ts       最近命中判断
│  └─ hotspots.ts          3D → CSS2D 投影
└─ types/game.ts           领域模型</a:t>
            </a:r>
            <a:endParaRPr sz="1100" b="0" i="0">
              <a:solidFill>
                <a:srgbClr val="CADCE0"/>
              </a:solidFill>
              <a:latin typeface="Menlo" panose="020B0609030804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72200" y="137160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4864" cy="150876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53619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数据驱动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2512" y="1938528"/>
            <a:ext cx="4892040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地点 → 关卡 → panorama → click_points / hotspots / clues / problems
同一套 UI 可以承载敦煌和云冈两套内容。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3063240"/>
            <a:ext cx="5257800" cy="128016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3063240"/>
            <a:ext cx="54864" cy="128016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227832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渲染隔离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82512" y="3630168"/>
            <a:ext cx="4892040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PanoramaViewer 只处理“如何看见”；GameView 处理“看见后怎么推进”。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2200" y="4553712"/>
            <a:ext cx="5257800" cy="128016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4553712"/>
            <a:ext cx="54864" cy="1280160"/>
          </a:xfrm>
          <a:prstGeom prst="roundRect">
            <a:avLst>
              <a:gd name="adj" fmla="val 12000"/>
            </a:avLst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4718304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状态持久化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2512" y="5120640"/>
            <a:ext cx="4892040" cy="5669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Pinia 记录进行中的事实，localStorage 让刷新、切换页面、后台恢复都可继续。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" y="594360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F5D287"/>
                </a:solidFill>
                <a:latin typeface="PingFang SC" panose="020B0400000000000000" charset="-122"/>
              </a:rPr>
              <a:t>核心原则：配置是内容，组件是能力，store 是进度。</a:t>
            </a:r>
            <a:endParaRPr sz="2000" b="1" i="0">
              <a:solidFill>
                <a:srgbClr val="F5D287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05 · DEEP DIVE 1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 panose="020B0400000000000000" charset="-122"/>
              </a:rPr>
              <a:t>360° 全景：把一张 2:1 图片变成“可以走进去”的球</a:t>
            </a:r>
            <a:endParaRPr sz="27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06  /  DUNHUANG EXPLORER</a:t>
            </a:r>
            <a:endParaRPr sz="800" b="0" i="0">
              <a:solidFill>
                <a:srgbClr val="6C747B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580644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CD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72768"/>
            <a:ext cx="5029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F262F"/>
                </a:solidFill>
                <a:latin typeface="PingFang SC" panose="020B0400000000000000" charset="-122"/>
              </a:rPr>
              <a:t>等距柱状全景 → 球内壁 → 摄像机在球心</a:t>
            </a:r>
            <a:endParaRPr sz="13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2103120"/>
            <a:ext cx="1828800" cy="713232"/>
          </a:xfrm>
          <a:prstGeom prst="roundRect">
            <a:avLst>
              <a:gd name="adj" fmla="val 12000"/>
            </a:avLst>
          </a:prstGeom>
          <a:solidFill>
            <a:srgbClr val="5A4938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58568"/>
            <a:ext cx="1828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2:1 pano
(u, v)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3218688" y="1938528"/>
            <a:ext cx="2148840" cy="2148840"/>
          </a:xfrm>
          <a:prstGeom prst="ellipse">
            <a:avLst/>
          </a:prstGeom>
          <a:solidFill>
            <a:srgbClr val="143041"/>
          </a:solidFill>
          <a:ln w="25400"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3429000" y="2148840"/>
            <a:ext cx="0" cy="169164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67912" y="2148840"/>
            <a:ext cx="0" cy="169164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06824" y="2148840"/>
            <a:ext cx="0" cy="169164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45736" y="2148840"/>
            <a:ext cx="0" cy="169164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01568" y="3017520"/>
            <a:ext cx="1746504" cy="0"/>
          </a:xfrm>
          <a:prstGeom prst="line">
            <a:avLst/>
          </a:prstGeom>
          <a:ln w="8890">
            <a:solidFill>
              <a:srgbClr val="468F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187952" y="2916936"/>
            <a:ext cx="201168" cy="201168"/>
          </a:xfrm>
          <a:prstGeom prst="ellipse">
            <a:avLst/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0208" y="3273552"/>
            <a:ext cx="685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DCAF64"/>
                </a:solidFill>
                <a:latin typeface="PingFang SC" panose="020B0400000000000000" charset="-122"/>
              </a:rPr>
              <a:t>camera</a:t>
            </a:r>
            <a:endParaRPr sz="1000" b="0" i="0">
              <a:solidFill>
                <a:srgbClr val="DCAF64"/>
              </a:solidFill>
              <a:latin typeface="PingFang SC" panose="020B0400000000000000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193792" y="2441448"/>
            <a:ext cx="146304" cy="146304"/>
          </a:xfrm>
          <a:prstGeom prst="ellipse">
            <a:avLst/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4288536" y="2514600"/>
            <a:ext cx="978408" cy="502920"/>
          </a:xfrm>
          <a:prstGeom prst="line">
            <a:avLst/>
          </a:prstGeom>
          <a:ln w="17780">
            <a:solidFill>
              <a:srgbClr val="EB7E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64608" y="246888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EB7E74"/>
                </a:solidFill>
                <a:latin typeface="Aptos"/>
              </a:rPr>
              <a:t>ray</a:t>
            </a:r>
            <a:endParaRPr sz="1000" b="0" i="0">
              <a:solidFill>
                <a:srgbClr val="EB7E74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38144" y="4343400"/>
            <a:ext cx="19202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Menlo" panose="020B0609030804020204"/>
              </a:rPr>
              <a:t>SphereGeometry(10)
scale(-1, 1, 1)</a:t>
            </a:r>
            <a:endParaRPr sz="1100" b="0" i="0">
              <a:solidFill>
                <a:srgbClr val="1F262F"/>
              </a:solidFill>
              <a:latin typeface="Menlo" panose="020B0609030804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812280" y="1417320"/>
            <a:ext cx="4617720" cy="1115568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12280" y="1417320"/>
            <a:ext cx="54864" cy="1115568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1581912"/>
            <a:ext cx="42519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1 / 贴图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22592" y="1984248"/>
            <a:ext cx="4251959" cy="4023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把 2:1 等距柱状纹理贴到球面；反转 X 轴，把可见面放到球体内部。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812280" y="2697480"/>
            <a:ext cx="4617720" cy="1115568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12280" y="2697480"/>
            <a:ext cx="54864" cy="1115568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2592" y="2862072"/>
            <a:ext cx="42519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2 / 看见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22592" y="3264408"/>
            <a:ext cx="4251959" cy="4023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相机留在球心，拖动改变经纬角；FOV 改变“望远 / 广角”。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812280" y="3977639"/>
            <a:ext cx="4617720" cy="1115568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812280" y="3977639"/>
            <a:ext cx="54864" cy="1115568"/>
          </a:xfrm>
          <a:prstGeom prst="roundRect">
            <a:avLst>
              <a:gd name="adj" fmla="val 12000"/>
            </a:avLst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4142231"/>
            <a:ext cx="4251959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3 / 命中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22592" y="4544568"/>
            <a:ext cx="4251959" cy="4023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屏幕点击 → Raycaster 射线 → 球面交点 → 最近点击点。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0" y="5559552"/>
            <a:ext cx="43891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F262F"/>
                </a:solidFill>
                <a:latin typeface="PingFang SC" panose="020B0400000000000000" charset="-122"/>
              </a:rPr>
              <a:t>同一坐标数据，不依赖屏幕尺寸。</a:t>
            </a:r>
            <a:endParaRPr sz="16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05 · DEEP DIVE 1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</a:rPr>
              <a:t>点击发现的核心：不是“猜屏幕坐标”，而是比较两个 3D 点</a:t>
            </a:r>
            <a:endParaRPr sz="27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07  /  DUNHUANG EXPLORER</a:t>
            </a:r>
            <a:endParaRPr sz="800" b="0" i="0">
              <a:solidFill>
                <a:srgbClr val="A6B0B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212080" cy="1417320"/>
          </a:xfrm>
          <a:prstGeom prst="roundRect">
            <a:avLst>
              <a:gd name="adj" fmla="val 12000"/>
            </a:avLst>
          </a:prstGeom>
          <a:solidFill>
            <a:srgbClr val="070F19"/>
          </a:solidFill>
          <a:ln>
            <a:solidFill>
              <a:srgbClr val="2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527048"/>
            <a:ext cx="4919472" cy="11978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500" b="0" i="0">
                <a:solidFill>
                  <a:srgbClr val="CADCE0"/>
                </a:solidFill>
                <a:latin typeface="Menlo" panose="020B0609030804020204"/>
              </a:rPr>
              <a:t>const hit = position.distanceTo(point.vec)
if (hit &lt;= point.accept_click_range)
  return nearestIndex</a:t>
            </a:r>
            <a:endParaRPr sz="1500" b="0" i="0">
              <a:solidFill>
                <a:srgbClr val="CADCE0"/>
              </a:solidFill>
              <a:latin typeface="Menlo" panose="020B0609030804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315468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DCAF64"/>
                </a:solidFill>
                <a:latin typeface="Aptos"/>
              </a:rPr>
              <a:t>数据示例</a:t>
            </a:r>
            <a:endParaRPr sz="11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13232" y="3474720"/>
            <a:ext cx="5212080" cy="1783080"/>
          </a:xfrm>
          <a:prstGeom prst="roundRect">
            <a:avLst>
              <a:gd name="adj" fmla="val 12000"/>
            </a:avLst>
          </a:prstGeom>
          <a:solidFill>
            <a:srgbClr val="070F19"/>
          </a:solidFill>
          <a:ln>
            <a:solidFill>
              <a:srgbClr val="2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584448"/>
            <a:ext cx="4919472" cy="156362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200" b="0" i="0">
                <a:solidFill>
                  <a:srgbClr val="CADCE0"/>
                </a:solidFill>
                <a:latin typeface="Menlo" panose="020B0609030804020204"/>
              </a:rPr>
              <a:t>{
  vec: new Vector3(10, 0, 0),
  accept_click_range: 0.9,
  in_uv: false
}</a:t>
            </a:r>
            <a:endParaRPr sz="1200" b="0" i="0">
              <a:solidFill>
                <a:srgbClr val="CADCE0"/>
              </a:solidFill>
              <a:latin typeface="Menlo" panose="020B0609030804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10972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6AD3D7"/>
                </a:solidFill>
                <a:latin typeface="Aptos"/>
              </a:rPr>
              <a:t>命中判定</a:t>
            </a:r>
            <a:endParaRPr sz="1100" b="1" i="0">
              <a:solidFill>
                <a:srgbClr val="6AD3D7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720840" y="1828800"/>
            <a:ext cx="1005840" cy="1005840"/>
          </a:xfrm>
          <a:prstGeom prst="ellipse">
            <a:avLst/>
          </a:prstGeom>
          <a:solidFill>
            <a:srgbClr val="122336"/>
          </a:solidFill>
          <a:ln w="25400"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121408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 panose="020B0400000000000000" charset="-122"/>
              </a:rPr>
              <a:t>点击</a:t>
            </a:r>
            <a:endParaRPr sz="13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56248" y="2953512"/>
            <a:ext cx="13350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A6B0B8"/>
                </a:solidFill>
                <a:latin typeface="Menlo" panose="020B0609030804020204"/>
              </a:rPr>
              <a:t>射线与球相交</a:t>
            </a:r>
            <a:endParaRPr sz="900" b="0" i="0">
              <a:solidFill>
                <a:srgbClr val="A6B0B8"/>
              </a:solidFill>
              <a:latin typeface="Menlo" panose="020B0609030804020204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8229600" y="1828800"/>
            <a:ext cx="1005840" cy="1005840"/>
          </a:xfrm>
          <a:prstGeom prst="ellipse">
            <a:avLst/>
          </a:prstGeom>
          <a:solidFill>
            <a:srgbClr val="122336"/>
          </a:solidFill>
          <a:ln w="25400"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21408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 panose="020B0400000000000000" charset="-122"/>
              </a:rPr>
              <a:t>交点</a:t>
            </a:r>
            <a:endParaRPr sz="13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65008" y="2953512"/>
            <a:ext cx="13350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A6B0B8"/>
                </a:solidFill>
                <a:latin typeface="Menlo" panose="020B0609030804020204"/>
              </a:rPr>
              <a:t>position</a:t>
            </a:r>
            <a:endParaRPr sz="900" b="0" i="0">
              <a:solidFill>
                <a:srgbClr val="A6B0B8"/>
              </a:solidFill>
              <a:latin typeface="Menlo" panose="020B0609030804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738360" y="1828800"/>
            <a:ext cx="1005840" cy="1005840"/>
          </a:xfrm>
          <a:prstGeom prst="ellipse">
            <a:avLst/>
          </a:prstGeom>
          <a:solidFill>
            <a:srgbClr val="122336"/>
          </a:solidFill>
          <a:ln w="25400"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38360" y="2121408"/>
            <a:ext cx="1005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ingFang SC" panose="020B0400000000000000" charset="-122"/>
              </a:rPr>
              <a:t>配置点</a:t>
            </a:r>
            <a:endParaRPr sz="13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73768" y="2953512"/>
            <a:ext cx="1335024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 i="0">
                <a:solidFill>
                  <a:srgbClr val="A6B0B8"/>
                </a:solidFill>
                <a:latin typeface="Menlo" panose="020B0609030804020204"/>
              </a:rPr>
              <a:t>point.vec</a:t>
            </a:r>
            <a:endParaRPr sz="900" b="0" i="0">
              <a:solidFill>
                <a:srgbClr val="A6B0B8"/>
              </a:solidFill>
              <a:latin typeface="Menlo" panose="020B0609030804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772400" y="2331720"/>
            <a:ext cx="411479" cy="0"/>
          </a:xfrm>
          <a:prstGeom prst="line">
            <a:avLst/>
          </a:prstGeom>
          <a:ln w="2286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281160" y="2331720"/>
            <a:ext cx="411480" cy="0"/>
          </a:xfrm>
          <a:prstGeom prst="line">
            <a:avLst/>
          </a:prstGeom>
          <a:ln w="2286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65392" y="3657600"/>
            <a:ext cx="4389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F5D287"/>
                </a:solidFill>
                <a:latin typeface="Menlo" panose="020B0609030804020204"/>
              </a:rPr>
              <a:t>distance(position, point.vec) ≤ accept_click_range</a:t>
            </a:r>
            <a:endParaRPr sz="1500" b="1" i="0">
              <a:solidFill>
                <a:srgbClr val="F5D287"/>
              </a:solidFill>
              <a:latin typeface="Menlo" panose="020B0609030804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65392" y="4370832"/>
            <a:ext cx="45262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CFD8DB"/>
                </a:solidFill>
                <a:latin typeface="PingFang SC" panose="020B0400000000000000" charset="-122"/>
              </a:rPr>
              <a:t>如果普通模式与 UV 模式各有一个同位置点，
in_uv 会把两种观察状态隔离开。</a:t>
            </a:r>
            <a:endParaRPr sz="1400" b="0" i="0">
              <a:solidFill>
                <a:srgbClr val="CFD8DB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F5D287"/>
                </a:solidFill>
                <a:latin typeface="PingFang SC" panose="020B0400000000000000" charset="-122"/>
              </a:rPr>
              <a:t>一句话：把交互语义绑定到空间，而不是绑定到屏幕。</a:t>
            </a:r>
            <a:endParaRPr sz="1900" b="1" i="0">
              <a:solidFill>
                <a:srgbClr val="F5D287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06 · DEEP DIVE 2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 panose="020B0400000000000000" charset="-122"/>
              </a:rPr>
              <a:t>紫外线观察：一条可解释的 Shader，把隐迹“提”出来</a:t>
            </a:r>
            <a:endParaRPr sz="27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08  /  DUNHUANG EXPLORER</a:t>
            </a:r>
            <a:endParaRPr sz="800" b="0" i="0">
              <a:solidFill>
                <a:srgbClr val="6C747B"/>
              </a:solidFill>
              <a:latin typeface="Aptos"/>
            </a:endParaRPr>
          </a:p>
        </p:txBody>
      </p:sp>
      <p:pic>
        <p:nvPicPr>
          <p:cNvPr id="6" name="Picture 5" descr="game-desktop-ultraviolet.png"/>
          <p:cNvPicPr>
            <a:picLocks noChangeAspect="1"/>
          </p:cNvPicPr>
          <p:nvPr/>
        </p:nvPicPr>
        <p:blipFill>
          <a:blip r:embed="rId1"/>
          <a:srcRect l="57" r="57"/>
          <a:stretch>
            <a:fillRect/>
          </a:stretch>
        </p:blipFill>
        <p:spPr>
          <a:xfrm>
            <a:off x="4553712" y="1417320"/>
            <a:ext cx="3840480" cy="2670048"/>
          </a:xfrm>
          <a:prstGeom prst="rect">
            <a:avLst/>
          </a:prstGeom>
          <a:ln w="16510">
            <a:solidFill>
              <a:srgbClr val="C6BEA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31520" y="4233672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F262F"/>
                </a:solidFill>
                <a:latin typeface="PingFang SC" panose="020B0400000000000000" charset="-122"/>
              </a:rPr>
              <a:t>普通纹理</a:t>
            </a:r>
            <a:endParaRPr sz="12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17720" y="4233672"/>
            <a:ext cx="1645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8770DC"/>
                </a:solidFill>
                <a:latin typeface="PingFang SC" panose="020B0400000000000000" charset="-122"/>
              </a:rPr>
              <a:t>UV Shader 输出</a:t>
            </a:r>
            <a:endParaRPr sz="1200" b="1" i="0">
              <a:solidFill>
                <a:srgbClr val="8770DC"/>
              </a:solidFill>
              <a:latin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23960" y="1417320"/>
            <a:ext cx="1920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DCAF64"/>
                </a:solidFill>
                <a:latin typeface="Aptos"/>
              </a:rPr>
              <a:t>Render pipeline</a:t>
            </a:r>
            <a:endParaRPr sz="11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78240" y="1874519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020824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 panose="020B0400000000000000" charset="-122"/>
              </a:rPr>
              <a:t>RenderPass
原始场景</a:t>
            </a:r>
            <a:endParaRPr sz="12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0040112" y="2514600"/>
            <a:ext cx="0" cy="228600"/>
          </a:xfrm>
          <a:prstGeom prst="line">
            <a:avLst/>
          </a:prstGeom>
          <a:ln w="19050">
            <a:solidFill>
              <a:srgbClr val="6AD3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778240" y="2761488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2907792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 panose="020B0400000000000000" charset="-122"/>
              </a:rPr>
              <a:t>ShaderPass
亮度 / 色差 / 辉光</a:t>
            </a:r>
            <a:endParaRPr sz="12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10040112" y="3401568"/>
            <a:ext cx="0" cy="228600"/>
          </a:xfrm>
          <a:prstGeom prst="line">
            <a:avLst/>
          </a:prstGeom>
          <a:ln w="19050">
            <a:solidFill>
              <a:srgbClr val="877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778240" y="3648456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794760"/>
            <a:ext cx="2514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ingFang SC" panose="020B0400000000000000" charset="-122"/>
              </a:rPr>
              <a:t>OutputPass
输出到屏幕</a:t>
            </a:r>
            <a:endParaRPr sz="12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4892040"/>
            <a:ext cx="7726679" cy="960120"/>
          </a:xfrm>
          <a:prstGeom prst="roundRect">
            <a:avLst>
              <a:gd name="adj" fmla="val 12000"/>
            </a:avLst>
          </a:prstGeom>
          <a:solidFill>
            <a:srgbClr val="070F19"/>
          </a:solidFill>
          <a:ln>
            <a:solidFill>
              <a:srgbClr val="2A3E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001768"/>
            <a:ext cx="7434071" cy="74066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00" b="0" i="0">
                <a:solidFill>
                  <a:srgbClr val="CADCE0"/>
                </a:solidFill>
                <a:latin typeface="Menlo" panose="020B0609030804020204"/>
              </a:rPr>
              <a:t>luminance = 0.2126R + 0.7152G + 0.0722B
chroma = max(rgb) - min(rgb)
white = high luminance + low chroma
glow = neighbor samples × blue</a:t>
            </a:r>
            <a:endParaRPr sz="1000" b="0" i="0">
              <a:solidFill>
                <a:srgbClr val="CADCE0"/>
              </a:solidFill>
              <a:latin typeface="Menlo" panose="020B0609030804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13648" y="4983480"/>
            <a:ext cx="265176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F262F"/>
                </a:solidFill>
                <a:latin typeface="PingFang SC" panose="020B0400000000000000" charset="-122"/>
              </a:rPr>
              <a:t>不是滤镜：是“输入 → 特征 → 颜色映射 → 可观察结果”。</a:t>
            </a:r>
            <a:endParaRPr sz="14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pic>
        <p:nvPicPr>
          <p:cNvPr id="22" name="Picture 21" descr="/Users/chenyuhang/Library/Containers/com.kingsoft.wpsoffice.mac/Data/tmp/picturecompress_20260914182740/output_1.pngoutput_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404620"/>
            <a:ext cx="4045585" cy="2670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9-14 at 19.08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9677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07 · ENGINEERING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</a:rPr>
              <a:t>产品体验背后：把“能跑”变成“可继续、可恢复、可维护”</a:t>
            </a:r>
            <a:endParaRPr sz="27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09  /  DUNHUANG EXPLORER</a:t>
            </a:r>
            <a:endParaRPr sz="800" b="0" i="0">
              <a:solidFill>
                <a:srgbClr val="A6B0B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8191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异步资源不串台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每次纹理加载都有 loadId；新时相加载后，旧回调自动丢弃。旧纹理及时 dispose。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58191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性能有边界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99432" y="198424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设备像素比限制为 1.5；普通模式绕开 EffectComposer，只在 UV 模式启用后处理。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58191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进度不丢失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02752" y="198424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pagehide / visibilitychange / 15 秒备份；刷新后按题目指纹校验并恢复。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54787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失败可重试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6112" y="395020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纹理、图片、视频、WebGL context lost 均提供错误态和重新加载入口。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89120" y="338328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89120" y="338328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89D39E"/>
          </a:solidFill>
          <a:ln>
            <a:solidFill>
              <a:srgbClr val="89D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354787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内容可扩展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99432" y="395020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新地点、新关卡、新时相主要是配置新增；组件能力复用，页面骨架不变。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92440" y="3383280"/>
            <a:ext cx="3401568" cy="15544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2E4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3383280"/>
            <a:ext cx="54864" cy="1554480"/>
          </a:xfrm>
          <a:prstGeom prst="roundRect">
            <a:avLst>
              <a:gd name="adj" fmla="val 12000"/>
            </a:avLst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547872"/>
            <a:ext cx="303580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PingFang SC" panose="020B0400000000000000" charset="-122"/>
              </a:rPr>
              <a:t>验证可复现</a:t>
            </a:r>
            <a:endParaRPr sz="15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02752" y="3950208"/>
            <a:ext cx="3035808" cy="84124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D3DADD"/>
                </a:solidFill>
                <a:latin typeface="PingFang SC" panose="020B0400000000000000" charset="-122"/>
              </a:rPr>
              <a:t>Vitest 验证纯函数和 store；Playwright 验证关键路径与视觉快照。</a:t>
            </a:r>
            <a:endParaRPr sz="1100" b="0" i="0">
              <a:solidFill>
                <a:srgbClr val="D3DADD"/>
              </a:solidFill>
              <a:latin typeface="PingFang SC" panose="020B0400000000000000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" y="580644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F5D287"/>
                </a:solidFill>
                <a:latin typeface="PingFang SC" panose="020B0400000000000000" charset="-122"/>
              </a:rPr>
              <a:t>工程底线：用户的探索状态是事实，渲染层只是事实的一个视图。</a:t>
            </a:r>
            <a:endParaRPr sz="1900" b="1" i="0">
              <a:solidFill>
                <a:srgbClr val="F5D287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08 · END-TO-END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1F262F"/>
                </a:solidFill>
                <a:latin typeface="PingFang SC" panose="020B0400000000000000" charset="-122"/>
              </a:rPr>
              <a:t>从配置到用户动作：一条闭环如何跑起来</a:t>
            </a:r>
            <a:endParaRPr sz="27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6C747B"/>
                </a:solidFill>
                <a:latin typeface="Aptos"/>
              </a:rPr>
              <a:t>10  /  DUNHUANG EXPLORER</a:t>
            </a:r>
            <a:endParaRPr sz="800" b="0" i="0">
              <a:solidFill>
                <a:srgbClr val="6C747B"/>
              </a:solidFill>
              <a:latin typeface="Aptos"/>
            </a:endParaRPr>
          </a:p>
        </p:txBody>
      </p:sp>
      <p:sp>
        <p:nvSpPr>
          <p:cNvPr id="5" name="Oval 4"/>
          <p:cNvSpPr/>
          <p:nvPr/>
        </p:nvSpPr>
        <p:spPr>
          <a:xfrm>
            <a:off x="594360" y="1828800"/>
            <a:ext cx="914400" cy="914400"/>
          </a:xfrm>
          <a:prstGeom prst="ellipse">
            <a:avLst/>
          </a:prstGeom>
          <a:solidFill>
            <a:srgbClr val="DCAF64"/>
          </a:solidFill>
          <a:ln>
            <a:solidFill>
              <a:srgbClr val="DCA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 panose="020B0400000000000000" charset="-122"/>
              </a:rPr>
              <a:t>配置</a:t>
            </a:r>
            <a:endParaRPr sz="1500" b="1" i="0">
              <a:solidFill>
                <a:srgbClr val="0A1523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6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 panose="020B0400000000000000" charset="-122"/>
              </a:rPr>
              <a:t>data/game.ts
levels / panorama / clues</a:t>
            </a:r>
            <a:endParaRPr sz="1100" b="0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508760" y="2286000"/>
            <a:ext cx="1298448" cy="0"/>
          </a:xfrm>
          <a:prstGeom prst="line">
            <a:avLst/>
          </a:prstGeom>
          <a:ln w="25400">
            <a:solidFill>
              <a:srgbClr val="0A15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880360" y="1828800"/>
            <a:ext cx="914400" cy="914400"/>
          </a:xfrm>
          <a:prstGeom prst="ellipse">
            <a:avLst/>
          </a:prstGeom>
          <a:solidFill>
            <a:srgbClr val="6AD3D7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 panose="020B0400000000000000" charset="-122"/>
              </a:rPr>
              <a:t>渲染</a:t>
            </a:r>
            <a:endParaRPr sz="1500" b="1" i="0">
              <a:solidFill>
                <a:srgbClr val="0A1523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32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 panose="020B0400000000000000" charset="-122"/>
              </a:rPr>
              <a:t>PanoramaViewer
Three.js + WebGL</a:t>
            </a:r>
            <a:endParaRPr sz="1100" b="0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3794760" y="2286000"/>
            <a:ext cx="1298448" cy="0"/>
          </a:xfrm>
          <a:prstGeom prst="line">
            <a:avLst/>
          </a:prstGeom>
          <a:ln w="25400">
            <a:solidFill>
              <a:srgbClr val="0A15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166360" y="1828800"/>
            <a:ext cx="914400" cy="914400"/>
          </a:xfrm>
          <a:prstGeom prst="ellipse">
            <a:avLst/>
          </a:prstGeom>
          <a:solidFill>
            <a:srgbClr val="EB7E74"/>
          </a:solidFill>
          <a:ln>
            <a:solidFill>
              <a:srgbClr val="EB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 panose="020B0400000000000000" charset="-122"/>
              </a:rPr>
              <a:t>发现</a:t>
            </a:r>
            <a:endParaRPr sz="1500" b="1" i="0">
              <a:solidFill>
                <a:srgbClr val="0A1523"/>
              </a:solidFill>
              <a:latin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18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 panose="020B0400000000000000" charset="-122"/>
              </a:rPr>
              <a:t>Raycaster
click point / hotspot</a:t>
            </a:r>
            <a:endParaRPr sz="1100" b="0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2286000"/>
            <a:ext cx="1298448" cy="0"/>
          </a:xfrm>
          <a:prstGeom prst="line">
            <a:avLst/>
          </a:prstGeom>
          <a:ln w="25400">
            <a:solidFill>
              <a:srgbClr val="0A15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452360" y="1828800"/>
            <a:ext cx="914400" cy="914400"/>
          </a:xfrm>
          <a:prstGeom prst="ellipse">
            <a:avLst/>
          </a:prstGeom>
          <a:solidFill>
            <a:srgbClr val="8770DC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 panose="020B0400000000000000" charset="-122"/>
              </a:rPr>
              <a:t>推理</a:t>
            </a:r>
            <a:endParaRPr sz="1500" b="1" i="0">
              <a:solidFill>
                <a:srgbClr val="0A1523"/>
              </a:solidFill>
              <a:latin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04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 panose="020B0400000000000000" charset="-122"/>
              </a:rPr>
              <a:t>GameView
题目与线索</a:t>
            </a:r>
            <a:endParaRPr sz="1100" b="0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8366760" y="2286000"/>
            <a:ext cx="1298448" cy="0"/>
          </a:xfrm>
          <a:prstGeom prst="line">
            <a:avLst/>
          </a:prstGeom>
          <a:ln w="25400">
            <a:solidFill>
              <a:srgbClr val="0A15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738360" y="1828800"/>
            <a:ext cx="914400" cy="914400"/>
          </a:xfrm>
          <a:prstGeom prst="ellipse">
            <a:avLst/>
          </a:prstGeom>
          <a:solidFill>
            <a:srgbClr val="89D39E"/>
          </a:solidFill>
          <a:ln>
            <a:solidFill>
              <a:srgbClr val="89D3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38360" y="2121408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0A1523"/>
                </a:solidFill>
                <a:latin typeface="PingFang SC" panose="020B0400000000000000" charset="-122"/>
              </a:rPr>
              <a:t>持久化</a:t>
            </a:r>
            <a:endParaRPr sz="1500" b="1" i="0">
              <a:solidFill>
                <a:srgbClr val="0A1523"/>
              </a:solidFill>
              <a:latin typeface="PingFang SC" panose="020B0400000000000000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90888" y="3035808"/>
            <a:ext cx="16002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F262F"/>
                </a:solidFill>
                <a:latin typeface="PingFang SC" panose="020B0400000000000000" charset="-122"/>
              </a:rPr>
              <a:t>Pinia → localStorage
恢复与迁移</a:t>
            </a:r>
            <a:endParaRPr sz="1100" b="0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14400" y="4590288"/>
            <a:ext cx="10287000" cy="713232"/>
          </a:xfrm>
          <a:prstGeom prst="roundRect">
            <a:avLst>
              <a:gd name="adj" fmla="val 12000"/>
            </a:avLst>
          </a:prstGeom>
          <a:solidFill>
            <a:srgbClr val="0A1523"/>
          </a:solidFill>
          <a:ln>
            <a:solidFill>
              <a:srgbClr val="0A15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800600"/>
            <a:ext cx="10287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PingFang SC" panose="020B0400000000000000" charset="-122"/>
              </a:rPr>
              <a:t>用户动作 → 产生事实 → store 记录事实 → UI 反映事实 → 下一次动作</a:t>
            </a:r>
            <a:endParaRPr sz="18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5715000"/>
            <a:ext cx="106984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 i="0">
                <a:solidFill>
                  <a:srgbClr val="1F262F"/>
                </a:solidFill>
                <a:latin typeface="PingFang SC" panose="020B0400000000000000" charset="-122"/>
              </a:rPr>
              <a:t>这也是为什么“产品功能”和“底层原理”可以同时讲清楚：每个体验动作都有对应的数据和算法。</a:t>
            </a:r>
            <a:endParaRPr sz="1500" b="1" i="0">
              <a:solidFill>
                <a:srgbClr val="1F262F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5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45720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DCAF64"/>
                </a:solidFill>
                <a:latin typeface="Aptos"/>
              </a:rPr>
              <a:t>09 · TAKEAWAYS</a:t>
            </a:r>
            <a:endParaRPr sz="1000" b="1" i="0">
              <a:solidFill>
                <a:srgbClr val="DCAF64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78992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PingFang SC" panose="020B0400000000000000" charset="-122"/>
              </a:rPr>
              <a:t>两项重点功能，用最短的话讲清楚</a:t>
            </a:r>
            <a:endParaRPr sz="27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480" y="6510528"/>
            <a:ext cx="205740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0" i="0">
                <a:solidFill>
                  <a:srgbClr val="A6B0B8"/>
                </a:solidFill>
                <a:latin typeface="Aptos"/>
              </a:rPr>
              <a:t>11  /  DUNHUANG EXPLORER</a:t>
            </a:r>
            <a:endParaRPr sz="800" b="0" i="0">
              <a:solidFill>
                <a:srgbClr val="A6B0B8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257800" cy="33832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6AD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55648"/>
            <a:ext cx="4389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6AD3D7"/>
                </a:solidFill>
                <a:latin typeface="PingFang SC" panose="020B0400000000000000" charset="-122"/>
              </a:rPr>
              <a:t>全景 + 点击发现</a:t>
            </a:r>
            <a:endParaRPr sz="2200" b="1" i="0">
              <a:solidFill>
                <a:srgbClr val="6AD3D7"/>
              </a:solidFill>
              <a:latin typeface="PingFang SC" panose="020B0400000000000000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443484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ingFang SC" panose="020B0400000000000000" charset="-122"/>
              </a:rPr>
              <a:t>一张 2:1 全景图
→ 球内壁
→ 相机在球心
→ 射线与球求交
→ 3D 距离命中配置点</a:t>
            </a:r>
            <a:endParaRPr sz="18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4370832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A6B0B8"/>
                </a:solidFill>
                <a:latin typeface="PingFang SC" panose="020B0400000000000000" charset="-122"/>
              </a:rPr>
              <a:t>空间坐标让交互跨设备复用。</a:t>
            </a:r>
            <a:endParaRPr sz="1300" b="0" i="0">
              <a:solidFill>
                <a:srgbClr val="A6B0B8"/>
              </a:solidFill>
              <a:latin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3383280"/>
          </a:xfrm>
          <a:prstGeom prst="roundRect">
            <a:avLst>
              <a:gd name="adj" fmla="val 12000"/>
            </a:avLst>
          </a:prstGeom>
          <a:solidFill>
            <a:srgbClr val="122336"/>
          </a:solidFill>
          <a:ln>
            <a:solidFill>
              <a:srgbClr val="87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755648"/>
            <a:ext cx="4389120" cy="42989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zh-CN" sz="2200" b="1" i="0">
                <a:solidFill>
                  <a:srgbClr val="8770DC"/>
                </a:solidFill>
                <a:latin typeface="PingFang SC" panose="020B0400000000000000" charset="-122"/>
              </a:rPr>
              <a:t>侦探游戏</a:t>
            </a:r>
            <a:r>
              <a:rPr lang="en-US" altLang="zh-CN" sz="2200" b="1" i="0">
                <a:solidFill>
                  <a:srgbClr val="8770DC"/>
                </a:solidFill>
                <a:latin typeface="PingFang SC" panose="020B0400000000000000" charset="-122"/>
              </a:rPr>
              <a:t>+</a:t>
            </a:r>
            <a:r>
              <a:rPr lang="zh-CN" altLang="en-US" sz="2200" b="1" i="0">
                <a:solidFill>
                  <a:srgbClr val="8770DC"/>
                </a:solidFill>
                <a:latin typeface="PingFang SC" panose="020B0400000000000000" charset="-122"/>
              </a:rPr>
              <a:t>沉浸式</a:t>
            </a:r>
            <a:r>
              <a:rPr lang="zh-CN" altLang="en-US" sz="2200" b="1" i="0">
                <a:solidFill>
                  <a:srgbClr val="8770DC"/>
                </a:solidFill>
                <a:latin typeface="PingFang SC" panose="020B0400000000000000" charset="-122"/>
              </a:rPr>
              <a:t>体验</a:t>
            </a:r>
            <a:endParaRPr lang="zh-CN" altLang="en-US" sz="2200" b="1" i="0">
              <a:solidFill>
                <a:srgbClr val="8770DC"/>
              </a:solidFill>
              <a:latin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0528" y="2423160"/>
            <a:ext cx="4434840" cy="17532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lang="zh-CN" sz="1800" b="1" i="0">
                <a:solidFill>
                  <a:srgbClr val="FFFFFF"/>
                </a:solidFill>
                <a:latin typeface="PingFang SC" panose="020B0400000000000000" charset="-122"/>
              </a:rPr>
              <a:t>开始</a:t>
            </a:r>
            <a:r>
              <a:rPr lang="en-US" altLang="zh-CN" sz="1800" b="1" i="0">
                <a:solidFill>
                  <a:srgbClr val="FFFFFF"/>
                </a:solidFill>
                <a:latin typeface="PingFang SC" panose="020B0400000000000000" charset="-122"/>
              </a:rPr>
              <a:t>：2d</a:t>
            </a:r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全景图展示</a:t>
            </a:r>
            <a:b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</a:br>
            <a:b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</a:br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思考过程</a:t>
            </a:r>
            <a:r>
              <a:rPr lang="en-US" altLang="zh-CN" sz="1800" b="1" i="0">
                <a:solidFill>
                  <a:srgbClr val="FFFFFF"/>
                </a:solidFill>
                <a:latin typeface="PingFang SC" panose="020B0400000000000000" charset="-122"/>
              </a:rPr>
              <a:t>：3d</a:t>
            </a:r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全景图展示</a:t>
            </a:r>
            <a:r>
              <a:rPr lang="en-US" altLang="zh-CN" sz="1800" b="1" i="0">
                <a:solidFill>
                  <a:srgbClr val="FFFFFF"/>
                </a:solidFill>
                <a:latin typeface="PingFang SC" panose="020B0400000000000000" charset="-122"/>
              </a:rPr>
              <a:t>+</a:t>
            </a:r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让用户在学习与参观景点的过程中同时收获与景点交互“对话”的</a:t>
            </a:r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快乐</a:t>
            </a:r>
            <a:endParaRPr lang="zh-CN" altLang="en-US" sz="1800" b="1" i="0">
              <a:solidFill>
                <a:srgbClr val="FFFFFF"/>
              </a:solidFill>
              <a:latin typeface="PingFang SC" panose="020B0400000000000000" charset="-122"/>
            </a:endParaRPr>
          </a:p>
          <a:p>
            <a:pPr algn="l"/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结果</a:t>
            </a:r>
            <a:r>
              <a:rPr lang="en-US" altLang="zh-CN" sz="1800" b="1" i="0">
                <a:solidFill>
                  <a:srgbClr val="FFFFFF"/>
                </a:solidFill>
                <a:latin typeface="PingFang SC" panose="020B0400000000000000" charset="-122"/>
              </a:rPr>
              <a:t>：</a:t>
            </a:r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交互模式</a:t>
            </a:r>
            <a:r>
              <a:rPr lang="en-US" altLang="zh-CN" sz="1800" b="1" i="0">
                <a:solidFill>
                  <a:srgbClr val="FFFFFF"/>
                </a:solidFill>
                <a:latin typeface="PingFang SC" panose="020B0400000000000000" charset="-122"/>
              </a:rPr>
              <a:t>---</a:t>
            </a:r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进一步</a:t>
            </a:r>
            <a:r>
              <a:rPr lang="en-US" altLang="zh-CN" sz="1800" b="1" i="0">
                <a:solidFill>
                  <a:srgbClr val="FFFFFF"/>
                </a:solidFill>
                <a:latin typeface="PingFang SC" panose="020B0400000000000000" charset="-122"/>
              </a:rPr>
              <a:t>：</a:t>
            </a:r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优化交互</a:t>
            </a:r>
            <a:r>
              <a:rPr lang="zh-CN" altLang="en-US" sz="1800" b="1" i="0">
                <a:solidFill>
                  <a:srgbClr val="FFFFFF"/>
                </a:solidFill>
                <a:latin typeface="PingFang SC" panose="020B0400000000000000" charset="-122"/>
              </a:rPr>
              <a:t>样式</a:t>
            </a:r>
            <a:endParaRPr lang="zh-CN" altLang="en-US" sz="1800" b="1" i="0">
              <a:solidFill>
                <a:srgbClr val="FFFFFF"/>
              </a:solidFill>
              <a:latin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10528" y="4370832"/>
            <a:ext cx="43891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A6B0B8"/>
                </a:solidFill>
                <a:latin typeface="PingFang SC" panose="020B0400000000000000" charset="-122"/>
              </a:rPr>
              <a:t>不是染色，而是可解释的特征提取。</a:t>
            </a:r>
            <a:endParaRPr sz="1300" b="0" i="0">
              <a:solidFill>
                <a:srgbClr val="A6B0B8"/>
              </a:solidFill>
              <a:latin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F5D287"/>
                </a:solidFill>
                <a:latin typeface="PingFang SC" panose="020B0400000000000000" charset="-122"/>
              </a:rPr>
              <a:t>下一步：把更多真实内容接入同一套“数据 → 渲染 → 发现 → 推理”框架。</a:t>
            </a:r>
            <a:endParaRPr sz="1900" b="1" i="0">
              <a:solidFill>
                <a:srgbClr val="F5D287"/>
              </a:solidFill>
              <a:latin typeface="PingFang SC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3672</Words>
  <Application>WPS Writer</Application>
  <PresentationFormat>On-screen Show (4:3)</PresentationFormat>
  <Paragraphs>301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Arial</vt:lpstr>
      <vt:lpstr>Aptos</vt:lpstr>
      <vt:lpstr>Helvetica Neue</vt:lpstr>
      <vt:lpstr>PingFang SC</vt:lpstr>
      <vt:lpstr>Menlo</vt:lpstr>
      <vt:lpstr>Calibri</vt:lpstr>
      <vt:lpstr>SimSun</vt:lpstr>
      <vt:lpstr>汉仪书宋二KW</vt:lpstr>
      <vt:lpstr>Microsoft YaHei</vt:lpstr>
      <vt:lpstr>汉仪旗黑</vt:lpstr>
      <vt:lpstr>Arial Unicode MS</vt:lpstr>
      <vt:lpstr>Aptos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赵玲</cp:lastModifiedBy>
  <cp:revision>6</cp:revision>
  <dcterms:created xsi:type="dcterms:W3CDTF">2026-09-14T11:52:11Z</dcterms:created>
  <dcterms:modified xsi:type="dcterms:W3CDTF">2026-09-14T11:52:11Z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354D28EE37F88A27AACAA76A1E06BE55_42</vt:lpwstr>
  </property>
  <property fmtid="{D5CDD505-2E9C-101B-9397-08002B2CF9AE}" pid="3" name="KSOProductBuildVer">
    <vt:lpwstr>1033-12.1.23540.23540</vt:lpwstr>
  </property>
</Properties>
</file>