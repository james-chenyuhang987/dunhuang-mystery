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69" r:id="rId5"/>
    <p:sldId id="258" r:id="rId6"/>
    <p:sldId id="267" r:id="rId7"/>
    <p:sldId id="273" r:id="rId8"/>
    <p:sldId id="274" r:id="rId9"/>
    <p:sldId id="275" r:id="rId10"/>
    <p:sldId id="270" r:id="rId11"/>
    <p:sldId id="271" r:id="rId12"/>
    <p:sldId id="260" r:id="rId13"/>
    <p:sldId id="261" r:id="rId14"/>
    <p:sldId id="263" r:id="rId15"/>
    <p:sldId id="262" r:id="rId16"/>
    <p:sldId id="276" r:id="rId17"/>
    <p:sldId id="268" r:id="rId18"/>
    <p:sldId id="264" r:id="rId19"/>
    <p:sldId id="265" r:id="rId20"/>
    <p:sldId id="266" r:id="rId21"/>
    <p:sldId id="272" r:id="rId22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91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912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5" Type="http://schemas.openxmlformats.org/officeDocument/2006/relationships/tableStyles" Target="tableStyles.xml"/><Relationship Id="rId24" Type="http://schemas.openxmlformats.org/officeDocument/2006/relationships/viewProps" Target="viewProps.xml"/><Relationship Id="rId23" Type="http://schemas.openxmlformats.org/officeDocument/2006/relationships/presProps" Target="presProps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9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9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9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9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0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5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713232" y="658368"/>
            <a:ext cx="50292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>
                <a:solidFill>
                  <a:srgbClr val="DCAF64"/>
                </a:solidFill>
                <a:latin typeface="Aptos"/>
              </a:rPr>
              <a:t>DUNHUANG · EXPLORER</a:t>
            </a:r>
            <a:endParaRPr sz="1200" b="1" i="0">
              <a:solidFill>
                <a:srgbClr val="DCAF64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5394960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PingFang SC" panose="020B0400000000000000" charset="-122"/>
              </a:rPr>
              <a:t>一眼千年</a:t>
            </a:r>
            <a:endParaRPr sz="4400" b="1" i="0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49808" y="2404872"/>
            <a:ext cx="5029200" cy="594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500" b="1" i="0">
                <a:solidFill>
                  <a:srgbClr val="F5D287"/>
                </a:solidFill>
                <a:latin typeface="PingFang SC" panose="020B0400000000000000" charset="-122"/>
              </a:rPr>
              <a:t>敦煌·探迹</a:t>
            </a:r>
            <a:endParaRPr sz="2500" b="1" i="0">
              <a:solidFill>
                <a:srgbClr val="F5D287"/>
              </a:solidFill>
              <a:latin typeface="PingFang SC" panose="020B0400000000000000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49808" y="3127248"/>
            <a:ext cx="50292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100" b="0" i="0">
                <a:solidFill>
                  <a:srgbClr val="E0E5E4"/>
                </a:solidFill>
                <a:latin typeface="PingFang SC" panose="020B0400000000000000" charset="-122"/>
              </a:rPr>
              <a:t>产品与代码技术介绍</a:t>
            </a:r>
            <a:endParaRPr sz="2100" b="0" i="0">
              <a:solidFill>
                <a:srgbClr val="E0E5E4"/>
              </a:solidFill>
              <a:latin typeface="PingFang SC" panose="020B0400000000000000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49808" y="4069080"/>
            <a:ext cx="484632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0">
                <a:solidFill>
                  <a:srgbClr val="A6B0B8"/>
                </a:solidFill>
                <a:latin typeface="PingFang SC" panose="020B0400000000000000" charset="-122"/>
              </a:rPr>
              <a:t>让千年壁画，再次开口。
从“能用”到“知道为什么能用”。</a:t>
            </a:r>
            <a:endParaRPr sz="1500" b="0" i="0">
              <a:solidFill>
                <a:srgbClr val="A6B0B8"/>
              </a:solidFill>
              <a:latin typeface="PingFang SC" panose="020B0400000000000000" charset="-122"/>
            </a:endParaRPr>
          </a:p>
        </p:txBody>
      </p:sp>
      <p:cxnSp>
        <p:nvCxnSpPr>
          <p:cNvPr id="9" name="Connector 8"/>
          <p:cNvCxnSpPr/>
          <p:nvPr/>
        </p:nvCxnSpPr>
        <p:spPr>
          <a:xfrm>
            <a:off x="749808" y="5074920"/>
            <a:ext cx="2130552" cy="0"/>
          </a:xfrm>
          <a:prstGeom prst="line">
            <a:avLst/>
          </a:prstGeom>
          <a:ln w="25400">
            <a:solidFill>
              <a:srgbClr val="DCAF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5303520"/>
            <a:ext cx="50292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 i="0">
                <a:solidFill>
                  <a:srgbClr val="6AD3D7"/>
                </a:solidFill>
                <a:latin typeface="Aptos"/>
              </a:rPr>
              <a:t>Vue 3  ·  TypeScript  ·  Three.js  ·  Pinia</a:t>
            </a:r>
            <a:endParaRPr sz="1100" b="0" i="0">
              <a:solidFill>
                <a:srgbClr val="6AD3D7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49808" y="6172200"/>
            <a:ext cx="521208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900" b="0" i="0">
                <a:solidFill>
                  <a:srgbClr val="A6B0B8"/>
                </a:solidFill>
                <a:latin typeface="Aptos"/>
              </a:rPr>
              <a:t>2026  |  PRODUCT + ENGINEERING BRIEF</a:t>
            </a:r>
            <a:endParaRPr sz="900" b="0" i="0">
              <a:solidFill>
                <a:srgbClr val="A6B0B8"/>
              </a:solidFill>
              <a:latin typeface="Aptos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80790" y="944245"/>
            <a:ext cx="8180070" cy="463359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4572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 i="0">
                <a:solidFill>
                  <a:srgbClr val="DCAF64"/>
                </a:solidFill>
                <a:latin typeface="Aptos"/>
              </a:rPr>
              <a:t>01 · PRODUCT</a:t>
            </a:r>
            <a:endParaRPr sz="1000" b="1" i="0">
              <a:solidFill>
                <a:srgbClr val="DCAF64"/>
              </a:solidFill>
              <a:latin typeface="Apto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78992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700" b="1" i="0">
                <a:solidFill>
                  <a:srgbClr val="1F262F"/>
                </a:solidFill>
                <a:latin typeface="PingFang SC" panose="020B0400000000000000" charset="-122"/>
              </a:rPr>
              <a:t>不是看图，而是进入一段可推理的故事</a:t>
            </a:r>
            <a:endParaRPr sz="2700" b="1" i="0">
              <a:solidFill>
                <a:srgbClr val="1F262F"/>
              </a:solidFill>
              <a:latin typeface="PingFang SC" panose="020B0400000000000000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555480" y="6510528"/>
            <a:ext cx="2057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800" b="0" i="0">
                <a:solidFill>
                  <a:srgbClr val="6C747B"/>
                </a:solidFill>
                <a:latin typeface="Aptos"/>
              </a:rPr>
              <a:t>02  /  DUNHUANG EXPLORER</a:t>
            </a:r>
            <a:endParaRPr sz="800" b="0" i="0">
              <a:solidFill>
                <a:srgbClr val="6C747B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78992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0">
                <a:solidFill>
                  <a:srgbClr val="1F262F"/>
                </a:solidFill>
                <a:latin typeface="PingFang SC" panose="020B0400000000000000" charset="-122"/>
              </a:rPr>
              <a:t>用户在洞窟全景里观察、切换时相、拾取线索，再用问题把证据连接起来。</a:t>
            </a:r>
            <a:endParaRPr sz="1500" b="0" i="0">
              <a:solidFill>
                <a:srgbClr val="1F262F"/>
              </a:solidFill>
              <a:latin typeface="PingFang SC" panose="020B0400000000000000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2514600" cy="1828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2E42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2057400"/>
            <a:ext cx="54864" cy="1828800"/>
          </a:xfrm>
          <a:prstGeom prst="roundRect">
            <a:avLst>
              <a:gd name="adj" fmla="val 12000"/>
            </a:avLst>
          </a:prstGeom>
          <a:solidFill>
            <a:srgbClr val="6AD3D7"/>
          </a:solidFill>
          <a:ln>
            <a:solidFill>
              <a:srgbClr val="6AD3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2221992"/>
            <a:ext cx="214884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PingFang SC" panose="020B0400000000000000" charset="-122"/>
              </a:rPr>
              <a:t>环顾</a:t>
            </a:r>
            <a:endParaRPr sz="1700" b="1" i="0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50392" y="2624328"/>
            <a:ext cx="2148840" cy="11155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chemeClr val="tx1"/>
                </a:solidFill>
                <a:latin typeface="PingFang SC" panose="020B0400000000000000" charset="-122"/>
              </a:rPr>
              <a:t>拖动 360° 观察洞窟，滚轮 / 双指改变视野。</a:t>
            </a:r>
            <a:endParaRPr sz="1200" b="0" i="0">
              <a:solidFill>
                <a:schemeClr val="tx1"/>
              </a:solidFill>
              <a:latin typeface="PingFang SC" panose="020B0400000000000000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3337560" y="2057400"/>
            <a:ext cx="2514600" cy="1828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2E42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337560" y="2057400"/>
            <a:ext cx="54864" cy="1828800"/>
          </a:xfrm>
          <a:prstGeom prst="roundRect">
            <a:avLst>
              <a:gd name="adj" fmla="val 12000"/>
            </a:avLst>
          </a:prstGeom>
          <a:solidFill>
            <a:srgbClr val="DCAF64"/>
          </a:solidFill>
          <a:ln>
            <a:solidFill>
              <a:srgbClr val="DCAF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47872" y="2221992"/>
            <a:ext cx="214884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PingFang SC" panose="020B0400000000000000" charset="-122"/>
              </a:rPr>
              <a:t>寻迹</a:t>
            </a:r>
            <a:endParaRPr sz="1700" b="1" i="0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547872" y="2624328"/>
            <a:ext cx="2148840" cy="11155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chemeClr val="tx1"/>
                </a:solidFill>
                <a:latin typeface="PingFang SC" panose="020B0400000000000000" charset="-122"/>
              </a:rPr>
              <a:t>点击全景中的隐藏发现，编号热点直达探秘手札。</a:t>
            </a:r>
            <a:endParaRPr sz="1200" b="0" i="0">
              <a:solidFill>
                <a:schemeClr val="tx1"/>
              </a:solidFill>
              <a:latin typeface="PingFang SC" panose="020B0400000000000000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035040" y="2057400"/>
            <a:ext cx="2514600" cy="1828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2E42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035040" y="2057400"/>
            <a:ext cx="54864" cy="1828800"/>
          </a:xfrm>
          <a:prstGeom prst="roundRect">
            <a:avLst>
              <a:gd name="adj" fmla="val 12000"/>
            </a:avLst>
          </a:prstGeom>
          <a:solidFill>
            <a:srgbClr val="8770DC"/>
          </a:solidFill>
          <a:ln>
            <a:solidFill>
              <a:srgbClr val="877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45352" y="2221992"/>
            <a:ext cx="214884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PingFang SC" panose="020B0400000000000000" charset="-122"/>
              </a:rPr>
              <a:t>辨色</a:t>
            </a:r>
            <a:endParaRPr sz="1700" b="1" i="0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245352" y="2624328"/>
            <a:ext cx="2148840" cy="11155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chemeClr val="tx1"/>
                </a:solidFill>
                <a:latin typeface="PingFang SC" panose="020B0400000000000000" charset="-122"/>
              </a:rPr>
              <a:t>切换时间档案与紫外线观察，发现肉眼看不到的线索。</a:t>
            </a:r>
            <a:endParaRPr sz="1200" b="0" i="0">
              <a:solidFill>
                <a:schemeClr val="tx1"/>
              </a:solidFill>
              <a:latin typeface="PingFang SC" panose="020B0400000000000000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732520" y="2057400"/>
            <a:ext cx="2514600" cy="1828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2E42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732520" y="2057400"/>
            <a:ext cx="54864" cy="1828800"/>
          </a:xfrm>
          <a:prstGeom prst="roundRect">
            <a:avLst>
              <a:gd name="adj" fmla="val 12000"/>
            </a:avLst>
          </a:prstGeom>
          <a:solidFill>
            <a:srgbClr val="EB7E74"/>
          </a:solidFill>
          <a:ln>
            <a:solidFill>
              <a:srgbClr val="EB7E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42832" y="2221992"/>
            <a:ext cx="214884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PingFang SC" panose="020B0400000000000000" charset="-122"/>
              </a:rPr>
              <a:t>推理</a:t>
            </a:r>
            <a:endParaRPr sz="1700" b="1" i="0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942832" y="2624328"/>
            <a:ext cx="2148840" cy="11155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0">
                <a:solidFill>
                  <a:schemeClr val="tx1"/>
                </a:solidFill>
                <a:latin typeface="PingFang SC" panose="020B0400000000000000" charset="-122"/>
              </a:rPr>
              <a:t>结合线索答题，答错也保留记录，完成一关后形成探索回响。</a:t>
            </a:r>
            <a:endParaRPr sz="1200" b="0" i="0">
              <a:solidFill>
                <a:schemeClr val="tx1"/>
              </a:solidFill>
              <a:latin typeface="PingFang SC" panose="020B0400000000000000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58368" y="4572000"/>
            <a:ext cx="109728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 i="0">
                <a:solidFill>
                  <a:srgbClr val="DCAF64"/>
                </a:solidFill>
                <a:latin typeface="PingFang SC" panose="020B0400000000000000" charset="-122"/>
              </a:rPr>
              <a:t>产品形态</a:t>
            </a:r>
            <a:endParaRPr sz="1100" b="1" i="0">
              <a:solidFill>
                <a:srgbClr val="DCAF64"/>
              </a:solidFill>
              <a:latin typeface="PingFang SC" panose="020B0400000000000000" charset="-122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658368" y="4919472"/>
            <a:ext cx="1417320" cy="274320"/>
          </a:xfrm>
          <a:prstGeom prst="roundRect">
            <a:avLst>
              <a:gd name="adj" fmla="val 12000"/>
            </a:avLst>
          </a:prstGeom>
          <a:solidFill>
            <a:srgbClr val="DCAF64"/>
          </a:solidFill>
          <a:ln>
            <a:solidFill>
              <a:srgbClr val="DCAF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4942332"/>
            <a:ext cx="141732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900" b="1" i="0">
                <a:solidFill>
                  <a:srgbClr val="0A1523"/>
                </a:solidFill>
                <a:latin typeface="Aptos"/>
              </a:rPr>
              <a:t>敦煌莫高窟</a:t>
            </a:r>
            <a:endParaRPr sz="900" b="1" i="0">
              <a:solidFill>
                <a:srgbClr val="0A1523"/>
              </a:solidFill>
              <a:latin typeface="Aptos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2240280" y="4919472"/>
            <a:ext cx="1234440" cy="274320"/>
          </a:xfrm>
          <a:prstGeom prst="roundRect">
            <a:avLst>
              <a:gd name="adj" fmla="val 12000"/>
            </a:avLst>
          </a:prstGeom>
          <a:solidFill>
            <a:srgbClr val="6AD3D7"/>
          </a:solidFill>
          <a:ln>
            <a:solidFill>
              <a:srgbClr val="6AD3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40280" y="4942332"/>
            <a:ext cx="123444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900" b="1" i="0">
                <a:solidFill>
                  <a:srgbClr val="0A1523"/>
                </a:solidFill>
                <a:latin typeface="Aptos"/>
              </a:rPr>
              <a:t>云冈石窟</a:t>
            </a:r>
            <a:endParaRPr sz="900" b="1" i="0">
              <a:solidFill>
                <a:srgbClr val="0A1523"/>
              </a:solidFill>
              <a:latin typeface="Aptos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3639312" y="4919472"/>
            <a:ext cx="1600200" cy="274320"/>
          </a:xfrm>
          <a:prstGeom prst="roundRect">
            <a:avLst>
              <a:gd name="adj" fmla="val 12000"/>
            </a:avLst>
          </a:prstGeom>
          <a:solidFill>
            <a:srgbClr val="E1DFD4"/>
          </a:solidFill>
          <a:ln>
            <a:solidFill>
              <a:srgbClr val="E1DF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39312" y="4942332"/>
            <a:ext cx="160020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900" b="1" i="0">
                <a:solidFill>
                  <a:srgbClr val="1F262F"/>
                </a:solidFill>
                <a:latin typeface="Aptos"/>
              </a:rPr>
              <a:t>桌面 + 移动端</a:t>
            </a:r>
            <a:endParaRPr sz="900" b="1" i="0">
              <a:solidFill>
                <a:srgbClr val="1F262F"/>
              </a:solidFill>
              <a:latin typeface="Aptos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5413248" y="4919472"/>
            <a:ext cx="1600200" cy="274320"/>
          </a:xfrm>
          <a:prstGeom prst="roundRect">
            <a:avLst>
              <a:gd name="adj" fmla="val 12000"/>
            </a:avLst>
          </a:prstGeom>
          <a:solidFill>
            <a:srgbClr val="E1DFD4"/>
          </a:solidFill>
          <a:ln>
            <a:solidFill>
              <a:srgbClr val="E1DF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13248" y="4942332"/>
            <a:ext cx="160020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900" b="1" i="0">
                <a:solidFill>
                  <a:srgbClr val="1F262F"/>
                </a:solidFill>
                <a:latin typeface="Aptos"/>
              </a:rPr>
              <a:t>原创教学素材</a:t>
            </a:r>
            <a:endParaRPr sz="900" b="1" i="0">
              <a:solidFill>
                <a:srgbClr val="1F262F"/>
              </a:solidFill>
              <a:latin typeface="Aptos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58368" y="5715000"/>
            <a:ext cx="102412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 i="0">
                <a:solidFill>
                  <a:srgbClr val="1F262F"/>
                </a:solidFill>
                <a:latin typeface="PingFang SC" panose="020B0400000000000000" charset="-122"/>
              </a:rPr>
              <a:t>核心价值：把文化内容变成“可进入、可观察、可验证”的互动体验。</a:t>
            </a:r>
            <a:endParaRPr sz="1700" b="1" i="0">
              <a:solidFill>
                <a:srgbClr val="1F262F"/>
              </a:solidFill>
              <a:latin typeface="PingFang SC" panose="020B0400000000000000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Screenshot 2026-09-14 at 19.08.0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242165" cy="68586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5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4572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 i="0">
                <a:solidFill>
                  <a:srgbClr val="DCAF64"/>
                </a:solidFill>
                <a:latin typeface="Aptos"/>
              </a:rPr>
              <a:t>02 · PRODUCT EXPERIENCE</a:t>
            </a:r>
            <a:endParaRPr sz="1000" b="1" i="0">
              <a:solidFill>
                <a:srgbClr val="DCAF64"/>
              </a:solidFill>
              <a:latin typeface="Apto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78992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PingFang SC" panose="020B0400000000000000" charset="-122"/>
              </a:rPr>
              <a:t>一条完整的探索路径</a:t>
            </a:r>
            <a:endParaRPr sz="2700" b="1" i="0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555480" y="6510528"/>
            <a:ext cx="2057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800" b="0" i="0">
                <a:solidFill>
                  <a:srgbClr val="A6B0B8"/>
                </a:solidFill>
                <a:latin typeface="Aptos"/>
              </a:rPr>
              <a:t>03  /  DUNHUANG EXPLORER</a:t>
            </a:r>
            <a:endParaRPr sz="800" b="0" i="0">
              <a:solidFill>
                <a:srgbClr val="A6B0B8"/>
              </a:solidFill>
              <a:latin typeface="Aptos"/>
            </a:endParaRPr>
          </a:p>
        </p:txBody>
      </p:sp>
      <p:pic>
        <p:nvPicPr>
          <p:cNvPr id="5" name="Picture 4" descr="home-desktop.png"/>
          <p:cNvPicPr>
            <a:picLocks noChangeAspect="1"/>
          </p:cNvPicPr>
          <p:nvPr/>
        </p:nvPicPr>
        <p:blipFill>
          <a:blip r:embed="rId1"/>
          <a:srcRect l="119" r="119"/>
          <a:stretch>
            <a:fillRect/>
          </a:stretch>
        </p:blipFill>
        <p:spPr>
          <a:xfrm>
            <a:off x="640080" y="1371600"/>
            <a:ext cx="3520440" cy="2450592"/>
          </a:xfrm>
          <a:prstGeom prst="rect">
            <a:avLst/>
          </a:prstGeom>
          <a:ln w="16510">
            <a:solidFill>
              <a:srgbClr val="3D576A"/>
            </a:solidFill>
          </a:ln>
        </p:spPr>
      </p:pic>
      <p:pic>
        <p:nvPicPr>
          <p:cNvPr id="6" name="Picture 5" descr="selection-desktop.png"/>
          <p:cNvPicPr>
            <a:picLocks noChangeAspect="1"/>
          </p:cNvPicPr>
          <p:nvPr/>
        </p:nvPicPr>
        <p:blipFill>
          <a:blip r:embed="rId2"/>
          <a:srcRect t="3421" b="3421"/>
          <a:stretch>
            <a:fillRect/>
          </a:stretch>
        </p:blipFill>
        <p:spPr>
          <a:xfrm>
            <a:off x="4334256" y="1371600"/>
            <a:ext cx="3520440" cy="2450592"/>
          </a:xfrm>
          <a:prstGeom prst="rect">
            <a:avLst/>
          </a:prstGeom>
          <a:ln w="16510">
            <a:solidFill>
              <a:srgbClr val="3D576A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94944" y="3977639"/>
            <a:ext cx="32004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DCAF64"/>
                </a:solidFill>
                <a:latin typeface="PingFang SC" panose="020B0400000000000000" charset="-122"/>
              </a:rPr>
              <a:t>01 进入地点</a:t>
            </a:r>
            <a:endParaRPr sz="1300" b="1" i="0">
              <a:solidFill>
                <a:srgbClr val="DCAF64"/>
              </a:solidFill>
              <a:latin typeface="PingFang SC" panose="020B0400000000000000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94944" y="4315968"/>
            <a:ext cx="315468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 i="0">
                <a:solidFill>
                  <a:srgbClr val="A6B0B8"/>
                </a:solidFill>
                <a:latin typeface="PingFang SC" panose="020B0400000000000000" charset="-122"/>
              </a:rPr>
              <a:t>开场动画只播放一次，入口以地点为单位组织。</a:t>
            </a:r>
            <a:endParaRPr sz="1100" b="0" i="0">
              <a:solidFill>
                <a:srgbClr val="A6B0B8"/>
              </a:solidFill>
              <a:latin typeface="PingFang SC" panose="020B0400000000000000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389120" y="3977639"/>
            <a:ext cx="32004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DCAF64"/>
                </a:solidFill>
                <a:latin typeface="PingFang SC" panose="020B0400000000000000" charset="-122"/>
              </a:rPr>
              <a:t>02 选择关卡</a:t>
            </a:r>
            <a:endParaRPr sz="1300" b="1" i="0">
              <a:solidFill>
                <a:srgbClr val="DCAF64"/>
              </a:solidFill>
              <a:latin typeface="PingFang SC" panose="020B0400000000000000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389120" y="4315968"/>
            <a:ext cx="315468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 i="0">
                <a:solidFill>
                  <a:srgbClr val="A6B0B8"/>
                </a:solidFill>
                <a:latin typeface="PingFang SC" panose="020B0400000000000000" charset="-122"/>
              </a:rPr>
              <a:t>难度决定题量；关卡、时相和线索全部由数据驱动。</a:t>
            </a:r>
            <a:endParaRPr sz="1100" b="0" i="0">
              <a:solidFill>
                <a:srgbClr val="A6B0B8"/>
              </a:solidFill>
              <a:latin typeface="PingFang SC" panose="020B0400000000000000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083296" y="3977639"/>
            <a:ext cx="32004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DCAF64"/>
                </a:solidFill>
                <a:latin typeface="PingFang SC" panose="020B0400000000000000" charset="-122"/>
              </a:rPr>
              <a:t>03 沉浸探索</a:t>
            </a:r>
            <a:endParaRPr sz="1300" b="1" i="0">
              <a:solidFill>
                <a:srgbClr val="DCAF64"/>
              </a:solidFill>
              <a:latin typeface="PingFang SC" panose="020B0400000000000000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083296" y="4315968"/>
            <a:ext cx="315468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 i="0">
                <a:solidFill>
                  <a:srgbClr val="A6B0B8"/>
                </a:solidFill>
                <a:latin typeface="PingFang SC" panose="020B0400000000000000" charset="-122"/>
              </a:rPr>
              <a:t>全景 + 时间轴 + 热点 + 题目，形成完整闭环。</a:t>
            </a:r>
            <a:endParaRPr sz="1100" b="0" i="0">
              <a:solidFill>
                <a:srgbClr val="A6B0B8"/>
              </a:solidFill>
              <a:latin typeface="PingFang SC" panose="020B0400000000000000" charset="-122"/>
            </a:endParaRPr>
          </a:p>
        </p:txBody>
      </p:sp>
      <p:cxnSp>
        <p:nvCxnSpPr>
          <p:cNvPr id="14" name="Connector 13"/>
          <p:cNvCxnSpPr/>
          <p:nvPr/>
        </p:nvCxnSpPr>
        <p:spPr>
          <a:xfrm>
            <a:off x="4160520" y="2587752"/>
            <a:ext cx="155448" cy="0"/>
          </a:xfrm>
          <a:prstGeom prst="line">
            <a:avLst/>
          </a:prstGeom>
          <a:ln w="25400">
            <a:solidFill>
              <a:srgbClr val="6AD3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854696" y="2587752"/>
            <a:ext cx="155448" cy="0"/>
          </a:xfrm>
          <a:prstGeom prst="line">
            <a:avLst/>
          </a:prstGeom>
          <a:ln w="25400">
            <a:solidFill>
              <a:srgbClr val="6AD3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58368" y="5486400"/>
            <a:ext cx="73152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PingFang SC" panose="020B0400000000000000" charset="-122"/>
              </a:rPr>
              <a:t>“先看见，再解释；先发现，再作答。”</a:t>
            </a:r>
            <a:endParaRPr sz="1900" b="1" i="0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818120" y="5577840"/>
            <a:ext cx="34747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 i="0">
                <a:solidFill>
                  <a:srgbClr val="6AD3D7"/>
                </a:solidFill>
                <a:latin typeface="Aptos"/>
              </a:rPr>
              <a:t>视觉验证：Playwright snapshots / desktop + mobile</a:t>
            </a:r>
            <a:endParaRPr sz="1000" b="0" i="0">
              <a:solidFill>
                <a:srgbClr val="6AD3D7"/>
              </a:solidFill>
              <a:latin typeface="Aptos"/>
            </a:endParaRPr>
          </a:p>
        </p:txBody>
      </p:sp>
      <p:pic>
        <p:nvPicPr>
          <p:cNvPr id="19" name="Picture 18" descr="/Users/chenyuhang/Library/Containers/com.kingsoft.wpsoffice.mac/Data/tmp/picturecompress_20260914182548/output_1.pngoutput_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3550" y="1364615"/>
            <a:ext cx="3938270" cy="242887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Screenshot 2026-09-14 at 19.08.2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266295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4572000" cy="25603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000" b="1">
                <a:solidFill>
                  <a:srgbClr val="DCAF64"/>
                </a:solidFill>
                <a:latin typeface="Aptos"/>
              </a:rPr>
              <a:t>PART B · 项目决策</a:t>
            </a:r>
            <a:endParaRPr sz="1000" b="1">
              <a:solidFill>
                <a:srgbClr val="DCAF64"/>
              </a:solidFill>
              <a:latin typeface="Apto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789920" cy="5486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2700" b="1">
                <a:solidFill>
                  <a:srgbClr val="1F262F"/>
                </a:solidFill>
                <a:latin typeface="Aptos"/>
              </a:rPr>
              <a:t>项目决策时间轴：每次取舍都对应一次体验升级</a:t>
            </a:r>
            <a:endParaRPr sz="2700" b="1">
              <a:solidFill>
                <a:srgbClr val="1F262F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555480" y="6510528"/>
            <a:ext cx="2057400" cy="16459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r"/>
            <a:r>
              <a:rPr sz="800" b="0">
                <a:solidFill>
                  <a:srgbClr val="6C747B"/>
                </a:solidFill>
                <a:latin typeface="Aptos"/>
              </a:rPr>
              <a:t>17  /  DUNHUANG EXPLORER</a:t>
            </a:r>
            <a:endParaRPr sz="800" b="0">
              <a:solidFill>
                <a:srgbClr val="6C747B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58368" y="1325880"/>
            <a:ext cx="1069848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500" b="0">
                <a:solidFill>
                  <a:srgbClr val="1F262F"/>
                </a:solidFill>
                <a:latin typeface="Aptos"/>
              </a:rPr>
              <a:t>我们不是一次性把功能“想完”，而是在真实参观和研学过程中逐步收敛。</a:t>
            </a:r>
            <a:endParaRPr sz="1500" b="0">
              <a:solidFill>
                <a:srgbClr val="1F262F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1143000" y="2834640"/>
            <a:ext cx="9875520" cy="0"/>
          </a:xfrm>
          <a:prstGeom prst="line">
            <a:avLst/>
          </a:prstGeom>
          <a:ln w="25400">
            <a:solidFill>
              <a:srgbClr val="B4A4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822960" y="2578608"/>
            <a:ext cx="502920" cy="502920"/>
          </a:xfrm>
          <a:prstGeom prst="ellipse">
            <a:avLst/>
          </a:prstGeom>
          <a:solidFill>
            <a:srgbClr val="DCAF64"/>
          </a:solidFill>
          <a:ln>
            <a:solidFill>
              <a:srgbClr val="DCAF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697480"/>
            <a:ext cx="502920" cy="1828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1">
                <a:solidFill>
                  <a:srgbClr val="0A1523"/>
                </a:solidFill>
                <a:latin typeface="Aptos"/>
              </a:rPr>
              <a:t>1</a:t>
            </a:r>
            <a:endParaRPr sz="1200" b="1">
              <a:solidFill>
                <a:srgbClr val="0A1523"/>
              </a:solidFill>
              <a:latin typeface="Apto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21792" y="1965960"/>
            <a:ext cx="91440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000" b="1">
                <a:solidFill>
                  <a:srgbClr val="DCAF64"/>
                </a:solidFill>
                <a:latin typeface="Aptos"/>
              </a:rPr>
              <a:t>研学开始前</a:t>
            </a:r>
            <a:endParaRPr sz="1000" b="1">
              <a:solidFill>
                <a:srgbClr val="DCAF64"/>
              </a:solidFill>
              <a:latin typeface="Apto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75488" y="3310128"/>
            <a:ext cx="1188720" cy="38404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300" b="1">
                <a:solidFill>
                  <a:srgbClr val="1F262F"/>
                </a:solidFill>
                <a:latin typeface="Aptos"/>
              </a:rPr>
              <a:t>定下总架构</a:t>
            </a:r>
            <a:endParaRPr sz="1300" b="1">
              <a:solidFill>
                <a:srgbClr val="1F262F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46888" y="3886200"/>
            <a:ext cx="1645920" cy="9144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000" b="0">
                <a:solidFill>
                  <a:srgbClr val="50565A"/>
                </a:solidFill>
                <a:latin typeface="Aptos"/>
              </a:rPr>
              <a:t>全景图 + 侦探游戏互动体验；开场动画使用 Google Earth Studio。</a:t>
            </a:r>
            <a:endParaRPr sz="1000" b="0">
              <a:solidFill>
                <a:srgbClr val="50565A"/>
              </a:solidFill>
              <a:latin typeface="Aptos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3035808" y="2578608"/>
            <a:ext cx="502920" cy="502920"/>
          </a:xfrm>
          <a:prstGeom prst="ellipse">
            <a:avLst/>
          </a:prstGeom>
          <a:solidFill>
            <a:srgbClr val="6AD3D7"/>
          </a:solidFill>
          <a:ln>
            <a:solidFill>
              <a:srgbClr val="6AD3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35808" y="2697480"/>
            <a:ext cx="502920" cy="1828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1">
                <a:solidFill>
                  <a:srgbClr val="0A1523"/>
                </a:solidFill>
                <a:latin typeface="Aptos"/>
              </a:rPr>
              <a:t>2</a:t>
            </a:r>
            <a:endParaRPr sz="1200" b="1">
              <a:solidFill>
                <a:srgbClr val="0A1523"/>
              </a:solidFill>
              <a:latin typeface="Apto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2834639" y="1965960"/>
            <a:ext cx="91440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000" b="1">
                <a:solidFill>
                  <a:srgbClr val="6AD3D7"/>
                </a:solidFill>
                <a:latin typeface="Aptos"/>
              </a:rPr>
              <a:t>研学第一天</a:t>
            </a:r>
            <a:endParaRPr sz="1000" b="1">
              <a:solidFill>
                <a:srgbClr val="6AD3D7"/>
              </a:solidFill>
              <a:latin typeface="Apto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688336" y="3310128"/>
            <a:ext cx="1188720" cy="38404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300" b="1">
                <a:solidFill>
                  <a:srgbClr val="1F262F"/>
                </a:solidFill>
                <a:latin typeface="Aptos"/>
              </a:rPr>
              <a:t>先搭框架</a:t>
            </a:r>
            <a:endParaRPr sz="1300" b="1">
              <a:solidFill>
                <a:srgbClr val="1F262F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459736" y="3886200"/>
            <a:ext cx="1645920" cy="9144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000" b="0">
                <a:solidFill>
                  <a:srgbClr val="50565A"/>
                </a:solidFill>
                <a:latin typeface="Aptos"/>
              </a:rPr>
              <a:t>采用完全配置化策略：只改配置，不改源码，也能展示不同场景。</a:t>
            </a:r>
            <a:endParaRPr sz="1000" b="0">
              <a:solidFill>
                <a:srgbClr val="50565A"/>
              </a:solidFill>
              <a:latin typeface="Aptos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5248656" y="2578608"/>
            <a:ext cx="502920" cy="502920"/>
          </a:xfrm>
          <a:prstGeom prst="ellipse">
            <a:avLst/>
          </a:prstGeom>
          <a:solidFill>
            <a:srgbClr val="8770DC"/>
          </a:solidFill>
          <a:ln>
            <a:solidFill>
              <a:srgbClr val="877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48656" y="2697480"/>
            <a:ext cx="502920" cy="1828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1">
                <a:solidFill>
                  <a:srgbClr val="0A1523"/>
                </a:solidFill>
                <a:latin typeface="Aptos"/>
              </a:rPr>
              <a:t>3</a:t>
            </a:r>
            <a:endParaRPr sz="1200" b="1">
              <a:solidFill>
                <a:srgbClr val="0A1523"/>
              </a:solidFill>
              <a:latin typeface="Apto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047488" y="1965960"/>
            <a:ext cx="91440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000" b="1">
                <a:solidFill>
                  <a:srgbClr val="8770DC"/>
                </a:solidFill>
                <a:latin typeface="Aptos"/>
              </a:rPr>
              <a:t>美中艾瑞参观期间</a:t>
            </a:r>
            <a:endParaRPr sz="1000" b="1">
              <a:solidFill>
                <a:srgbClr val="8770DC"/>
              </a:solidFill>
              <a:latin typeface="Apto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901184" y="3310128"/>
            <a:ext cx="1188720" cy="38404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300" b="1">
                <a:solidFill>
                  <a:srgbClr val="1F262F"/>
                </a:solidFill>
                <a:latin typeface="Aptos"/>
              </a:rPr>
              <a:t>增加观察维度</a:t>
            </a:r>
            <a:endParaRPr sz="1300" b="1">
              <a:solidFill>
                <a:srgbClr val="1F262F"/>
              </a:solidFill>
              <a:latin typeface="Apto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4672584" y="3886200"/>
            <a:ext cx="1645920" cy="9144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000" b="0">
                <a:solidFill>
                  <a:srgbClr val="50565A"/>
                </a:solidFill>
                <a:latin typeface="Aptos"/>
              </a:rPr>
              <a:t>加入时间轴与紫外线观察，让“同一地点的不同状态”可以被比较。</a:t>
            </a:r>
            <a:endParaRPr sz="1000" b="0">
              <a:solidFill>
                <a:srgbClr val="50565A"/>
              </a:solidFill>
              <a:latin typeface="Aptos"/>
            </a:endParaRPr>
          </a:p>
        </p:txBody>
      </p:sp>
      <p:sp>
        <p:nvSpPr>
          <p:cNvPr id="22" name="Oval 21"/>
          <p:cNvSpPr/>
          <p:nvPr/>
        </p:nvSpPr>
        <p:spPr>
          <a:xfrm>
            <a:off x="7461504" y="2578608"/>
            <a:ext cx="502920" cy="502920"/>
          </a:xfrm>
          <a:prstGeom prst="ellipse">
            <a:avLst/>
          </a:prstGeom>
          <a:solidFill>
            <a:srgbClr val="EB7E74"/>
          </a:solidFill>
          <a:ln>
            <a:solidFill>
              <a:srgbClr val="EB7E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61504" y="2697480"/>
            <a:ext cx="502920" cy="1828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1">
                <a:solidFill>
                  <a:srgbClr val="0A1523"/>
                </a:solidFill>
                <a:latin typeface="Aptos"/>
              </a:rPr>
              <a:t>4</a:t>
            </a:r>
            <a:endParaRPr sz="1200" b="1">
              <a:solidFill>
                <a:srgbClr val="0A1523"/>
              </a:solidFill>
              <a:latin typeface="Apto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260336" y="1965960"/>
            <a:ext cx="91440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000" b="1">
                <a:solidFill>
                  <a:srgbClr val="EB7E74"/>
                </a:solidFill>
                <a:latin typeface="Aptos"/>
              </a:rPr>
              <a:t>云冈石窟参观期间</a:t>
            </a:r>
            <a:endParaRPr sz="1000" b="1">
              <a:solidFill>
                <a:srgbClr val="EB7E74"/>
              </a:solidFill>
              <a:latin typeface="Aptos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7114032" y="3310128"/>
            <a:ext cx="1188720" cy="38404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300" b="1">
                <a:solidFill>
                  <a:srgbClr val="1F262F"/>
                </a:solidFill>
                <a:latin typeface="Aptos"/>
              </a:rPr>
              <a:t>扩展地点内容</a:t>
            </a:r>
            <a:endParaRPr sz="1300" b="1">
              <a:solidFill>
                <a:srgbClr val="1F262F"/>
              </a:solidFill>
              <a:latin typeface="Apto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885432" y="3886200"/>
            <a:ext cx="1645920" cy="9144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000" b="0">
                <a:solidFill>
                  <a:srgbClr val="50565A"/>
                </a:solidFill>
                <a:latin typeface="Aptos"/>
              </a:rPr>
              <a:t>增加云冈石窟第 1、3、6 窟展示，让架构接受真实内容扩展。</a:t>
            </a:r>
            <a:endParaRPr sz="1000" b="0">
              <a:solidFill>
                <a:srgbClr val="50565A"/>
              </a:solidFill>
              <a:latin typeface="Aptos"/>
            </a:endParaRPr>
          </a:p>
        </p:txBody>
      </p:sp>
      <p:sp>
        <p:nvSpPr>
          <p:cNvPr id="27" name="Oval 26"/>
          <p:cNvSpPr/>
          <p:nvPr/>
        </p:nvSpPr>
        <p:spPr>
          <a:xfrm>
            <a:off x="9674352" y="2578608"/>
            <a:ext cx="502920" cy="502920"/>
          </a:xfrm>
          <a:prstGeom prst="ellipse">
            <a:avLst/>
          </a:prstGeom>
          <a:solidFill>
            <a:srgbClr val="89D39E"/>
          </a:solidFill>
          <a:ln>
            <a:solidFill>
              <a:srgbClr val="89D3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4352" y="2697480"/>
            <a:ext cx="502920" cy="1828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200" b="1">
                <a:solidFill>
                  <a:srgbClr val="0A1523"/>
                </a:solidFill>
                <a:latin typeface="Aptos"/>
              </a:rPr>
              <a:t>5</a:t>
            </a:r>
            <a:endParaRPr sz="1200" b="1">
              <a:solidFill>
                <a:srgbClr val="0A1523"/>
              </a:solidFill>
              <a:latin typeface="Aptos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9473184" y="1965960"/>
            <a:ext cx="91440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000" b="1">
                <a:solidFill>
                  <a:srgbClr val="89D39E"/>
                </a:solidFill>
                <a:latin typeface="Aptos"/>
              </a:rPr>
              <a:t>当天晚</a:t>
            </a:r>
            <a:endParaRPr sz="1000" b="1">
              <a:solidFill>
                <a:srgbClr val="89D39E"/>
              </a:solidFill>
              <a:latin typeface="Apto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9326880" y="3310128"/>
            <a:ext cx="1188720" cy="38404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300" b="1">
                <a:solidFill>
                  <a:srgbClr val="1F262F"/>
                </a:solidFill>
                <a:latin typeface="Aptos"/>
              </a:rPr>
              <a:t>降低编辑门槛</a:t>
            </a:r>
            <a:endParaRPr sz="1300" b="1">
              <a:solidFill>
                <a:srgbClr val="1F262F"/>
              </a:solidFill>
              <a:latin typeface="Aptos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9098280" y="3886200"/>
            <a:ext cx="1645920" cy="9144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000" b="0">
                <a:solidFill>
                  <a:srgbClr val="50565A"/>
                </a:solidFill>
                <a:latin typeface="Aptos"/>
              </a:rPr>
              <a:t>增加图形化配置生成器，减少手写关卡配置的复杂度。</a:t>
            </a:r>
            <a:endParaRPr sz="1000" b="0">
              <a:solidFill>
                <a:srgbClr val="50565A"/>
              </a:solidFill>
              <a:latin typeface="Apto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777240" y="5806440"/>
            <a:ext cx="1051560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600" b="1">
                <a:solidFill>
                  <a:srgbClr val="1F262F"/>
                </a:solidFill>
                <a:latin typeface="Aptos"/>
              </a:rPr>
              <a:t>结论：架构不是凭空设计，而是被“内容扩展”和“现场体验”共同推出来的。</a:t>
            </a:r>
            <a:endParaRPr sz="1600" b="1">
              <a:solidFill>
                <a:srgbClr val="1F262F"/>
              </a:solidFill>
              <a:latin typeface="Apto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5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4572000" cy="25603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000" b="1">
                <a:solidFill>
                  <a:srgbClr val="DCAF64"/>
                </a:solidFill>
                <a:latin typeface="Aptos"/>
              </a:rPr>
              <a:t>PART B · 技术选型</a:t>
            </a:r>
            <a:endParaRPr sz="1000" b="1">
              <a:solidFill>
                <a:srgbClr val="DCAF64"/>
              </a:solidFill>
              <a:latin typeface="Apto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789920" cy="5486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技术选型：我们为什么放弃 3DGS，选择全景图？</a:t>
            </a:r>
            <a:endParaRPr sz="27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555480" y="6510528"/>
            <a:ext cx="2057400" cy="16459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r"/>
            <a:r>
              <a:rPr sz="800" b="0">
                <a:solidFill>
                  <a:srgbClr val="A6B0B8"/>
                </a:solidFill>
                <a:latin typeface="Aptos"/>
              </a:rPr>
              <a:t>18  /  DUNHUANG EXPLORER</a:t>
            </a:r>
            <a:endParaRPr sz="800" b="0">
              <a:solidFill>
                <a:srgbClr val="A6B0B8"/>
              </a:solidFill>
              <a:latin typeface="Aptos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713232" y="1417320"/>
            <a:ext cx="5166360" cy="2834640"/>
          </a:xfrm>
          <a:prstGeom prst="roundRect">
            <a:avLst/>
          </a:prstGeom>
          <a:solidFill>
            <a:srgbClr val="122336"/>
          </a:solidFill>
          <a:ln>
            <a:solidFill>
              <a:srgbClr val="2E42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13232" y="1417320"/>
            <a:ext cx="54864" cy="2834640"/>
          </a:xfrm>
          <a:prstGeom prst="roundRect">
            <a:avLst/>
          </a:prstGeom>
          <a:solidFill>
            <a:srgbClr val="EB7E74"/>
          </a:solidFill>
          <a:ln>
            <a:solidFill>
              <a:srgbClr val="EB7E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4800600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3DGS 被放弃</a:t>
            </a:r>
            <a:endParaRPr sz="15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14400" y="1947672"/>
            <a:ext cx="4800600" cy="21945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100" b="0">
                <a:solidFill>
                  <a:srgbClr val="D3DADD"/>
                </a:solidFill>
                <a:latin typeface="Aptos"/>
              </a:rPr>
              <a:t>3D Gaussian Splatting 需要足够多、足够清晰、且尽量没有路人干扰的采集数据。
当前条件下，数据量和质量不足时，3DGS 反而会产生漂浮、破碎、模糊的重建效果。</a:t>
            </a:r>
            <a:endParaRPr sz="1100" b="0">
              <a:solidFill>
                <a:srgbClr val="D3DADD"/>
              </a:solidFill>
              <a:latin typeface="Aptos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309360" y="1417320"/>
            <a:ext cx="5166360" cy="2834640"/>
          </a:xfrm>
          <a:prstGeom prst="roundRect">
            <a:avLst>
              <a:gd name="adj" fmla="val 17092"/>
            </a:avLst>
          </a:prstGeom>
          <a:solidFill>
            <a:srgbClr val="122336"/>
          </a:solidFill>
          <a:ln>
            <a:solidFill>
              <a:srgbClr val="2E42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9360" y="1417320"/>
            <a:ext cx="54864" cy="2834640"/>
          </a:xfrm>
          <a:prstGeom prst="roundRect">
            <a:avLst/>
          </a:prstGeom>
          <a:solidFill>
            <a:srgbClr val="6AD3D7"/>
          </a:solidFill>
          <a:ln>
            <a:solidFill>
              <a:srgbClr val="6AD3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554480"/>
            <a:ext cx="4800600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全景图更适合当前目标</a:t>
            </a:r>
            <a:endParaRPr sz="15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510528" y="1947672"/>
            <a:ext cx="4800600" cy="219456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100" b="0">
                <a:solidFill>
                  <a:srgbClr val="D3DADD"/>
                </a:solidFill>
                <a:latin typeface="Aptos"/>
              </a:rPr>
              <a:t>我们要的是“稳定地进入场景并探索线索”，不是为了证明重建技术。
全景图资源更易获得、加载更稳、展示效果可控；2:1 纹理贴到球内，就能实现沉浸式浏览。</a:t>
            </a:r>
            <a:endParaRPr sz="1100" b="0">
              <a:solidFill>
                <a:srgbClr val="D3DADD"/>
              </a:solidFill>
              <a:latin typeface="Apto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77240" y="4709160"/>
            <a:ext cx="1097280" cy="228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100" b="1">
                <a:solidFill>
                  <a:srgbClr val="DCAF64"/>
                </a:solidFill>
                <a:latin typeface="Aptos"/>
              </a:rPr>
              <a:t>决策原则</a:t>
            </a:r>
            <a:endParaRPr sz="1100" b="1">
              <a:solidFill>
                <a:srgbClr val="DCAF64"/>
              </a:solidFill>
              <a:latin typeface="Apto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965960" y="4663440"/>
            <a:ext cx="896112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2000" b="1">
                <a:solidFill>
                  <a:srgbClr val="DCAF64"/>
                </a:solidFill>
                <a:latin typeface="Aptos"/>
              </a:rPr>
              <a:t>先保证产品体验可用，再选择能支撑体验的技术。</a:t>
            </a:r>
            <a:endParaRPr sz="2000" b="1">
              <a:solidFill>
                <a:srgbClr val="DCAF64"/>
              </a:solidFill>
              <a:latin typeface="Apto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77240" y="5623560"/>
            <a:ext cx="10241280" cy="29260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400" b="0">
                <a:solidFill>
                  <a:srgbClr val="A6B0B8"/>
                </a:solidFill>
                <a:latin typeface="Aptos"/>
              </a:rPr>
              <a:t>KISS：Keep It Simple, Stupid —— 不为了“看起来更先进”而增加不可控复杂度。</a:t>
            </a:r>
            <a:endParaRPr sz="1400" b="0">
              <a:solidFill>
                <a:srgbClr val="A6B0B8"/>
              </a:solidFill>
              <a:latin typeface="Apto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4572000" cy="25603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000" b="1">
                <a:solidFill>
                  <a:srgbClr val="DCAF64"/>
                </a:solidFill>
                <a:latin typeface="Aptos"/>
              </a:rPr>
              <a:t>PART B · 技术选型</a:t>
            </a:r>
            <a:endParaRPr sz="1000" b="1">
              <a:solidFill>
                <a:srgbClr val="DCAF64"/>
              </a:solidFill>
              <a:latin typeface="Apto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789920" cy="5486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2700" b="1">
                <a:solidFill>
                  <a:srgbClr val="1F262F"/>
                </a:solidFill>
                <a:latin typeface="Aptos"/>
              </a:rPr>
              <a:t>技术选型：简单、严格、可扩展</a:t>
            </a:r>
            <a:endParaRPr sz="2700" b="1">
              <a:solidFill>
                <a:srgbClr val="1F262F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555480" y="6510528"/>
            <a:ext cx="2057400" cy="16459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r"/>
            <a:r>
              <a:rPr sz="800" b="0">
                <a:solidFill>
                  <a:srgbClr val="6C747B"/>
                </a:solidFill>
                <a:latin typeface="Aptos"/>
              </a:rPr>
              <a:t>19  /  DUNHUANG EXPLORER</a:t>
            </a:r>
            <a:endParaRPr sz="800" b="0">
              <a:solidFill>
                <a:srgbClr val="6C747B"/>
              </a:solidFill>
              <a:latin typeface="Aptos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85800" y="1371600"/>
            <a:ext cx="3474720" cy="1508760"/>
          </a:xfrm>
          <a:prstGeom prst="roundRect">
            <a:avLst/>
          </a:prstGeom>
          <a:solidFill>
            <a:srgbClr val="0A1523"/>
          </a:solidFill>
          <a:ln>
            <a:solidFill>
              <a:srgbClr val="2E42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371600"/>
            <a:ext cx="54864" cy="1508760"/>
          </a:xfrm>
          <a:prstGeom prst="roundRect">
            <a:avLst/>
          </a:prstGeom>
          <a:solidFill>
            <a:srgbClr val="6AD3D7"/>
          </a:solidFill>
          <a:ln>
            <a:solidFill>
              <a:srgbClr val="6AD3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508760"/>
            <a:ext cx="3108960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纯前端架构</a:t>
            </a:r>
            <a:endParaRPr sz="15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86968" y="1901952"/>
            <a:ext cx="3108960" cy="8686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100" b="0">
                <a:solidFill>
                  <a:srgbClr val="D3DADD"/>
                </a:solidFill>
                <a:latin typeface="Aptos"/>
              </a:rPr>
              <a:t>不引入额外后端和复杂服务，部署简单，演示链路短；坚持 KISS，先把核心体验做好。</a:t>
            </a:r>
            <a:endParaRPr sz="1100" b="0">
              <a:solidFill>
                <a:srgbClr val="D3DADD"/>
              </a:solidFill>
              <a:latin typeface="Aptos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370832" y="1371600"/>
            <a:ext cx="3474720" cy="1508760"/>
          </a:xfrm>
          <a:prstGeom prst="roundRect">
            <a:avLst/>
          </a:prstGeom>
          <a:solidFill>
            <a:srgbClr val="0A1523"/>
          </a:solidFill>
          <a:ln>
            <a:solidFill>
              <a:srgbClr val="2E42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70832" y="1371600"/>
            <a:ext cx="54864" cy="1508760"/>
          </a:xfrm>
          <a:prstGeom prst="roundRect">
            <a:avLst/>
          </a:prstGeom>
          <a:solidFill>
            <a:srgbClr val="8770DC"/>
          </a:solidFill>
          <a:ln>
            <a:solidFill>
              <a:srgbClr val="877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508760"/>
            <a:ext cx="3108960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TypeScript 配置</a:t>
            </a:r>
            <a:endParaRPr sz="15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572000" y="1901952"/>
            <a:ext cx="3108960" cy="8686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100" b="0">
                <a:solidFill>
                  <a:srgbClr val="D3DADD"/>
                </a:solidFill>
                <a:latin typeface="Aptos"/>
              </a:rPr>
              <a:t>关卡不是随便写 JSON：类型会约束字段、题目、全景、点击点，提前暴露配置错误，避免 JavaScript 弱类型问题。</a:t>
            </a:r>
            <a:endParaRPr sz="1100" b="0">
              <a:solidFill>
                <a:srgbClr val="D3DADD"/>
              </a:solidFill>
              <a:latin typeface="Aptos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046720" y="1371600"/>
            <a:ext cx="3474720" cy="1508760"/>
          </a:xfrm>
          <a:prstGeom prst="roundRect">
            <a:avLst/>
          </a:prstGeom>
          <a:solidFill>
            <a:srgbClr val="0A1523"/>
          </a:solidFill>
          <a:ln>
            <a:solidFill>
              <a:srgbClr val="2E42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46720" y="1371600"/>
            <a:ext cx="54864" cy="1508760"/>
          </a:xfrm>
          <a:prstGeom prst="roundRect">
            <a:avLst/>
          </a:prstGeom>
          <a:solidFill>
            <a:srgbClr val="DCAF64"/>
          </a:solidFill>
          <a:ln>
            <a:solidFill>
              <a:srgbClr val="DCAF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1508760"/>
            <a:ext cx="3108960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Three.js 而非现成框架</a:t>
            </a:r>
            <a:endParaRPr sz="15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247888" y="1901952"/>
            <a:ext cx="3108960" cy="8686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100" b="0">
                <a:solidFill>
                  <a:srgbClr val="D3DADD"/>
                </a:solidFill>
                <a:latin typeface="Aptos"/>
              </a:rPr>
              <a:t>自己控制球体、Raycaster 和渲染流程，后续加入 UV Shader、点击范围和资源释放更灵活。</a:t>
            </a:r>
            <a:endParaRPr sz="1100" b="0">
              <a:solidFill>
                <a:srgbClr val="D3DADD"/>
              </a:solidFill>
              <a:latin typeface="Aptos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685800" y="3246120"/>
            <a:ext cx="3474720" cy="1508760"/>
          </a:xfrm>
          <a:prstGeom prst="roundRect">
            <a:avLst/>
          </a:prstGeom>
          <a:solidFill>
            <a:srgbClr val="0A1523"/>
          </a:solidFill>
          <a:ln>
            <a:solidFill>
              <a:srgbClr val="2E42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85800" y="3246120"/>
            <a:ext cx="54864" cy="1508760"/>
          </a:xfrm>
          <a:prstGeom prst="roundRect">
            <a:avLst/>
          </a:prstGeom>
          <a:solidFill>
            <a:srgbClr val="89D39E"/>
          </a:solidFill>
          <a:ln>
            <a:solidFill>
              <a:srgbClr val="89D3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3383279"/>
            <a:ext cx="3108960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Vue + Pinia + Vue Router</a:t>
            </a:r>
            <a:endParaRPr sz="15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86968" y="3776472"/>
            <a:ext cx="3108960" cy="8686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100" b="0">
                <a:solidFill>
                  <a:srgbClr val="D3DADD"/>
                </a:solidFill>
                <a:latin typeface="Aptos"/>
              </a:rPr>
              <a:t>Vue 管界面，Pinia 管探索事实，Router 管地点/页面；职责清楚，减少手动同步和状态错乱。</a:t>
            </a:r>
            <a:endParaRPr sz="1100" b="0">
              <a:solidFill>
                <a:srgbClr val="D3DADD"/>
              </a:solidFill>
              <a:latin typeface="Aptos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4370832" y="3246120"/>
            <a:ext cx="7150608" cy="1508760"/>
          </a:xfrm>
          <a:prstGeom prst="roundRect">
            <a:avLst/>
          </a:prstGeom>
          <a:solidFill>
            <a:srgbClr val="0A1523"/>
          </a:solidFill>
          <a:ln>
            <a:solidFill>
              <a:srgbClr val="2E42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370832" y="3246120"/>
            <a:ext cx="54864" cy="1508760"/>
          </a:xfrm>
          <a:prstGeom prst="roundRect">
            <a:avLst/>
          </a:prstGeom>
          <a:solidFill>
            <a:srgbClr val="EB7E74"/>
          </a:solidFill>
          <a:ln>
            <a:solidFill>
              <a:srgbClr val="EB7E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0" y="3383279"/>
            <a:ext cx="6784848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选型结果</a:t>
            </a:r>
            <a:endParaRPr sz="15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572000" y="3776472"/>
            <a:ext cx="6784848" cy="8686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100" b="0">
                <a:solidFill>
                  <a:srgbClr val="D3DADD"/>
                </a:solidFill>
                <a:latin typeface="Aptos"/>
              </a:rPr>
              <a:t>不是“技术越多越好”，而是每个工具都直接服务于：稳定展示、快速迭代、内容可扩展。</a:t>
            </a:r>
            <a:endParaRPr sz="1100" b="0">
              <a:solidFill>
                <a:srgbClr val="D3DADD"/>
              </a:solidFill>
              <a:latin typeface="Aptos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731520" y="5623560"/>
            <a:ext cx="10607040" cy="3200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900" b="1">
                <a:solidFill>
                  <a:srgbClr val="1F262F"/>
                </a:solidFill>
                <a:latin typeface="Aptos"/>
              </a:rPr>
              <a:t>一句话：用最少的系统复杂度，换来足够的交互扩展能力。</a:t>
            </a:r>
            <a:endParaRPr sz="1900" b="1">
              <a:solidFill>
                <a:srgbClr val="1F262F"/>
              </a:solidFill>
              <a:latin typeface="Apto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4572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 i="0">
                <a:solidFill>
                  <a:srgbClr val="DCAF64"/>
                </a:solidFill>
                <a:latin typeface="Aptos"/>
              </a:rPr>
              <a:t>03 · ARCHITECTURE</a:t>
            </a:r>
            <a:endParaRPr sz="1000" b="1" i="0">
              <a:solidFill>
                <a:srgbClr val="DCAF64"/>
              </a:solidFill>
              <a:latin typeface="Apto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78992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700" b="1" i="0">
                <a:solidFill>
                  <a:srgbClr val="1F262F"/>
                </a:solidFill>
                <a:latin typeface="PingFang SC" panose="020B0400000000000000" charset="-122"/>
              </a:rPr>
              <a:t>一份配置，驱动一条可扩展的产品链路</a:t>
            </a:r>
            <a:endParaRPr sz="2700" b="1" i="0">
              <a:solidFill>
                <a:srgbClr val="1F262F"/>
              </a:solidFill>
              <a:latin typeface="PingFang SC" panose="020B0400000000000000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555480" y="6510528"/>
            <a:ext cx="2057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800" b="0" i="0">
                <a:solidFill>
                  <a:srgbClr val="6C747B"/>
                </a:solidFill>
                <a:latin typeface="Aptos"/>
              </a:rPr>
              <a:t>04  /  DUNHUANG EXPLORER</a:t>
            </a:r>
            <a:endParaRPr sz="800" b="0" i="0">
              <a:solidFill>
                <a:srgbClr val="6C747B"/>
              </a:solidFill>
              <a:latin typeface="Aptos"/>
            </a:endParaRPr>
          </a:p>
        </p:txBody>
      </p:sp>
      <p:pic>
        <p:nvPicPr>
          <p:cNvPr id="28" name="Picture 27" descr="Screenshot 2026-09-14 at 19.22.0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15210" y="1289685"/>
            <a:ext cx="7348855" cy="477964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4572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 i="0">
                <a:solidFill>
                  <a:srgbClr val="DCAF64"/>
                </a:solidFill>
                <a:latin typeface="Aptos"/>
              </a:rPr>
              <a:t>03 · ARCHITECTURE</a:t>
            </a:r>
            <a:endParaRPr sz="1000" b="1" i="0">
              <a:solidFill>
                <a:srgbClr val="DCAF64"/>
              </a:solidFill>
              <a:latin typeface="Apto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78992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700" b="1" i="0">
                <a:solidFill>
                  <a:srgbClr val="1F262F"/>
                </a:solidFill>
                <a:latin typeface="PingFang SC" panose="020B0400000000000000" charset="-122"/>
              </a:rPr>
              <a:t>一份配置，驱动一条可扩展的产品链路</a:t>
            </a:r>
            <a:endParaRPr sz="2700" b="1" i="0">
              <a:solidFill>
                <a:srgbClr val="1F262F"/>
              </a:solidFill>
              <a:latin typeface="PingFang SC" panose="020B0400000000000000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555480" y="6510528"/>
            <a:ext cx="2057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800" b="0" i="0">
                <a:solidFill>
                  <a:srgbClr val="6C747B"/>
                </a:solidFill>
                <a:latin typeface="Aptos"/>
              </a:rPr>
              <a:t>04  /  DUNHUANG EXPLORER</a:t>
            </a:r>
            <a:endParaRPr sz="800" b="0" i="0">
              <a:solidFill>
                <a:srgbClr val="6C747B"/>
              </a:solidFill>
              <a:latin typeface="Aptos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10744200" cy="658368"/>
          </a:xfrm>
          <a:prstGeom prst="roundRect">
            <a:avLst>
              <a:gd name="adj" fmla="val 12000"/>
            </a:avLst>
          </a:prstGeom>
          <a:solidFill>
            <a:srgbClr val="0A1523"/>
          </a:solidFill>
          <a:ln>
            <a:solidFill>
              <a:srgbClr val="0A15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581912"/>
            <a:ext cx="132588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 i="0">
                <a:solidFill>
                  <a:srgbClr val="DCAF64"/>
                </a:solidFill>
                <a:latin typeface="Aptos"/>
              </a:rPr>
              <a:t>VIEW LAYER</a:t>
            </a:r>
            <a:endParaRPr sz="1000" b="1" i="0">
              <a:solidFill>
                <a:srgbClr val="DCAF64"/>
              </a:solidFill>
              <a:latin typeface="Apto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148840" y="1554480"/>
            <a:ext cx="813816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PingFang SC" panose="020B0400000000000000" charset="-122"/>
              </a:rPr>
              <a:t>HomeView  ·  PlaceHome  ·  GameView  ·  EndingView</a:t>
            </a:r>
            <a:endParaRPr sz="1500" b="1" i="0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731520" y="2286000"/>
            <a:ext cx="10744200" cy="658368"/>
          </a:xfrm>
          <a:prstGeom prst="roundRect">
            <a:avLst>
              <a:gd name="adj" fmla="val 12000"/>
            </a:avLst>
          </a:prstGeom>
          <a:solidFill>
            <a:srgbClr val="122336"/>
          </a:solidFill>
          <a:ln>
            <a:solidFill>
              <a:srgbClr val="1223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450592"/>
            <a:ext cx="132588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 i="0">
                <a:solidFill>
                  <a:srgbClr val="6AD3D7"/>
                </a:solidFill>
                <a:latin typeface="Aptos"/>
              </a:rPr>
              <a:t>COMPONENTS</a:t>
            </a:r>
            <a:endParaRPr sz="1000" b="1" i="0">
              <a:solidFill>
                <a:srgbClr val="6AD3D7"/>
              </a:solidFill>
              <a:latin typeface="Apto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148840" y="2423160"/>
            <a:ext cx="84124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PingFang SC" panose="020B0400000000000000" charset="-122"/>
              </a:rPr>
              <a:t>PanoramaViewer  ·  CluePanel  ·  DifficultyControl  ·  MediaViewer</a:t>
            </a:r>
            <a:endParaRPr sz="1500" b="1" i="0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731520" y="3154680"/>
            <a:ext cx="10744200" cy="658368"/>
          </a:xfrm>
          <a:prstGeom prst="roundRect">
            <a:avLst>
              <a:gd name="adj" fmla="val 12000"/>
            </a:avLst>
          </a:prstGeom>
          <a:solidFill>
            <a:srgbClr val="E5E0D3"/>
          </a:solidFill>
          <a:ln>
            <a:solidFill>
              <a:srgbClr val="C9C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319272"/>
            <a:ext cx="132588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 i="0">
                <a:solidFill>
                  <a:srgbClr val="8770DC"/>
                </a:solidFill>
                <a:latin typeface="Aptos"/>
              </a:rPr>
              <a:t>STATE</a:t>
            </a:r>
            <a:endParaRPr sz="1000" b="1" i="0">
              <a:solidFill>
                <a:srgbClr val="8770DC"/>
              </a:solidFill>
              <a:latin typeface="Apto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148840" y="3291840"/>
            <a:ext cx="84124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 i="0">
                <a:solidFill>
                  <a:srgbClr val="1F262F"/>
                </a:solidFill>
                <a:latin typeface="PingFang SC" panose="020B0400000000000000" charset="-122"/>
              </a:rPr>
              <a:t>Pinia game store  ·  答题记录  ·  线索解锁  ·  localStorage 存档</a:t>
            </a:r>
            <a:endParaRPr sz="1500" b="1" i="0">
              <a:solidFill>
                <a:srgbClr val="1F262F"/>
              </a:solidFill>
              <a:latin typeface="PingFang SC" panose="020B0400000000000000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731520" y="4023360"/>
            <a:ext cx="10744200" cy="658368"/>
          </a:xfrm>
          <a:prstGeom prst="roundRect">
            <a:avLst>
              <a:gd name="adj" fmla="val 12000"/>
            </a:avLst>
          </a:prstGeom>
          <a:solidFill>
            <a:srgbClr val="DBEBE7"/>
          </a:solidFill>
          <a:ln>
            <a:solidFill>
              <a:srgbClr val="ADCF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187952"/>
            <a:ext cx="132588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 i="0">
                <a:solidFill>
                  <a:srgbClr val="247F7E"/>
                </a:solidFill>
                <a:latin typeface="Aptos"/>
              </a:rPr>
              <a:t>RENDER</a:t>
            </a:r>
            <a:endParaRPr sz="1000" b="1" i="0">
              <a:solidFill>
                <a:srgbClr val="247F7E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148840" y="4160520"/>
            <a:ext cx="841248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 i="0">
                <a:solidFill>
                  <a:srgbClr val="1F262F"/>
                </a:solidFill>
                <a:latin typeface="PingFang SC" panose="020B0400000000000000" charset="-122"/>
              </a:rPr>
              <a:t>Three.js / WebGL  ·  SphereGeometry  ·  Raycaster  ·  ShaderPass</a:t>
            </a:r>
            <a:endParaRPr sz="1500" b="1" i="0">
              <a:solidFill>
                <a:srgbClr val="1F262F"/>
              </a:solidFill>
              <a:latin typeface="PingFang SC" panose="020B0400000000000000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31520" y="5166360"/>
            <a:ext cx="9144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 i="0">
                <a:solidFill>
                  <a:srgbClr val="DCAF64"/>
                </a:solidFill>
                <a:latin typeface="Aptos"/>
              </a:rPr>
              <a:t>TOOLING</a:t>
            </a:r>
            <a:endParaRPr sz="1000" b="1" i="0">
              <a:solidFill>
                <a:srgbClr val="DCAF64"/>
              </a:solidFill>
              <a:latin typeface="Aptos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1691640" y="5102352"/>
            <a:ext cx="685800" cy="274320"/>
          </a:xfrm>
          <a:prstGeom prst="roundRect">
            <a:avLst>
              <a:gd name="adj" fmla="val 12000"/>
            </a:avLst>
          </a:prstGeom>
          <a:solidFill>
            <a:srgbClr val="DCAF64"/>
          </a:solidFill>
          <a:ln>
            <a:solidFill>
              <a:srgbClr val="DCAF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91640" y="5125212"/>
            <a:ext cx="68580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900" b="1" i="0">
                <a:solidFill>
                  <a:srgbClr val="0A1523"/>
                </a:solidFill>
                <a:latin typeface="Aptos"/>
              </a:rPr>
              <a:t>Vite</a:t>
            </a:r>
            <a:endParaRPr sz="900" b="1" i="0">
              <a:solidFill>
                <a:srgbClr val="0A1523"/>
              </a:solidFill>
              <a:latin typeface="Aptos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2514600" y="5102352"/>
            <a:ext cx="822960" cy="274320"/>
          </a:xfrm>
          <a:prstGeom prst="roundRect">
            <a:avLst>
              <a:gd name="adj" fmla="val 12000"/>
            </a:avLst>
          </a:prstGeom>
          <a:solidFill>
            <a:srgbClr val="6AD3D7"/>
          </a:solidFill>
          <a:ln>
            <a:solidFill>
              <a:srgbClr val="6AD3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14600" y="5125212"/>
            <a:ext cx="82296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900" b="1" i="0">
                <a:solidFill>
                  <a:srgbClr val="0A1523"/>
                </a:solidFill>
                <a:latin typeface="Aptos"/>
              </a:rPr>
              <a:t>Vitest</a:t>
            </a:r>
            <a:endParaRPr sz="900" b="1" i="0">
              <a:solidFill>
                <a:srgbClr val="0A1523"/>
              </a:solidFill>
              <a:latin typeface="Aptos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3474720" y="5102352"/>
            <a:ext cx="1097280" cy="274320"/>
          </a:xfrm>
          <a:prstGeom prst="roundRect">
            <a:avLst>
              <a:gd name="adj" fmla="val 12000"/>
            </a:avLst>
          </a:prstGeom>
          <a:solidFill>
            <a:srgbClr val="8770DC"/>
          </a:solidFill>
          <a:ln>
            <a:solidFill>
              <a:srgbClr val="877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74720" y="5125212"/>
            <a:ext cx="109728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900" b="1" i="0">
                <a:solidFill>
                  <a:srgbClr val="0A1523"/>
                </a:solidFill>
                <a:latin typeface="Aptos"/>
              </a:rPr>
              <a:t>Playwright</a:t>
            </a:r>
            <a:endParaRPr sz="900" b="1" i="0">
              <a:solidFill>
                <a:srgbClr val="0A1523"/>
              </a:solidFill>
              <a:latin typeface="Aptos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4709160" y="5102352"/>
            <a:ext cx="1234440" cy="274320"/>
          </a:xfrm>
          <a:prstGeom prst="roundRect">
            <a:avLst>
              <a:gd name="adj" fmla="val 12000"/>
            </a:avLst>
          </a:prstGeom>
          <a:solidFill>
            <a:srgbClr val="E1DFD4"/>
          </a:solidFill>
          <a:ln>
            <a:solidFill>
              <a:srgbClr val="E1DF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09160" y="5125212"/>
            <a:ext cx="123444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900" b="1" i="0">
                <a:solidFill>
                  <a:srgbClr val="1F262F"/>
                </a:solidFill>
                <a:latin typeface="Aptos"/>
              </a:rPr>
              <a:t>GitHub Pages</a:t>
            </a:r>
            <a:endParaRPr sz="900" b="1" i="0">
              <a:solidFill>
                <a:srgbClr val="1F262F"/>
              </a:solidFill>
              <a:latin typeface="Apto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731520" y="5806440"/>
            <a:ext cx="7955279" cy="32918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 i="0">
                <a:solidFill>
                  <a:srgbClr val="1F262F"/>
                </a:solidFill>
                <a:latin typeface="PingFang SC" panose="020B0400000000000000" charset="-122"/>
              </a:rPr>
              <a:t>新增地点主要改 data/game.ts；新增交互不必重写页面骨架。</a:t>
            </a:r>
            <a:endParaRPr sz="1700" b="1" i="0">
              <a:solidFill>
                <a:srgbClr val="1F262F"/>
              </a:solidFill>
              <a:latin typeface="PingFang SC" panose="020B0400000000000000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5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4572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 i="0">
                <a:solidFill>
                  <a:srgbClr val="DCAF64"/>
                </a:solidFill>
                <a:latin typeface="Aptos"/>
              </a:rPr>
              <a:t>04 · CODE MAP</a:t>
            </a:r>
            <a:endParaRPr sz="1000" b="1" i="0">
              <a:solidFill>
                <a:srgbClr val="DCAF64"/>
              </a:solidFill>
              <a:latin typeface="Apto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78992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PingFang SC" panose="020B0400000000000000" charset="-122"/>
              </a:rPr>
              <a:t>代码怎么分工：让“页面、状态、渲染、数据”各司其职</a:t>
            </a:r>
            <a:endParaRPr sz="2700" b="1" i="0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555480" y="6510528"/>
            <a:ext cx="2057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800" b="0" i="0">
                <a:solidFill>
                  <a:srgbClr val="A6B0B8"/>
                </a:solidFill>
                <a:latin typeface="Aptos"/>
              </a:rPr>
              <a:t>05  /  DUNHUANG EXPLORER</a:t>
            </a:r>
            <a:endParaRPr sz="800" b="0" i="0">
              <a:solidFill>
                <a:srgbClr val="A6B0B8"/>
              </a:solidFill>
              <a:latin typeface="Aptos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85800" y="1298448"/>
            <a:ext cx="5074920" cy="4297680"/>
          </a:xfrm>
          <a:prstGeom prst="roundRect">
            <a:avLst>
              <a:gd name="adj" fmla="val 12000"/>
            </a:avLst>
          </a:prstGeom>
          <a:solidFill>
            <a:srgbClr val="070F19"/>
          </a:solidFill>
          <a:ln>
            <a:solidFill>
              <a:srgbClr val="2A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1850" y="2049780"/>
            <a:ext cx="4782185" cy="2444115"/>
          </a:xfrm>
          <a:prstGeom prst="rect">
            <a:avLst/>
          </a:prstGeom>
          <a:noFill/>
        </p:spPr>
        <p:txBody>
          <a:bodyPr wrap="square" lIns="9144" tIns="9144" rIns="9144" bIns="9144" anchor="t">
            <a:noAutofit/>
          </a:bodyPr>
          <a:lstStyle/>
          <a:p>
            <a:pPr algn="l"/>
            <a:r>
              <a:rPr sz="1100" b="0" i="0">
                <a:solidFill>
                  <a:srgbClr val="CADCE0"/>
                </a:solidFill>
                <a:latin typeface="Menlo" panose="020B0609030804020204"/>
              </a:rPr>
              <a:t>src/
├─ views/                 页面编排
├─ components/            交互组件
│  ├─ PanoramaViewer.vue   WebGL 全景 / 热点 / UV
│  ├─ CluePanel.vue        线索锁定与展开
│  └─ MediaViewer.vue      全屏、缩放、拖动
├─ stores/game.ts          Pinia + 存档 + 答题规则
├─ data/game.ts            地点 / 关卡 / 线索 / 题目
├─ utils/
│  ├─ clickPoints.ts       最近命中判断
│  └─ hotspots.ts          3D → CSS2D 投影
└─ types/game.ts           领域模型</a:t>
            </a:r>
            <a:endParaRPr sz="1100" b="0" i="0">
              <a:solidFill>
                <a:srgbClr val="CADCE0"/>
              </a:solidFill>
              <a:latin typeface="Menlo" panose="020B0609030804020204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172200" y="1371600"/>
            <a:ext cx="5257800" cy="1508760"/>
          </a:xfrm>
          <a:prstGeom prst="roundRect">
            <a:avLst>
              <a:gd name="adj" fmla="val 12000"/>
            </a:avLst>
          </a:prstGeom>
          <a:solidFill>
            <a:srgbClr val="122336"/>
          </a:solidFill>
          <a:ln>
            <a:solidFill>
              <a:srgbClr val="2E42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172200" y="1371600"/>
            <a:ext cx="54864" cy="1508760"/>
          </a:xfrm>
          <a:prstGeom prst="roundRect">
            <a:avLst>
              <a:gd name="adj" fmla="val 12000"/>
            </a:avLst>
          </a:prstGeom>
          <a:solidFill>
            <a:srgbClr val="DCAF64"/>
          </a:solidFill>
          <a:ln>
            <a:solidFill>
              <a:srgbClr val="DCAF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82512" y="1536192"/>
            <a:ext cx="489204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PingFang SC" panose="020B0400000000000000" charset="-122"/>
              </a:rPr>
              <a:t>数据驱动</a:t>
            </a:r>
            <a:endParaRPr sz="1500" b="1" i="0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382512" y="1938528"/>
            <a:ext cx="4892040" cy="79552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 i="0">
                <a:solidFill>
                  <a:srgbClr val="D3DADD"/>
                </a:solidFill>
                <a:latin typeface="PingFang SC" panose="020B0400000000000000" charset="-122"/>
              </a:rPr>
              <a:t>地点 → 关卡 → panorama → click_points / hotspots / clues / problems
同一套 UI 可以承载敦煌和云冈两套内容。</a:t>
            </a:r>
            <a:endParaRPr sz="1100" b="0" i="0">
              <a:solidFill>
                <a:srgbClr val="D3DADD"/>
              </a:solidFill>
              <a:latin typeface="PingFang SC" panose="020B0400000000000000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172200" y="3063240"/>
            <a:ext cx="5257800" cy="1280160"/>
          </a:xfrm>
          <a:prstGeom prst="roundRect">
            <a:avLst>
              <a:gd name="adj" fmla="val 12000"/>
            </a:avLst>
          </a:prstGeom>
          <a:solidFill>
            <a:srgbClr val="122336"/>
          </a:solidFill>
          <a:ln>
            <a:solidFill>
              <a:srgbClr val="2E42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72200" y="3063240"/>
            <a:ext cx="54864" cy="1280160"/>
          </a:xfrm>
          <a:prstGeom prst="roundRect">
            <a:avLst>
              <a:gd name="adj" fmla="val 12000"/>
            </a:avLst>
          </a:prstGeom>
          <a:solidFill>
            <a:srgbClr val="6AD3D7"/>
          </a:solidFill>
          <a:ln>
            <a:solidFill>
              <a:srgbClr val="6AD3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3227832"/>
            <a:ext cx="489204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PingFang SC" panose="020B0400000000000000" charset="-122"/>
              </a:rPr>
              <a:t>渲染隔离</a:t>
            </a:r>
            <a:endParaRPr sz="1500" b="1" i="0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382512" y="3630168"/>
            <a:ext cx="4892040" cy="56692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 i="0">
                <a:solidFill>
                  <a:srgbClr val="D3DADD"/>
                </a:solidFill>
                <a:latin typeface="PingFang SC" panose="020B0400000000000000" charset="-122"/>
              </a:rPr>
              <a:t>PanoramaViewer 只处理“如何看见”；GameView 处理“看见后怎么推进”。</a:t>
            </a:r>
            <a:endParaRPr sz="1100" b="0" i="0">
              <a:solidFill>
                <a:srgbClr val="D3DADD"/>
              </a:solidFill>
              <a:latin typeface="PingFang SC" panose="020B0400000000000000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172200" y="4553712"/>
            <a:ext cx="5257800" cy="1280160"/>
          </a:xfrm>
          <a:prstGeom prst="roundRect">
            <a:avLst>
              <a:gd name="adj" fmla="val 12000"/>
            </a:avLst>
          </a:prstGeom>
          <a:solidFill>
            <a:srgbClr val="122336"/>
          </a:solidFill>
          <a:ln>
            <a:solidFill>
              <a:srgbClr val="2E42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72200" y="4553712"/>
            <a:ext cx="54864" cy="1280160"/>
          </a:xfrm>
          <a:prstGeom prst="roundRect">
            <a:avLst>
              <a:gd name="adj" fmla="val 12000"/>
            </a:avLst>
          </a:prstGeom>
          <a:solidFill>
            <a:srgbClr val="8770DC"/>
          </a:solidFill>
          <a:ln>
            <a:solidFill>
              <a:srgbClr val="877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4718304"/>
            <a:ext cx="489204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PingFang SC" panose="020B0400000000000000" charset="-122"/>
              </a:rPr>
              <a:t>状态持久化</a:t>
            </a:r>
            <a:endParaRPr sz="1500" b="1" i="0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382512" y="5120640"/>
            <a:ext cx="4892040" cy="56692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 i="0">
                <a:solidFill>
                  <a:srgbClr val="D3DADD"/>
                </a:solidFill>
                <a:latin typeface="PingFang SC" panose="020B0400000000000000" charset="-122"/>
              </a:rPr>
              <a:t>Pinia 记录进行中的事实，localStorage 让刷新、切换页面、后台恢复都可继续。</a:t>
            </a:r>
            <a:endParaRPr sz="1100" b="0" i="0">
              <a:solidFill>
                <a:srgbClr val="D3DADD"/>
              </a:solidFill>
              <a:latin typeface="PingFang SC" panose="020B0400000000000000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13232" y="5943600"/>
            <a:ext cx="10332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 i="0">
                <a:solidFill>
                  <a:srgbClr val="F5D287"/>
                </a:solidFill>
                <a:latin typeface="PingFang SC" panose="020B0400000000000000" charset="-122"/>
              </a:rPr>
              <a:t>核心原则：配置是内容，组件是能力，store 是进度。</a:t>
            </a:r>
            <a:endParaRPr sz="2000" b="1" i="0">
              <a:solidFill>
                <a:srgbClr val="F5D287"/>
              </a:solidFill>
              <a:latin typeface="PingFang SC" panose="020B0400000000000000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4572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 i="0">
                <a:solidFill>
                  <a:srgbClr val="DCAF64"/>
                </a:solidFill>
                <a:latin typeface="Aptos"/>
              </a:rPr>
              <a:t>05 · DEEP DIVE 1</a:t>
            </a:r>
            <a:endParaRPr sz="1000" b="1" i="0">
              <a:solidFill>
                <a:srgbClr val="DCAF64"/>
              </a:solidFill>
              <a:latin typeface="Apto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78992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700" b="1" i="0">
                <a:solidFill>
                  <a:srgbClr val="1F262F"/>
                </a:solidFill>
                <a:latin typeface="PingFang SC" panose="020B0400000000000000" charset="-122"/>
              </a:rPr>
              <a:t>360° 全景：把一张 2:1 图片变成“可以走进去”的球</a:t>
            </a:r>
            <a:endParaRPr sz="2700" b="1" i="0">
              <a:solidFill>
                <a:srgbClr val="1F262F"/>
              </a:solidFill>
              <a:latin typeface="PingFang SC" panose="020B0400000000000000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555480" y="6510528"/>
            <a:ext cx="2057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800" b="0" i="0">
                <a:solidFill>
                  <a:srgbClr val="6C747B"/>
                </a:solidFill>
                <a:latin typeface="Aptos"/>
              </a:rPr>
              <a:t>06  /  DUNHUANG EXPLORER</a:t>
            </a:r>
            <a:endParaRPr sz="800" b="0" i="0">
              <a:solidFill>
                <a:srgbClr val="6C747B"/>
              </a:solidFill>
              <a:latin typeface="Aptos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58368" y="1325880"/>
            <a:ext cx="5806440" cy="4480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DCD5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572768"/>
            <a:ext cx="50292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1F262F"/>
                </a:solidFill>
                <a:latin typeface="PingFang SC" panose="020B0400000000000000" charset="-122"/>
              </a:rPr>
              <a:t>等距柱状全景 → 球内壁 → 摄像机在球心</a:t>
            </a:r>
            <a:endParaRPr sz="1300" b="1" i="0">
              <a:solidFill>
                <a:srgbClr val="1F262F"/>
              </a:solidFill>
              <a:latin typeface="PingFang SC" panose="020B0400000000000000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914400" y="2103120"/>
            <a:ext cx="1828800" cy="713232"/>
          </a:xfrm>
          <a:prstGeom prst="roundRect">
            <a:avLst>
              <a:gd name="adj" fmla="val 12000"/>
            </a:avLst>
          </a:prstGeom>
          <a:solidFill>
            <a:srgbClr val="5A4938"/>
          </a:solidFill>
          <a:ln>
            <a:solidFill>
              <a:srgbClr val="DCAF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258568"/>
            <a:ext cx="18288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PingFang SC" panose="020B0400000000000000" charset="-122"/>
              </a:rPr>
              <a:t>2:1 pano
(u, v)</a:t>
            </a:r>
            <a:endParaRPr sz="1500" b="1" i="0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9" name="Oval 8"/>
          <p:cNvSpPr/>
          <p:nvPr/>
        </p:nvSpPr>
        <p:spPr>
          <a:xfrm>
            <a:off x="3218688" y="1938528"/>
            <a:ext cx="2148840" cy="2148840"/>
          </a:xfrm>
          <a:prstGeom prst="ellipse">
            <a:avLst/>
          </a:prstGeom>
          <a:solidFill>
            <a:srgbClr val="143041"/>
          </a:solidFill>
          <a:ln w="25400">
            <a:solidFill>
              <a:srgbClr val="6AD3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3429000" y="2148840"/>
            <a:ext cx="0" cy="1691640"/>
          </a:xfrm>
          <a:prstGeom prst="line">
            <a:avLst/>
          </a:prstGeom>
          <a:ln w="8890">
            <a:solidFill>
              <a:srgbClr val="468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867912" y="2148840"/>
            <a:ext cx="0" cy="1691640"/>
          </a:xfrm>
          <a:prstGeom prst="line">
            <a:avLst/>
          </a:prstGeom>
          <a:ln w="8890">
            <a:solidFill>
              <a:srgbClr val="468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306824" y="2148840"/>
            <a:ext cx="0" cy="1691640"/>
          </a:xfrm>
          <a:prstGeom prst="line">
            <a:avLst/>
          </a:prstGeom>
          <a:ln w="8890">
            <a:solidFill>
              <a:srgbClr val="468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745736" y="2148840"/>
            <a:ext cx="0" cy="1691640"/>
          </a:xfrm>
          <a:prstGeom prst="line">
            <a:avLst/>
          </a:prstGeom>
          <a:ln w="8890">
            <a:solidFill>
              <a:srgbClr val="468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401568" y="3017520"/>
            <a:ext cx="1746504" cy="0"/>
          </a:xfrm>
          <a:prstGeom prst="line">
            <a:avLst/>
          </a:prstGeom>
          <a:ln w="8890">
            <a:solidFill>
              <a:srgbClr val="468F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4187952" y="2916936"/>
            <a:ext cx="201168" cy="201168"/>
          </a:xfrm>
          <a:prstGeom prst="ellipse">
            <a:avLst/>
          </a:prstGeom>
          <a:solidFill>
            <a:srgbClr val="DCAF64"/>
          </a:solidFill>
          <a:ln>
            <a:solidFill>
              <a:srgbClr val="DCAF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50208" y="3273552"/>
            <a:ext cx="685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0" i="0">
                <a:solidFill>
                  <a:srgbClr val="DCAF64"/>
                </a:solidFill>
                <a:latin typeface="PingFang SC" panose="020B0400000000000000" charset="-122"/>
              </a:rPr>
              <a:t>camera</a:t>
            </a:r>
            <a:endParaRPr sz="1000" b="0" i="0">
              <a:solidFill>
                <a:srgbClr val="DCAF64"/>
              </a:solidFill>
              <a:latin typeface="PingFang SC" panose="020B0400000000000000" charset="-122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5193792" y="2441448"/>
            <a:ext cx="146304" cy="146304"/>
          </a:xfrm>
          <a:prstGeom prst="ellipse">
            <a:avLst/>
          </a:prstGeom>
          <a:solidFill>
            <a:srgbClr val="EB7E74"/>
          </a:solidFill>
          <a:ln>
            <a:solidFill>
              <a:srgbClr val="EB7E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 flipV="1">
            <a:off x="4288536" y="2514600"/>
            <a:ext cx="978408" cy="502920"/>
          </a:xfrm>
          <a:prstGeom prst="line">
            <a:avLst/>
          </a:prstGeom>
          <a:ln w="17780">
            <a:solidFill>
              <a:srgbClr val="EB7E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864608" y="2468880"/>
            <a:ext cx="45720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 i="0">
                <a:solidFill>
                  <a:srgbClr val="EB7E74"/>
                </a:solidFill>
                <a:latin typeface="Aptos"/>
              </a:rPr>
              <a:t>ray</a:t>
            </a:r>
            <a:endParaRPr sz="1000" b="0" i="0">
              <a:solidFill>
                <a:srgbClr val="EB7E74"/>
              </a:solidFill>
              <a:latin typeface="Apto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438144" y="4343400"/>
            <a:ext cx="19202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1F262F"/>
                </a:solidFill>
                <a:latin typeface="Menlo" panose="020B0609030804020204"/>
              </a:rPr>
              <a:t>SphereGeometry(10)
scale(-1, 1, 1)</a:t>
            </a:r>
            <a:endParaRPr sz="1100" b="0" i="0">
              <a:solidFill>
                <a:srgbClr val="1F262F"/>
              </a:solidFill>
              <a:latin typeface="Menlo" panose="020B0609030804020204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6812280" y="1417320"/>
            <a:ext cx="4617720" cy="1115568"/>
          </a:xfrm>
          <a:prstGeom prst="roundRect">
            <a:avLst>
              <a:gd name="adj" fmla="val 12000"/>
            </a:avLst>
          </a:prstGeom>
          <a:solidFill>
            <a:srgbClr val="0A1523"/>
          </a:solidFill>
          <a:ln>
            <a:solidFill>
              <a:srgbClr val="2E42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812280" y="1417320"/>
            <a:ext cx="54864" cy="1115568"/>
          </a:xfrm>
          <a:prstGeom prst="roundRect">
            <a:avLst>
              <a:gd name="adj" fmla="val 12000"/>
            </a:avLst>
          </a:prstGeom>
          <a:solidFill>
            <a:srgbClr val="DCAF64"/>
          </a:solidFill>
          <a:ln>
            <a:solidFill>
              <a:srgbClr val="DCAF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22592" y="1581912"/>
            <a:ext cx="4251959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PingFang SC" panose="020B0400000000000000" charset="-122"/>
              </a:rPr>
              <a:t>1 / 贴图</a:t>
            </a:r>
            <a:endParaRPr sz="1500" b="1" i="0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022592" y="1984248"/>
            <a:ext cx="4251959" cy="402335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 i="0">
                <a:solidFill>
                  <a:srgbClr val="D3DADD"/>
                </a:solidFill>
                <a:latin typeface="PingFang SC" panose="020B0400000000000000" charset="-122"/>
              </a:rPr>
              <a:t>把 2:1 等距柱状纹理贴到球面；反转 X 轴，把可见面放到球体内部。</a:t>
            </a:r>
            <a:endParaRPr sz="1100" b="0" i="0">
              <a:solidFill>
                <a:srgbClr val="D3DADD"/>
              </a:solidFill>
              <a:latin typeface="PingFang SC" panose="020B0400000000000000" charset="-122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6812280" y="2697480"/>
            <a:ext cx="4617720" cy="1115568"/>
          </a:xfrm>
          <a:prstGeom prst="roundRect">
            <a:avLst>
              <a:gd name="adj" fmla="val 12000"/>
            </a:avLst>
          </a:prstGeom>
          <a:solidFill>
            <a:srgbClr val="0A1523"/>
          </a:solidFill>
          <a:ln>
            <a:solidFill>
              <a:srgbClr val="2E42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812280" y="2697480"/>
            <a:ext cx="54864" cy="1115568"/>
          </a:xfrm>
          <a:prstGeom prst="roundRect">
            <a:avLst>
              <a:gd name="adj" fmla="val 12000"/>
            </a:avLst>
          </a:prstGeom>
          <a:solidFill>
            <a:srgbClr val="6AD3D7"/>
          </a:solidFill>
          <a:ln>
            <a:solidFill>
              <a:srgbClr val="6AD3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22592" y="2862072"/>
            <a:ext cx="4251959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PingFang SC" panose="020B0400000000000000" charset="-122"/>
              </a:rPr>
              <a:t>2 / 看见</a:t>
            </a:r>
            <a:endParaRPr sz="1500" b="1" i="0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7022592" y="3264408"/>
            <a:ext cx="4251959" cy="402335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 i="0">
                <a:solidFill>
                  <a:srgbClr val="D3DADD"/>
                </a:solidFill>
                <a:latin typeface="PingFang SC" panose="020B0400000000000000" charset="-122"/>
              </a:rPr>
              <a:t>相机留在球心，拖动改变经纬角；FOV 改变“望远 / 广角”。</a:t>
            </a:r>
            <a:endParaRPr sz="1100" b="0" i="0">
              <a:solidFill>
                <a:srgbClr val="D3DADD"/>
              </a:solidFill>
              <a:latin typeface="PingFang SC" panose="020B0400000000000000" charset="-122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6812280" y="3977639"/>
            <a:ext cx="4617720" cy="1115568"/>
          </a:xfrm>
          <a:prstGeom prst="roundRect">
            <a:avLst>
              <a:gd name="adj" fmla="val 12000"/>
            </a:avLst>
          </a:prstGeom>
          <a:solidFill>
            <a:srgbClr val="0A1523"/>
          </a:solidFill>
          <a:ln>
            <a:solidFill>
              <a:srgbClr val="2E42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812280" y="3977639"/>
            <a:ext cx="54864" cy="1115568"/>
          </a:xfrm>
          <a:prstGeom prst="roundRect">
            <a:avLst>
              <a:gd name="adj" fmla="val 12000"/>
            </a:avLst>
          </a:prstGeom>
          <a:solidFill>
            <a:srgbClr val="EB7E74"/>
          </a:solidFill>
          <a:ln>
            <a:solidFill>
              <a:srgbClr val="EB7E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22592" y="4142231"/>
            <a:ext cx="4251959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PingFang SC" panose="020B0400000000000000" charset="-122"/>
              </a:rPr>
              <a:t>3 / 命中</a:t>
            </a:r>
            <a:endParaRPr sz="1500" b="1" i="0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7022592" y="4544568"/>
            <a:ext cx="4251959" cy="402335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 i="0">
                <a:solidFill>
                  <a:srgbClr val="D3DADD"/>
                </a:solidFill>
                <a:latin typeface="PingFang SC" panose="020B0400000000000000" charset="-122"/>
              </a:rPr>
              <a:t>屏幕点击 → Raycaster 射线 → 球面交点 → 最近点击点。</a:t>
            </a:r>
            <a:endParaRPr sz="1100" b="0" i="0">
              <a:solidFill>
                <a:srgbClr val="D3DADD"/>
              </a:solidFill>
              <a:latin typeface="PingFang SC" panose="020B0400000000000000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6858000" y="5559552"/>
            <a:ext cx="438912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1F262F"/>
                </a:solidFill>
                <a:latin typeface="PingFang SC" panose="020B0400000000000000" charset="-122"/>
              </a:rPr>
              <a:t>同一坐标数据，不依赖屏幕尺寸。</a:t>
            </a:r>
            <a:endParaRPr sz="1600" b="1" i="0">
              <a:solidFill>
                <a:srgbClr val="1F262F"/>
              </a:solidFill>
              <a:latin typeface="PingFang SC" panose="020B0400000000000000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4572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 i="0">
                <a:solidFill>
                  <a:srgbClr val="DCAF64"/>
                </a:solidFill>
                <a:latin typeface="Aptos"/>
              </a:rPr>
              <a:t>06 · DEEP DIVE 2</a:t>
            </a:r>
            <a:endParaRPr sz="1000" b="1" i="0">
              <a:solidFill>
                <a:srgbClr val="DCAF64"/>
              </a:solidFill>
              <a:latin typeface="Apto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78992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700" b="1" i="0">
                <a:solidFill>
                  <a:srgbClr val="1F262F"/>
                </a:solidFill>
                <a:latin typeface="PingFang SC" panose="020B0400000000000000" charset="-122"/>
              </a:rPr>
              <a:t>紫外线观察：一条可解释的 Shader，把隐迹“提”出来</a:t>
            </a:r>
            <a:endParaRPr sz="2700" b="1" i="0">
              <a:solidFill>
                <a:srgbClr val="1F262F"/>
              </a:solidFill>
              <a:latin typeface="PingFang SC" panose="020B0400000000000000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555480" y="6510528"/>
            <a:ext cx="2057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800" b="0" i="0">
                <a:solidFill>
                  <a:srgbClr val="6C747B"/>
                </a:solidFill>
                <a:latin typeface="Aptos"/>
              </a:rPr>
              <a:t>08  /  DUNHUANG EXPLORER</a:t>
            </a:r>
            <a:endParaRPr sz="800" b="0" i="0">
              <a:solidFill>
                <a:srgbClr val="6C747B"/>
              </a:solidFill>
              <a:latin typeface="Aptos"/>
            </a:endParaRPr>
          </a:p>
        </p:txBody>
      </p:sp>
      <p:pic>
        <p:nvPicPr>
          <p:cNvPr id="6" name="Picture 5" descr="game-desktop-ultraviolet.png"/>
          <p:cNvPicPr>
            <a:picLocks noChangeAspect="1"/>
          </p:cNvPicPr>
          <p:nvPr/>
        </p:nvPicPr>
        <p:blipFill>
          <a:blip r:embed="rId1"/>
          <a:srcRect l="57" r="57"/>
          <a:stretch>
            <a:fillRect/>
          </a:stretch>
        </p:blipFill>
        <p:spPr>
          <a:xfrm>
            <a:off x="4553712" y="1417320"/>
            <a:ext cx="3840480" cy="2670048"/>
          </a:xfrm>
          <a:prstGeom prst="rect">
            <a:avLst/>
          </a:prstGeom>
          <a:ln w="16510">
            <a:solidFill>
              <a:srgbClr val="C6BEAF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731520" y="4233672"/>
            <a:ext cx="13716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>
                <a:solidFill>
                  <a:srgbClr val="1F262F"/>
                </a:solidFill>
                <a:latin typeface="PingFang SC" panose="020B0400000000000000" charset="-122"/>
              </a:rPr>
              <a:t>普通纹理</a:t>
            </a:r>
            <a:endParaRPr sz="1200" b="1" i="0">
              <a:solidFill>
                <a:srgbClr val="1F262F"/>
              </a:solidFill>
              <a:latin typeface="PingFang SC" panose="020B0400000000000000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617720" y="4233672"/>
            <a:ext cx="16459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>
                <a:solidFill>
                  <a:srgbClr val="8770DC"/>
                </a:solidFill>
                <a:latin typeface="PingFang SC" panose="020B0400000000000000" charset="-122"/>
              </a:rPr>
              <a:t>UV Shader 输出</a:t>
            </a:r>
            <a:endParaRPr sz="1200" b="1" i="0">
              <a:solidFill>
                <a:srgbClr val="8770DC"/>
              </a:solidFill>
              <a:latin typeface="PingFang SC" panose="020B0400000000000000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823960" y="1417320"/>
            <a:ext cx="192024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 i="0">
                <a:solidFill>
                  <a:srgbClr val="DCAF64"/>
                </a:solidFill>
                <a:latin typeface="Aptos"/>
              </a:rPr>
              <a:t>Render pipeline</a:t>
            </a:r>
            <a:endParaRPr sz="1100" b="1" i="0">
              <a:solidFill>
                <a:srgbClr val="DCAF64"/>
              </a:solidFill>
              <a:latin typeface="Aptos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778240" y="1874519"/>
            <a:ext cx="2514600" cy="640080"/>
          </a:xfrm>
          <a:prstGeom prst="roundRect">
            <a:avLst>
              <a:gd name="adj" fmla="val 12000"/>
            </a:avLst>
          </a:prstGeom>
          <a:solidFill>
            <a:srgbClr val="0A1523"/>
          </a:solidFill>
          <a:ln>
            <a:solidFill>
              <a:srgbClr val="6AD3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0" y="2020824"/>
            <a:ext cx="2514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PingFang SC" panose="020B0400000000000000" charset="-122"/>
              </a:rPr>
              <a:t>RenderPass
原始场景</a:t>
            </a:r>
            <a:endParaRPr sz="1200" b="1" i="0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cxnSp>
        <p:nvCxnSpPr>
          <p:cNvPr id="12" name="Connector 11"/>
          <p:cNvCxnSpPr/>
          <p:nvPr/>
        </p:nvCxnSpPr>
        <p:spPr>
          <a:xfrm>
            <a:off x="10040112" y="2514600"/>
            <a:ext cx="0" cy="228600"/>
          </a:xfrm>
          <a:prstGeom prst="line">
            <a:avLst/>
          </a:prstGeom>
          <a:ln w="19050">
            <a:solidFill>
              <a:srgbClr val="6AD3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778240" y="2761488"/>
            <a:ext cx="2514600" cy="640080"/>
          </a:xfrm>
          <a:prstGeom prst="roundRect">
            <a:avLst>
              <a:gd name="adj" fmla="val 12000"/>
            </a:avLst>
          </a:prstGeom>
          <a:solidFill>
            <a:srgbClr val="0A1523"/>
          </a:solidFill>
          <a:ln>
            <a:solidFill>
              <a:srgbClr val="877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0" y="2907792"/>
            <a:ext cx="2514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PingFang SC" panose="020B0400000000000000" charset="-122"/>
              </a:rPr>
              <a:t>ShaderPass
亮度 / 色差 / 辉光</a:t>
            </a:r>
            <a:endParaRPr sz="1200" b="1" i="0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cxnSp>
        <p:nvCxnSpPr>
          <p:cNvPr id="15" name="Connector 14"/>
          <p:cNvCxnSpPr/>
          <p:nvPr/>
        </p:nvCxnSpPr>
        <p:spPr>
          <a:xfrm>
            <a:off x="10040112" y="3401568"/>
            <a:ext cx="0" cy="228600"/>
          </a:xfrm>
          <a:prstGeom prst="line">
            <a:avLst/>
          </a:prstGeom>
          <a:ln w="19050">
            <a:solidFill>
              <a:srgbClr val="8770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778240" y="3648456"/>
            <a:ext cx="2514600" cy="640080"/>
          </a:xfrm>
          <a:prstGeom prst="roundRect">
            <a:avLst>
              <a:gd name="adj" fmla="val 12000"/>
            </a:avLst>
          </a:prstGeom>
          <a:solidFill>
            <a:srgbClr val="0A1523"/>
          </a:solidFill>
          <a:ln>
            <a:solidFill>
              <a:srgbClr val="DCAF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78240" y="3794760"/>
            <a:ext cx="2514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PingFang SC" panose="020B0400000000000000" charset="-122"/>
              </a:rPr>
              <a:t>OutputPass
输出到屏幕</a:t>
            </a:r>
            <a:endParaRPr sz="1200" b="1" i="0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658368" y="4892040"/>
            <a:ext cx="7726679" cy="960120"/>
          </a:xfrm>
          <a:prstGeom prst="roundRect">
            <a:avLst>
              <a:gd name="adj" fmla="val 12000"/>
            </a:avLst>
          </a:prstGeom>
          <a:solidFill>
            <a:srgbClr val="070F19"/>
          </a:solidFill>
          <a:ln>
            <a:solidFill>
              <a:srgbClr val="2A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5001768"/>
            <a:ext cx="7434071" cy="740664"/>
          </a:xfrm>
          <a:prstGeom prst="rect">
            <a:avLst/>
          </a:prstGeom>
          <a:noFill/>
        </p:spPr>
        <p:txBody>
          <a:bodyPr wrap="square" lIns="9144" tIns="9144" rIns="9144" bIns="9144" anchor="t">
            <a:spAutoFit/>
          </a:bodyPr>
          <a:lstStyle/>
          <a:p>
            <a:pPr algn="l"/>
            <a:r>
              <a:rPr sz="1000" b="0" i="0">
                <a:solidFill>
                  <a:srgbClr val="CADCE0"/>
                </a:solidFill>
                <a:latin typeface="Menlo" panose="020B0609030804020204"/>
              </a:rPr>
              <a:t>luminance = 0.2126R + 0.7152G + 0.0722B
chroma = max(rgb) - min(rgb)
white = high luminance + low chroma
glow = neighbor samples × blue</a:t>
            </a:r>
            <a:endParaRPr sz="1000" b="0" i="0">
              <a:solidFill>
                <a:srgbClr val="CADCE0"/>
              </a:solidFill>
              <a:latin typeface="Menlo" panose="020B0609030804020204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613648" y="4983480"/>
            <a:ext cx="2651760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1" i="0">
                <a:solidFill>
                  <a:srgbClr val="1F262F"/>
                </a:solidFill>
                <a:latin typeface="PingFang SC" panose="020B0400000000000000" charset="-122"/>
              </a:rPr>
              <a:t>不是滤镜：是“输入 → 特征 → 颜色映射 → 可观察结果”。</a:t>
            </a:r>
            <a:endParaRPr sz="1400" b="1" i="0">
              <a:solidFill>
                <a:srgbClr val="1F262F"/>
              </a:solidFill>
              <a:latin typeface="PingFang SC" panose="020B0400000000000000" charset="-122"/>
            </a:endParaRPr>
          </a:p>
        </p:txBody>
      </p:sp>
      <p:pic>
        <p:nvPicPr>
          <p:cNvPr id="22" name="Picture 21" descr="/Users/chenyuhang/Library/Containers/com.kingsoft.wpsoffice.mac/Data/tmp/picturecompress_20260914182740/output_1.pngoutput_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00" y="1404620"/>
            <a:ext cx="4045585" cy="267081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5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4572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 i="0">
                <a:solidFill>
                  <a:srgbClr val="DCAF64"/>
                </a:solidFill>
                <a:latin typeface="Aptos"/>
              </a:rPr>
              <a:t>05 · DEEP DIVE 1</a:t>
            </a:r>
            <a:endParaRPr sz="1000" b="1" i="0">
              <a:solidFill>
                <a:srgbClr val="DCAF64"/>
              </a:solidFill>
              <a:latin typeface="Apto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78992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PingFang SC" panose="020B0400000000000000" charset="-122"/>
              </a:rPr>
              <a:t>点击发现的核心：不是“猜屏幕坐标”，而是比较两个 3D 点</a:t>
            </a:r>
            <a:endParaRPr sz="2700" b="1" i="0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555480" y="6510528"/>
            <a:ext cx="2057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800" b="0" i="0">
                <a:solidFill>
                  <a:srgbClr val="A6B0B8"/>
                </a:solidFill>
                <a:latin typeface="Aptos"/>
              </a:rPr>
              <a:t>07  /  DUNHUANG EXPLORER</a:t>
            </a:r>
            <a:endParaRPr sz="800" b="0" i="0">
              <a:solidFill>
                <a:srgbClr val="A6B0B8"/>
              </a:solidFill>
              <a:latin typeface="Aptos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713232" y="1417320"/>
            <a:ext cx="5212080" cy="1417320"/>
          </a:xfrm>
          <a:prstGeom prst="roundRect">
            <a:avLst>
              <a:gd name="adj" fmla="val 12000"/>
            </a:avLst>
          </a:prstGeom>
          <a:solidFill>
            <a:srgbClr val="070F19"/>
          </a:solidFill>
          <a:ln>
            <a:solidFill>
              <a:srgbClr val="2A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790" y="1760220"/>
            <a:ext cx="4919345" cy="821055"/>
          </a:xfrm>
          <a:prstGeom prst="rect">
            <a:avLst/>
          </a:prstGeom>
          <a:noFill/>
        </p:spPr>
        <p:txBody>
          <a:bodyPr wrap="square" lIns="9144" tIns="9144" rIns="9144" bIns="9144" anchor="t">
            <a:noAutofit/>
          </a:bodyPr>
          <a:lstStyle/>
          <a:p>
            <a:pPr algn="l"/>
            <a:r>
              <a:rPr sz="1500" b="0" i="0">
                <a:solidFill>
                  <a:srgbClr val="CADCE0"/>
                </a:solidFill>
                <a:latin typeface="Menlo" panose="020B0609030804020204"/>
              </a:rPr>
              <a:t>const hit = position.distanceTo(point.vec)
if (hit &lt;= point.accept_click_range)
  return nearestIndex</a:t>
            </a:r>
            <a:endParaRPr sz="1500" b="0" i="0">
              <a:solidFill>
                <a:srgbClr val="CADCE0"/>
              </a:solidFill>
              <a:latin typeface="Menlo" panose="020B060903080402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49808" y="3154680"/>
            <a:ext cx="109728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 i="0">
                <a:solidFill>
                  <a:srgbClr val="DCAF64"/>
                </a:solidFill>
                <a:latin typeface="Aptos"/>
              </a:rPr>
              <a:t>数据示例</a:t>
            </a:r>
            <a:endParaRPr sz="1100" b="1" i="0">
              <a:solidFill>
                <a:srgbClr val="DCAF64"/>
              </a:solidFill>
              <a:latin typeface="Aptos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713232" y="3474720"/>
            <a:ext cx="5212080" cy="1783080"/>
          </a:xfrm>
          <a:prstGeom prst="roundRect">
            <a:avLst>
              <a:gd name="adj" fmla="val 12000"/>
            </a:avLst>
          </a:prstGeom>
          <a:solidFill>
            <a:srgbClr val="070F19"/>
          </a:solidFill>
          <a:ln>
            <a:solidFill>
              <a:srgbClr val="2A3E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790" y="3765550"/>
            <a:ext cx="4919345" cy="1005205"/>
          </a:xfrm>
          <a:prstGeom prst="rect">
            <a:avLst/>
          </a:prstGeom>
          <a:noFill/>
        </p:spPr>
        <p:txBody>
          <a:bodyPr wrap="square" lIns="9144" tIns="9144" rIns="9144" bIns="9144" anchor="t">
            <a:noAutofit/>
          </a:bodyPr>
          <a:lstStyle/>
          <a:p>
            <a:pPr algn="l"/>
            <a:r>
              <a:rPr sz="1200" b="0" i="0">
                <a:solidFill>
                  <a:srgbClr val="CADCE0"/>
                </a:solidFill>
                <a:latin typeface="Menlo" panose="020B0609030804020204"/>
              </a:rPr>
              <a:t>{
  vec: new Vector3(10, 0, 0),
  accept_click_range: 0.9,
  in_uv: false
}</a:t>
            </a:r>
            <a:endParaRPr sz="1200" b="0" i="0">
              <a:solidFill>
                <a:srgbClr val="CADCE0"/>
              </a:solidFill>
              <a:latin typeface="Menlo" panose="020B06090308040202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446520" y="1417320"/>
            <a:ext cx="109728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 i="0">
                <a:solidFill>
                  <a:srgbClr val="6AD3D7"/>
                </a:solidFill>
                <a:latin typeface="Aptos"/>
              </a:rPr>
              <a:t>命中判定</a:t>
            </a:r>
            <a:endParaRPr sz="1100" b="1" i="0">
              <a:solidFill>
                <a:srgbClr val="6AD3D7"/>
              </a:solidFill>
              <a:latin typeface="Aptos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6720840" y="1828800"/>
            <a:ext cx="1005840" cy="1005840"/>
          </a:xfrm>
          <a:prstGeom prst="ellipse">
            <a:avLst/>
          </a:prstGeom>
          <a:solidFill>
            <a:srgbClr val="122336"/>
          </a:solidFill>
          <a:ln w="25400">
            <a:solidFill>
              <a:srgbClr val="EB7E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121408"/>
            <a:ext cx="100584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PingFang SC" panose="020B0400000000000000" charset="-122"/>
              </a:rPr>
              <a:t>点击</a:t>
            </a:r>
            <a:endParaRPr sz="1300" b="1" i="0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556248" y="2953512"/>
            <a:ext cx="1335024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900" b="0" i="0">
                <a:solidFill>
                  <a:srgbClr val="A6B0B8"/>
                </a:solidFill>
                <a:latin typeface="Menlo" panose="020B0609030804020204"/>
              </a:rPr>
              <a:t>射线与球相交</a:t>
            </a:r>
            <a:endParaRPr sz="900" b="0" i="0">
              <a:solidFill>
                <a:srgbClr val="A6B0B8"/>
              </a:solidFill>
              <a:latin typeface="Menlo" panose="020B0609030804020204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8229600" y="1828800"/>
            <a:ext cx="1005840" cy="1005840"/>
          </a:xfrm>
          <a:prstGeom prst="ellipse">
            <a:avLst/>
          </a:prstGeom>
          <a:solidFill>
            <a:srgbClr val="122336"/>
          </a:solidFill>
          <a:ln w="25400">
            <a:solidFill>
              <a:srgbClr val="DCAF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2121408"/>
            <a:ext cx="100584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PingFang SC" panose="020B0400000000000000" charset="-122"/>
              </a:rPr>
              <a:t>交点</a:t>
            </a:r>
            <a:endParaRPr sz="1300" b="1" i="0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065008" y="2953512"/>
            <a:ext cx="1335024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900" b="0" i="0">
                <a:solidFill>
                  <a:srgbClr val="A6B0B8"/>
                </a:solidFill>
                <a:latin typeface="Menlo" panose="020B0609030804020204"/>
              </a:rPr>
              <a:t>position</a:t>
            </a:r>
            <a:endParaRPr sz="900" b="0" i="0">
              <a:solidFill>
                <a:srgbClr val="A6B0B8"/>
              </a:solidFill>
              <a:latin typeface="Menlo" panose="020B0609030804020204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9738360" y="1828800"/>
            <a:ext cx="1005840" cy="1005840"/>
          </a:xfrm>
          <a:prstGeom prst="ellipse">
            <a:avLst/>
          </a:prstGeom>
          <a:solidFill>
            <a:srgbClr val="122336"/>
          </a:solidFill>
          <a:ln w="25400">
            <a:solidFill>
              <a:srgbClr val="6AD3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38360" y="2121408"/>
            <a:ext cx="100584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PingFang SC" panose="020B0400000000000000" charset="-122"/>
              </a:rPr>
              <a:t>配置点</a:t>
            </a:r>
            <a:endParaRPr sz="1300" b="1" i="0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573768" y="2953512"/>
            <a:ext cx="1335024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900" b="0" i="0">
                <a:solidFill>
                  <a:srgbClr val="A6B0B8"/>
                </a:solidFill>
                <a:latin typeface="Menlo" panose="020B0609030804020204"/>
              </a:rPr>
              <a:t>point.vec</a:t>
            </a:r>
            <a:endParaRPr sz="900" b="0" i="0">
              <a:solidFill>
                <a:srgbClr val="A6B0B8"/>
              </a:solidFill>
              <a:latin typeface="Menlo" panose="020B0609030804020204"/>
            </a:endParaRPr>
          </a:p>
        </p:txBody>
      </p:sp>
      <p:cxnSp>
        <p:nvCxnSpPr>
          <p:cNvPr id="20" name="Connector 19"/>
          <p:cNvCxnSpPr/>
          <p:nvPr/>
        </p:nvCxnSpPr>
        <p:spPr>
          <a:xfrm>
            <a:off x="7772400" y="2331720"/>
            <a:ext cx="411479" cy="0"/>
          </a:xfrm>
          <a:prstGeom prst="line">
            <a:avLst/>
          </a:prstGeom>
          <a:ln w="22860">
            <a:solidFill>
              <a:srgbClr val="6AD3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281160" y="2331720"/>
            <a:ext cx="411480" cy="0"/>
          </a:xfrm>
          <a:prstGeom prst="line">
            <a:avLst/>
          </a:prstGeom>
          <a:ln w="22860">
            <a:solidFill>
              <a:srgbClr val="6AD3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565392" y="3657600"/>
            <a:ext cx="43891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 i="0">
                <a:solidFill>
                  <a:srgbClr val="F5D287"/>
                </a:solidFill>
                <a:latin typeface="Menlo" panose="020B0609030804020204"/>
              </a:rPr>
              <a:t>distance(position, point.vec) ≤ accept_click_range</a:t>
            </a:r>
            <a:endParaRPr sz="1500" b="1" i="0">
              <a:solidFill>
                <a:srgbClr val="F5D287"/>
              </a:solidFill>
              <a:latin typeface="Menlo" panose="020B0609030804020204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565392" y="4370832"/>
            <a:ext cx="4526280" cy="594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400" b="0" i="0">
                <a:solidFill>
                  <a:srgbClr val="CFD8DB"/>
                </a:solidFill>
                <a:latin typeface="PingFang SC" panose="020B0400000000000000" charset="-122"/>
              </a:rPr>
              <a:t>如果普通模式与 UV 模式各有一个同位置点，
in_uv 会把两种观察状态隔离开。</a:t>
            </a:r>
            <a:endParaRPr sz="1400" b="0" i="0">
              <a:solidFill>
                <a:srgbClr val="CFD8DB"/>
              </a:solidFill>
              <a:latin typeface="PingFang SC" panose="020B0400000000000000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31520" y="5897880"/>
            <a:ext cx="1024128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900" b="1" i="0">
                <a:solidFill>
                  <a:srgbClr val="F5D287"/>
                </a:solidFill>
                <a:latin typeface="PingFang SC" panose="020B0400000000000000" charset="-122"/>
              </a:rPr>
              <a:t>一句话：把交互语义绑定到空间，而不是绑定到屏幕。</a:t>
            </a:r>
            <a:endParaRPr sz="1900" b="1" i="0">
              <a:solidFill>
                <a:srgbClr val="F5D287"/>
              </a:solidFill>
              <a:latin typeface="PingFang SC" panose="020B0400000000000000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5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4572000" cy="25603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000" b="1">
                <a:solidFill>
                  <a:srgbClr val="DCAF64"/>
                </a:solidFill>
                <a:latin typeface="Aptos"/>
              </a:rPr>
              <a:t>PART B · 交互原理</a:t>
            </a:r>
            <a:endParaRPr sz="1000" b="1">
              <a:solidFill>
                <a:srgbClr val="DCAF64"/>
              </a:solidFill>
              <a:latin typeface="Apto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789920" cy="54864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点击检测：从“不直观的角度”改成“空间中的一条线”</a:t>
            </a:r>
            <a:endParaRPr sz="27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555480" y="6510528"/>
            <a:ext cx="2057400" cy="16459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r"/>
            <a:r>
              <a:rPr sz="800" b="0">
                <a:solidFill>
                  <a:srgbClr val="A6B0B8"/>
                </a:solidFill>
                <a:latin typeface="Aptos"/>
              </a:rPr>
              <a:t>20  /  DUNHUANG EXPLORER</a:t>
            </a:r>
            <a:endParaRPr sz="800" b="0">
              <a:solidFill>
                <a:srgbClr val="A6B0B8"/>
              </a:solidFill>
              <a:latin typeface="Aptos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713232" y="1371600"/>
            <a:ext cx="5166360" cy="1965960"/>
          </a:xfrm>
          <a:prstGeom prst="roundRect">
            <a:avLst/>
          </a:prstGeom>
          <a:solidFill>
            <a:srgbClr val="122336"/>
          </a:solidFill>
          <a:ln>
            <a:solidFill>
              <a:srgbClr val="2E42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13232" y="1371600"/>
            <a:ext cx="54864" cy="1965960"/>
          </a:xfrm>
          <a:prstGeom prst="roundRect">
            <a:avLst/>
          </a:prstGeom>
          <a:solidFill>
            <a:srgbClr val="EB7E74"/>
          </a:solidFill>
          <a:ln>
            <a:solidFill>
              <a:srgbClr val="EB7E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08760"/>
            <a:ext cx="4800600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最开始的问题</a:t>
            </a:r>
            <a:endParaRPr sz="15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14400" y="1901952"/>
            <a:ext cx="4800600" cy="13258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100" b="0">
                <a:solidFill>
                  <a:srgbClr val="D3DADD"/>
                </a:solidFill>
                <a:latin typeface="Aptos"/>
              </a:rPr>
              <a:t>AI 最初版本用欧拉角来绑定线索位置。角度能工作，但不直观：配置者很难想象“这个角度到底落在球面哪里”，也不容易表达点击范围。</a:t>
            </a:r>
            <a:endParaRPr sz="1100" b="0">
              <a:solidFill>
                <a:srgbClr val="D3DADD"/>
              </a:solidFill>
              <a:latin typeface="Aptos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309360" y="1371600"/>
            <a:ext cx="5166360" cy="1965960"/>
          </a:xfrm>
          <a:prstGeom prst="roundRect">
            <a:avLst/>
          </a:prstGeom>
          <a:solidFill>
            <a:srgbClr val="122336"/>
          </a:solidFill>
          <a:ln>
            <a:solidFill>
              <a:srgbClr val="2E42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9360" y="1371600"/>
            <a:ext cx="54864" cy="1965960"/>
          </a:xfrm>
          <a:prstGeom prst="roundRect">
            <a:avLst/>
          </a:prstGeom>
          <a:solidFill>
            <a:srgbClr val="6AD3D7"/>
          </a:solidFill>
          <a:ln>
            <a:solidFill>
              <a:srgbClr val="6AD3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1508760"/>
            <a:ext cx="4800600" cy="27432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Aptos"/>
              </a:rPr>
              <a:t>后来的改法</a:t>
            </a:r>
            <a:endParaRPr sz="15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510528" y="1901952"/>
            <a:ext cx="4800600" cy="13258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100" b="0">
                <a:solidFill>
                  <a:srgbClr val="D3DADD"/>
                </a:solidFill>
                <a:latin typeface="Aptos"/>
              </a:rPr>
              <a:t>以全景球原点为中心，使用“原点 → 射线检测目标点”的 3D 向量表示位置。目标点、命中交点和距离都在同一个空间里，配置更直观。</a:t>
            </a:r>
            <a:endParaRPr sz="1100" b="0">
              <a:solidFill>
                <a:srgbClr val="D3DADD"/>
              </a:solidFill>
              <a:latin typeface="Apto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77240" y="3794760"/>
            <a:ext cx="1097280" cy="22860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l"/>
            <a:r>
              <a:rPr sz="1100" b="1">
                <a:solidFill>
                  <a:srgbClr val="DCAF64"/>
                </a:solidFill>
                <a:latin typeface="Aptos"/>
              </a:rPr>
              <a:t>点击链路</a:t>
            </a:r>
            <a:endParaRPr sz="1100" b="1">
              <a:solidFill>
                <a:srgbClr val="DCAF64"/>
              </a:solidFill>
              <a:latin typeface="Aptos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777240" y="4297680"/>
            <a:ext cx="2148840" cy="749808"/>
          </a:xfrm>
          <a:prstGeom prst="roundRect">
            <a:avLst/>
          </a:prstGeom>
          <a:solidFill>
            <a:srgbClr val="122336"/>
          </a:solidFill>
          <a:ln>
            <a:solidFill>
              <a:srgbClr val="6AD3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407408"/>
            <a:ext cx="2148840" cy="20116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屏幕点击</a:t>
            </a:r>
            <a:endParaRPr sz="13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77240" y="4681728"/>
            <a:ext cx="2148840" cy="1828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000" b="0">
                <a:solidFill>
                  <a:srgbClr val="A6B0B8"/>
                </a:solidFill>
                <a:latin typeface="Menlo" panose="020B0609030804020204"/>
              </a:rPr>
              <a:t>Raycaster 射线</a:t>
            </a:r>
            <a:endParaRPr sz="1000" b="0">
              <a:solidFill>
                <a:srgbClr val="A6B0B8"/>
              </a:solidFill>
              <a:latin typeface="Menlo" panose="020B0609030804020204"/>
            </a:endParaRPr>
          </a:p>
        </p:txBody>
      </p:sp>
      <p:cxnSp>
        <p:nvCxnSpPr>
          <p:cNvPr id="17" name="Connector 16"/>
          <p:cNvCxnSpPr/>
          <p:nvPr/>
        </p:nvCxnSpPr>
        <p:spPr>
          <a:xfrm>
            <a:off x="2926080" y="4663440"/>
            <a:ext cx="502920" cy="0"/>
          </a:xfrm>
          <a:prstGeom prst="line">
            <a:avLst/>
          </a:prstGeom>
          <a:ln w="25400">
            <a:solidFill>
              <a:srgbClr val="6AD3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538728" y="4297680"/>
            <a:ext cx="2148840" cy="749808"/>
          </a:xfrm>
          <a:prstGeom prst="roundRect">
            <a:avLst/>
          </a:prstGeom>
          <a:solidFill>
            <a:srgbClr val="122336"/>
          </a:solidFill>
          <a:ln>
            <a:solidFill>
              <a:srgbClr val="DCAF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38728" y="4407408"/>
            <a:ext cx="2148840" cy="20116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球面交点</a:t>
            </a:r>
            <a:endParaRPr sz="13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538728" y="4681728"/>
            <a:ext cx="2148840" cy="1828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000" b="0">
                <a:solidFill>
                  <a:srgbClr val="A6B0B8"/>
                </a:solidFill>
                <a:latin typeface="Menlo" panose="020B0609030804020204"/>
              </a:rPr>
              <a:t>position</a:t>
            </a:r>
            <a:endParaRPr sz="1000" b="0">
              <a:solidFill>
                <a:srgbClr val="A6B0B8"/>
              </a:solidFill>
              <a:latin typeface="Menlo" panose="020B0609030804020204"/>
            </a:endParaRPr>
          </a:p>
        </p:txBody>
      </p:sp>
      <p:cxnSp>
        <p:nvCxnSpPr>
          <p:cNvPr id="21" name="Connector 20"/>
          <p:cNvCxnSpPr/>
          <p:nvPr/>
        </p:nvCxnSpPr>
        <p:spPr>
          <a:xfrm>
            <a:off x="5687568" y="4663440"/>
            <a:ext cx="502920" cy="0"/>
          </a:xfrm>
          <a:prstGeom prst="line">
            <a:avLst/>
          </a:prstGeom>
          <a:ln w="25400">
            <a:solidFill>
              <a:srgbClr val="6AD3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300216" y="4297680"/>
            <a:ext cx="2148840" cy="749808"/>
          </a:xfrm>
          <a:prstGeom prst="roundRect">
            <a:avLst/>
          </a:prstGeom>
          <a:solidFill>
            <a:srgbClr val="122336"/>
          </a:solidFill>
          <a:ln>
            <a:solidFill>
              <a:srgbClr val="877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0216" y="4407408"/>
            <a:ext cx="2148840" cy="20116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配置目标</a:t>
            </a:r>
            <a:endParaRPr sz="13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300216" y="4681728"/>
            <a:ext cx="2148840" cy="1828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000" b="0">
                <a:solidFill>
                  <a:srgbClr val="A6B0B8"/>
                </a:solidFill>
                <a:latin typeface="Menlo" panose="020B0609030804020204"/>
              </a:rPr>
              <a:t>point.vec</a:t>
            </a:r>
            <a:endParaRPr sz="1000" b="0">
              <a:solidFill>
                <a:srgbClr val="A6B0B8"/>
              </a:solidFill>
              <a:latin typeface="Menlo" panose="020B0609030804020204"/>
            </a:endParaRPr>
          </a:p>
        </p:txBody>
      </p:sp>
      <p:cxnSp>
        <p:nvCxnSpPr>
          <p:cNvPr id="25" name="Connector 24"/>
          <p:cNvCxnSpPr/>
          <p:nvPr/>
        </p:nvCxnSpPr>
        <p:spPr>
          <a:xfrm>
            <a:off x="8449056" y="4663440"/>
            <a:ext cx="502920" cy="0"/>
          </a:xfrm>
          <a:prstGeom prst="line">
            <a:avLst/>
          </a:prstGeom>
          <a:ln w="25400">
            <a:solidFill>
              <a:srgbClr val="6AD3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9061704" y="4297680"/>
            <a:ext cx="2148840" cy="749808"/>
          </a:xfrm>
          <a:prstGeom prst="roundRect">
            <a:avLst/>
          </a:prstGeom>
          <a:solidFill>
            <a:srgbClr val="122336"/>
          </a:solidFill>
          <a:ln>
            <a:solidFill>
              <a:srgbClr val="EB7E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61704" y="4407408"/>
            <a:ext cx="2148840" cy="201168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tos"/>
              </a:rPr>
              <a:t>距离比较</a:t>
            </a:r>
            <a:endParaRPr sz="13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9061704" y="4681728"/>
            <a:ext cx="2148840" cy="182880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000" b="0">
                <a:solidFill>
                  <a:srgbClr val="A6B0B8"/>
                </a:solidFill>
                <a:latin typeface="Menlo" panose="020B0609030804020204"/>
              </a:rPr>
              <a:t>≤ accept_click_range</a:t>
            </a:r>
            <a:endParaRPr sz="1000" b="0">
              <a:solidFill>
                <a:srgbClr val="A6B0B8"/>
              </a:solidFill>
              <a:latin typeface="Menlo" panose="020B0609030804020204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749808" y="5715000"/>
            <a:ext cx="10698480" cy="347472"/>
          </a:xfrm>
          <a:prstGeom prst="rect">
            <a:avLst/>
          </a:prstGeom>
          <a:noFill/>
        </p:spPr>
        <p:txBody>
          <a:bodyPr wrap="square" lIns="45720" tIns="27432" rIns="45720" bIns="27432">
            <a:spAutoFit/>
          </a:bodyPr>
          <a:lstStyle/>
          <a:p>
            <a:pPr algn="ctr"/>
            <a:r>
              <a:rPr sz="1600" b="1">
                <a:solidFill>
                  <a:srgbClr val="DCAF64"/>
                </a:solidFill>
                <a:latin typeface="Aptos"/>
              </a:rPr>
              <a:t>这套表示法随后也复用了“隐藏彩蛋”的点击范围检测：同一空间模型，同时服务普通线索、UV 线索和彩蛋。</a:t>
            </a:r>
            <a:endParaRPr sz="1600" b="1">
              <a:solidFill>
                <a:srgbClr val="DCAF64"/>
              </a:solidFill>
              <a:latin typeface="Apto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Screenshot 2026-09-14 at 19.08.3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296775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5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4572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 i="0">
                <a:solidFill>
                  <a:srgbClr val="DCAF64"/>
                </a:solidFill>
                <a:latin typeface="Aptos"/>
              </a:rPr>
              <a:t>07 · ENGINEERING</a:t>
            </a:r>
            <a:endParaRPr sz="1000" b="1" i="0">
              <a:solidFill>
                <a:srgbClr val="DCAF64"/>
              </a:solidFill>
              <a:latin typeface="Apto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78992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PingFang SC" panose="020B0400000000000000" charset="-122"/>
              </a:rPr>
              <a:t>产品体验背后：把“能跑”变成“可继续、可恢复、可维护”</a:t>
            </a:r>
            <a:endParaRPr sz="2700" b="1" i="0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555480" y="6510528"/>
            <a:ext cx="2057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800" b="0" i="0">
                <a:solidFill>
                  <a:srgbClr val="A6B0B8"/>
                </a:solidFill>
                <a:latin typeface="Aptos"/>
              </a:rPr>
              <a:t>09  /  DUNHUANG EXPLORER</a:t>
            </a:r>
            <a:endParaRPr sz="800" b="0" i="0">
              <a:solidFill>
                <a:srgbClr val="A6B0B8"/>
              </a:solidFill>
              <a:latin typeface="Aptos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85800" y="1417320"/>
            <a:ext cx="3401568" cy="1554480"/>
          </a:xfrm>
          <a:prstGeom prst="roundRect">
            <a:avLst>
              <a:gd name="adj" fmla="val 12000"/>
            </a:avLst>
          </a:prstGeom>
          <a:solidFill>
            <a:srgbClr val="122336"/>
          </a:solidFill>
          <a:ln>
            <a:solidFill>
              <a:srgbClr val="2E42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54864" cy="1554480"/>
          </a:xfrm>
          <a:prstGeom prst="roundRect">
            <a:avLst>
              <a:gd name="adj" fmla="val 12000"/>
            </a:avLst>
          </a:prstGeom>
          <a:solidFill>
            <a:srgbClr val="6AD3D7"/>
          </a:solidFill>
          <a:ln>
            <a:solidFill>
              <a:srgbClr val="6AD3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581912"/>
            <a:ext cx="3035808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PingFang SC" panose="020B0400000000000000" charset="-122"/>
              </a:rPr>
              <a:t>异步资源不串台</a:t>
            </a:r>
            <a:endParaRPr sz="1500" b="1" i="0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96112" y="1984248"/>
            <a:ext cx="3035808" cy="84124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 i="0">
                <a:solidFill>
                  <a:srgbClr val="D3DADD"/>
                </a:solidFill>
                <a:latin typeface="PingFang SC" panose="020B0400000000000000" charset="-122"/>
              </a:rPr>
              <a:t>每次纹理加载都有 loadId；新时相加载后，旧回调自动丢弃。旧纹理及时 dispose。</a:t>
            </a:r>
            <a:endParaRPr sz="1100" b="0" i="0">
              <a:solidFill>
                <a:srgbClr val="D3DADD"/>
              </a:solidFill>
              <a:latin typeface="PingFang SC" panose="020B0400000000000000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389120" y="1417320"/>
            <a:ext cx="3401568" cy="1554480"/>
          </a:xfrm>
          <a:prstGeom prst="roundRect">
            <a:avLst>
              <a:gd name="adj" fmla="val 12000"/>
            </a:avLst>
          </a:prstGeom>
          <a:solidFill>
            <a:srgbClr val="122336"/>
          </a:solidFill>
          <a:ln>
            <a:solidFill>
              <a:srgbClr val="2E42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89120" y="1417320"/>
            <a:ext cx="54864" cy="1554480"/>
          </a:xfrm>
          <a:prstGeom prst="roundRect">
            <a:avLst>
              <a:gd name="adj" fmla="val 12000"/>
            </a:avLst>
          </a:prstGeom>
          <a:solidFill>
            <a:srgbClr val="DCAF64"/>
          </a:solidFill>
          <a:ln>
            <a:solidFill>
              <a:srgbClr val="DCAF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2" y="1581912"/>
            <a:ext cx="3035808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PingFang SC" panose="020B0400000000000000" charset="-122"/>
              </a:rPr>
              <a:t>性能有边界</a:t>
            </a:r>
            <a:endParaRPr sz="1500" b="1" i="0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599432" y="1984248"/>
            <a:ext cx="3035808" cy="84124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 i="0">
                <a:solidFill>
                  <a:srgbClr val="D3DADD"/>
                </a:solidFill>
                <a:latin typeface="PingFang SC" panose="020B0400000000000000" charset="-122"/>
              </a:rPr>
              <a:t>设备像素比限制为 1.5；普通模式绕开 EffectComposer，只在 UV 模式启用后处理。</a:t>
            </a:r>
            <a:endParaRPr sz="1100" b="0" i="0">
              <a:solidFill>
                <a:srgbClr val="D3DADD"/>
              </a:solidFill>
              <a:latin typeface="PingFang SC" panose="020B0400000000000000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092440" y="1417320"/>
            <a:ext cx="3401568" cy="1554480"/>
          </a:xfrm>
          <a:prstGeom prst="roundRect">
            <a:avLst>
              <a:gd name="adj" fmla="val 12000"/>
            </a:avLst>
          </a:prstGeom>
          <a:solidFill>
            <a:srgbClr val="122336"/>
          </a:solidFill>
          <a:ln>
            <a:solidFill>
              <a:srgbClr val="2E42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92440" y="1417320"/>
            <a:ext cx="54864" cy="1554480"/>
          </a:xfrm>
          <a:prstGeom prst="roundRect">
            <a:avLst>
              <a:gd name="adj" fmla="val 12000"/>
            </a:avLst>
          </a:prstGeom>
          <a:solidFill>
            <a:srgbClr val="8770DC"/>
          </a:solidFill>
          <a:ln>
            <a:solidFill>
              <a:srgbClr val="877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02752" y="1581912"/>
            <a:ext cx="3035808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PingFang SC" panose="020B0400000000000000" charset="-122"/>
              </a:rPr>
              <a:t>进度不丢失</a:t>
            </a:r>
            <a:endParaRPr sz="1500" b="1" i="0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302752" y="1984248"/>
            <a:ext cx="3035808" cy="84124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 i="0">
                <a:solidFill>
                  <a:srgbClr val="D3DADD"/>
                </a:solidFill>
                <a:latin typeface="PingFang SC" panose="020B0400000000000000" charset="-122"/>
              </a:rPr>
              <a:t>pagehide / visibilitychange / 15 秒备份；刷新后按题目指纹校验并恢复。</a:t>
            </a:r>
            <a:endParaRPr sz="1100" b="0" i="0">
              <a:solidFill>
                <a:srgbClr val="D3DADD"/>
              </a:solidFill>
              <a:latin typeface="PingFang SC" panose="020B0400000000000000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685800" y="3383280"/>
            <a:ext cx="3401568" cy="1554480"/>
          </a:xfrm>
          <a:prstGeom prst="roundRect">
            <a:avLst>
              <a:gd name="adj" fmla="val 12000"/>
            </a:avLst>
          </a:prstGeom>
          <a:solidFill>
            <a:srgbClr val="122336"/>
          </a:solidFill>
          <a:ln>
            <a:solidFill>
              <a:srgbClr val="2E42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85800" y="3383280"/>
            <a:ext cx="54864" cy="1554480"/>
          </a:xfrm>
          <a:prstGeom prst="roundRect">
            <a:avLst>
              <a:gd name="adj" fmla="val 12000"/>
            </a:avLst>
          </a:prstGeom>
          <a:solidFill>
            <a:srgbClr val="EB7E74"/>
          </a:solidFill>
          <a:ln>
            <a:solidFill>
              <a:srgbClr val="EB7E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3547872"/>
            <a:ext cx="3035808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PingFang SC" panose="020B0400000000000000" charset="-122"/>
              </a:rPr>
              <a:t>失败可重试</a:t>
            </a:r>
            <a:endParaRPr sz="1500" b="1" i="0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96112" y="3950208"/>
            <a:ext cx="3035808" cy="84124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 i="0">
                <a:solidFill>
                  <a:srgbClr val="D3DADD"/>
                </a:solidFill>
                <a:latin typeface="PingFang SC" panose="020B0400000000000000" charset="-122"/>
              </a:rPr>
              <a:t>纹理、图片、视频、WebGL context lost 均提供错误态和重新加载入口。</a:t>
            </a:r>
            <a:endParaRPr sz="1100" b="0" i="0">
              <a:solidFill>
                <a:srgbClr val="D3DADD"/>
              </a:solidFill>
              <a:latin typeface="PingFang SC" panose="020B0400000000000000" charset="-122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4389120" y="3383280"/>
            <a:ext cx="3401568" cy="1554480"/>
          </a:xfrm>
          <a:prstGeom prst="roundRect">
            <a:avLst>
              <a:gd name="adj" fmla="val 12000"/>
            </a:avLst>
          </a:prstGeom>
          <a:solidFill>
            <a:srgbClr val="122336"/>
          </a:solidFill>
          <a:ln>
            <a:solidFill>
              <a:srgbClr val="2E42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389120" y="3383280"/>
            <a:ext cx="54864" cy="1554480"/>
          </a:xfrm>
          <a:prstGeom prst="roundRect">
            <a:avLst>
              <a:gd name="adj" fmla="val 12000"/>
            </a:avLst>
          </a:prstGeom>
          <a:solidFill>
            <a:srgbClr val="89D39E"/>
          </a:solidFill>
          <a:ln>
            <a:solidFill>
              <a:srgbClr val="89D3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99432" y="3547872"/>
            <a:ext cx="3035808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PingFang SC" panose="020B0400000000000000" charset="-122"/>
              </a:rPr>
              <a:t>内容可扩展</a:t>
            </a:r>
            <a:endParaRPr sz="1500" b="1" i="0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599432" y="3950208"/>
            <a:ext cx="3035808" cy="84124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 i="0">
                <a:solidFill>
                  <a:srgbClr val="D3DADD"/>
                </a:solidFill>
                <a:latin typeface="PingFang SC" panose="020B0400000000000000" charset="-122"/>
              </a:rPr>
              <a:t>新地点、新关卡、新时相主要是配置新增；组件能力复用，页面骨架不变。</a:t>
            </a:r>
            <a:endParaRPr sz="1100" b="0" i="0">
              <a:solidFill>
                <a:srgbClr val="D3DADD"/>
              </a:solidFill>
              <a:latin typeface="PingFang SC" panose="020B0400000000000000" charset="-122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8092440" y="3383280"/>
            <a:ext cx="3401568" cy="1554480"/>
          </a:xfrm>
          <a:prstGeom prst="roundRect">
            <a:avLst>
              <a:gd name="adj" fmla="val 12000"/>
            </a:avLst>
          </a:prstGeom>
          <a:solidFill>
            <a:srgbClr val="122336"/>
          </a:solidFill>
          <a:ln>
            <a:solidFill>
              <a:srgbClr val="2E42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092440" y="3383280"/>
            <a:ext cx="54864" cy="1554480"/>
          </a:xfrm>
          <a:prstGeom prst="roundRect">
            <a:avLst>
              <a:gd name="adj" fmla="val 12000"/>
            </a:avLst>
          </a:prstGeom>
          <a:solidFill>
            <a:srgbClr val="6AD3D7"/>
          </a:solidFill>
          <a:ln>
            <a:solidFill>
              <a:srgbClr val="6AD3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2752" y="3547872"/>
            <a:ext cx="3035808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PingFang SC" panose="020B0400000000000000" charset="-122"/>
              </a:rPr>
              <a:t>验证可复现</a:t>
            </a:r>
            <a:endParaRPr sz="1500" b="1" i="0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302752" y="3950208"/>
            <a:ext cx="3035808" cy="84124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 i="0">
                <a:solidFill>
                  <a:srgbClr val="D3DADD"/>
                </a:solidFill>
                <a:latin typeface="PingFang SC" panose="020B0400000000000000" charset="-122"/>
              </a:rPr>
              <a:t>Vitest 验证纯函数和 store；Playwright 验证关键路径与视觉快照。</a:t>
            </a:r>
            <a:endParaRPr sz="1100" b="0" i="0">
              <a:solidFill>
                <a:srgbClr val="D3DADD"/>
              </a:solidFill>
              <a:latin typeface="PingFang SC" panose="020B0400000000000000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713232" y="5806440"/>
            <a:ext cx="103327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900" b="1" i="0">
                <a:solidFill>
                  <a:srgbClr val="F5D287"/>
                </a:solidFill>
                <a:latin typeface="PingFang SC" panose="020B0400000000000000" charset="-122"/>
              </a:rPr>
              <a:t>工程底线：用户的探索状态是事实，渲染层只是事实的一个视图。</a:t>
            </a:r>
            <a:endParaRPr sz="1900" b="1" i="0">
              <a:solidFill>
                <a:srgbClr val="F5D287"/>
              </a:solidFill>
              <a:latin typeface="PingFang SC" panose="020B0400000000000000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1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4572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 i="0">
                <a:solidFill>
                  <a:srgbClr val="DCAF64"/>
                </a:solidFill>
                <a:latin typeface="Aptos"/>
              </a:rPr>
              <a:t>08 · END-TO-END</a:t>
            </a:r>
            <a:endParaRPr sz="1000" b="1" i="0">
              <a:solidFill>
                <a:srgbClr val="DCAF64"/>
              </a:solidFill>
              <a:latin typeface="Apto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78992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700" b="1" i="0">
                <a:solidFill>
                  <a:srgbClr val="1F262F"/>
                </a:solidFill>
                <a:latin typeface="PingFang SC" panose="020B0400000000000000" charset="-122"/>
              </a:rPr>
              <a:t>从配置到用户动作：一条闭环如何跑起来</a:t>
            </a:r>
            <a:endParaRPr sz="2700" b="1" i="0">
              <a:solidFill>
                <a:srgbClr val="1F262F"/>
              </a:solidFill>
              <a:latin typeface="PingFang SC" panose="020B0400000000000000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555480" y="6510528"/>
            <a:ext cx="2057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800" b="0" i="0">
                <a:solidFill>
                  <a:srgbClr val="6C747B"/>
                </a:solidFill>
                <a:latin typeface="Aptos"/>
              </a:rPr>
              <a:t>10  /  DUNHUANG EXPLORER</a:t>
            </a:r>
            <a:endParaRPr sz="800" b="0" i="0">
              <a:solidFill>
                <a:srgbClr val="6C747B"/>
              </a:solidFill>
              <a:latin typeface="Aptos"/>
            </a:endParaRPr>
          </a:p>
        </p:txBody>
      </p:sp>
      <p:sp>
        <p:nvSpPr>
          <p:cNvPr id="5" name="Oval 4"/>
          <p:cNvSpPr/>
          <p:nvPr/>
        </p:nvSpPr>
        <p:spPr>
          <a:xfrm>
            <a:off x="594360" y="1828800"/>
            <a:ext cx="914400" cy="914400"/>
          </a:xfrm>
          <a:prstGeom prst="ellipse">
            <a:avLst/>
          </a:prstGeom>
          <a:solidFill>
            <a:srgbClr val="DCAF64"/>
          </a:solidFill>
          <a:ln>
            <a:solidFill>
              <a:srgbClr val="DCAF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2121408"/>
            <a:ext cx="9144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 i="0">
                <a:solidFill>
                  <a:srgbClr val="0A1523"/>
                </a:solidFill>
                <a:latin typeface="PingFang SC" panose="020B0400000000000000" charset="-122"/>
              </a:rPr>
              <a:t>配置</a:t>
            </a:r>
            <a:endParaRPr sz="1500" b="1" i="0">
              <a:solidFill>
                <a:srgbClr val="0A1523"/>
              </a:solidFill>
              <a:latin typeface="PingFang SC" panose="020B0400000000000000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46888" y="3035808"/>
            <a:ext cx="1600200" cy="594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1F262F"/>
                </a:solidFill>
                <a:latin typeface="PingFang SC" panose="020B0400000000000000" charset="-122"/>
              </a:rPr>
              <a:t>data/game.ts
levels / panorama / clues</a:t>
            </a:r>
            <a:endParaRPr sz="1100" b="0" i="0">
              <a:solidFill>
                <a:srgbClr val="1F262F"/>
              </a:solidFill>
              <a:latin typeface="PingFang SC" panose="020B0400000000000000" charset="-122"/>
            </a:endParaRPr>
          </a:p>
        </p:txBody>
      </p:sp>
      <p:cxnSp>
        <p:nvCxnSpPr>
          <p:cNvPr id="8" name="Connector 7"/>
          <p:cNvCxnSpPr/>
          <p:nvPr/>
        </p:nvCxnSpPr>
        <p:spPr>
          <a:xfrm>
            <a:off x="1508760" y="2286000"/>
            <a:ext cx="1298448" cy="0"/>
          </a:xfrm>
          <a:prstGeom prst="line">
            <a:avLst/>
          </a:prstGeom>
          <a:ln w="25400">
            <a:solidFill>
              <a:srgbClr val="0A15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2880360" y="1828800"/>
            <a:ext cx="914400" cy="914400"/>
          </a:xfrm>
          <a:prstGeom prst="ellipse">
            <a:avLst/>
          </a:prstGeom>
          <a:solidFill>
            <a:srgbClr val="6AD3D7"/>
          </a:solidFill>
          <a:ln>
            <a:solidFill>
              <a:srgbClr val="6AD3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80360" y="2121408"/>
            <a:ext cx="9144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 i="0">
                <a:solidFill>
                  <a:srgbClr val="0A1523"/>
                </a:solidFill>
                <a:latin typeface="PingFang SC" panose="020B0400000000000000" charset="-122"/>
              </a:rPr>
              <a:t>渲染</a:t>
            </a:r>
            <a:endParaRPr sz="1500" b="1" i="0">
              <a:solidFill>
                <a:srgbClr val="0A1523"/>
              </a:solidFill>
              <a:latin typeface="PingFang SC" panose="020B0400000000000000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532888" y="3035808"/>
            <a:ext cx="1600200" cy="594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1F262F"/>
                </a:solidFill>
                <a:latin typeface="PingFang SC" panose="020B0400000000000000" charset="-122"/>
              </a:rPr>
              <a:t>PanoramaViewer
Three.js + WebGL</a:t>
            </a:r>
            <a:endParaRPr sz="1100" b="0" i="0">
              <a:solidFill>
                <a:srgbClr val="1F262F"/>
              </a:solidFill>
              <a:latin typeface="PingFang SC" panose="020B0400000000000000" charset="-122"/>
            </a:endParaRPr>
          </a:p>
        </p:txBody>
      </p:sp>
      <p:cxnSp>
        <p:nvCxnSpPr>
          <p:cNvPr id="12" name="Connector 11"/>
          <p:cNvCxnSpPr/>
          <p:nvPr/>
        </p:nvCxnSpPr>
        <p:spPr>
          <a:xfrm>
            <a:off x="3794760" y="2286000"/>
            <a:ext cx="1298448" cy="0"/>
          </a:xfrm>
          <a:prstGeom prst="line">
            <a:avLst/>
          </a:prstGeom>
          <a:ln w="25400">
            <a:solidFill>
              <a:srgbClr val="0A15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166360" y="1828800"/>
            <a:ext cx="914400" cy="914400"/>
          </a:xfrm>
          <a:prstGeom prst="ellipse">
            <a:avLst/>
          </a:prstGeom>
          <a:solidFill>
            <a:srgbClr val="EB7E74"/>
          </a:solidFill>
          <a:ln>
            <a:solidFill>
              <a:srgbClr val="EB7E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66360" y="2121408"/>
            <a:ext cx="9144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 i="0">
                <a:solidFill>
                  <a:srgbClr val="0A1523"/>
                </a:solidFill>
                <a:latin typeface="PingFang SC" panose="020B0400000000000000" charset="-122"/>
              </a:rPr>
              <a:t>发现</a:t>
            </a:r>
            <a:endParaRPr sz="1500" b="1" i="0">
              <a:solidFill>
                <a:srgbClr val="0A1523"/>
              </a:solidFill>
              <a:latin typeface="PingFang SC" panose="020B0400000000000000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818888" y="3035808"/>
            <a:ext cx="1600200" cy="594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1F262F"/>
                </a:solidFill>
                <a:latin typeface="PingFang SC" panose="020B0400000000000000" charset="-122"/>
              </a:rPr>
              <a:t>Raycaster
click point / hotspot</a:t>
            </a:r>
            <a:endParaRPr sz="1100" b="0" i="0">
              <a:solidFill>
                <a:srgbClr val="1F262F"/>
              </a:solidFill>
              <a:latin typeface="PingFang SC" panose="020B0400000000000000" charset="-122"/>
            </a:endParaRPr>
          </a:p>
        </p:txBody>
      </p:sp>
      <p:cxnSp>
        <p:nvCxnSpPr>
          <p:cNvPr id="16" name="Connector 15"/>
          <p:cNvCxnSpPr/>
          <p:nvPr/>
        </p:nvCxnSpPr>
        <p:spPr>
          <a:xfrm>
            <a:off x="6080760" y="2286000"/>
            <a:ext cx="1298448" cy="0"/>
          </a:xfrm>
          <a:prstGeom prst="line">
            <a:avLst/>
          </a:prstGeom>
          <a:ln w="25400">
            <a:solidFill>
              <a:srgbClr val="0A15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7452360" y="1828800"/>
            <a:ext cx="914400" cy="914400"/>
          </a:xfrm>
          <a:prstGeom prst="ellipse">
            <a:avLst/>
          </a:prstGeom>
          <a:solidFill>
            <a:srgbClr val="8770DC"/>
          </a:solidFill>
          <a:ln>
            <a:solidFill>
              <a:srgbClr val="877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52360" y="2121408"/>
            <a:ext cx="9144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 i="0">
                <a:solidFill>
                  <a:srgbClr val="0A1523"/>
                </a:solidFill>
                <a:latin typeface="PingFang SC" panose="020B0400000000000000" charset="-122"/>
              </a:rPr>
              <a:t>推理</a:t>
            </a:r>
            <a:endParaRPr sz="1500" b="1" i="0">
              <a:solidFill>
                <a:srgbClr val="0A1523"/>
              </a:solidFill>
              <a:latin typeface="PingFang SC" panose="020B0400000000000000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104888" y="3035808"/>
            <a:ext cx="1600200" cy="594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1F262F"/>
                </a:solidFill>
                <a:latin typeface="PingFang SC" panose="020B0400000000000000" charset="-122"/>
              </a:rPr>
              <a:t>GameView
题目与线索</a:t>
            </a:r>
            <a:endParaRPr sz="1100" b="0" i="0">
              <a:solidFill>
                <a:srgbClr val="1F262F"/>
              </a:solidFill>
              <a:latin typeface="PingFang SC" panose="020B0400000000000000" charset="-122"/>
            </a:endParaRPr>
          </a:p>
        </p:txBody>
      </p:sp>
      <p:cxnSp>
        <p:nvCxnSpPr>
          <p:cNvPr id="20" name="Connector 19"/>
          <p:cNvCxnSpPr/>
          <p:nvPr/>
        </p:nvCxnSpPr>
        <p:spPr>
          <a:xfrm>
            <a:off x="8366760" y="2286000"/>
            <a:ext cx="1298448" cy="0"/>
          </a:xfrm>
          <a:prstGeom prst="line">
            <a:avLst/>
          </a:prstGeom>
          <a:ln w="25400">
            <a:solidFill>
              <a:srgbClr val="0A15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9738360" y="1828800"/>
            <a:ext cx="914400" cy="914400"/>
          </a:xfrm>
          <a:prstGeom prst="ellipse">
            <a:avLst/>
          </a:prstGeom>
          <a:solidFill>
            <a:srgbClr val="89D39E"/>
          </a:solidFill>
          <a:ln>
            <a:solidFill>
              <a:srgbClr val="89D3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38360" y="2121408"/>
            <a:ext cx="9144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 i="0">
                <a:solidFill>
                  <a:srgbClr val="0A1523"/>
                </a:solidFill>
                <a:latin typeface="PingFang SC" panose="020B0400000000000000" charset="-122"/>
              </a:rPr>
              <a:t>持久化</a:t>
            </a:r>
            <a:endParaRPr sz="1500" b="1" i="0">
              <a:solidFill>
                <a:srgbClr val="0A1523"/>
              </a:solidFill>
              <a:latin typeface="PingFang SC" panose="020B0400000000000000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9390888" y="3035808"/>
            <a:ext cx="1600200" cy="594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1F262F"/>
                </a:solidFill>
                <a:latin typeface="PingFang SC" panose="020B0400000000000000" charset="-122"/>
              </a:rPr>
              <a:t>Pinia → localStorage
恢复与迁移</a:t>
            </a:r>
            <a:endParaRPr sz="1100" b="0" i="0">
              <a:solidFill>
                <a:srgbClr val="1F262F"/>
              </a:solidFill>
              <a:latin typeface="PingFang SC" panose="020B0400000000000000" charset="-122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914400" y="4590288"/>
            <a:ext cx="10287000" cy="713232"/>
          </a:xfrm>
          <a:prstGeom prst="roundRect">
            <a:avLst>
              <a:gd name="adj" fmla="val 12000"/>
            </a:avLst>
          </a:prstGeom>
          <a:solidFill>
            <a:srgbClr val="0A1523"/>
          </a:solidFill>
          <a:ln>
            <a:solidFill>
              <a:srgbClr val="0A15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800600"/>
            <a:ext cx="10287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PingFang SC" panose="020B0400000000000000" charset="-122"/>
              </a:rPr>
              <a:t>用户动作 → 产生事实 → store 记录事实 → UI 反映事实 → 下一次动作</a:t>
            </a:r>
            <a:endParaRPr sz="1800" b="1" i="0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731520" y="5715000"/>
            <a:ext cx="10698480" cy="32918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500" b="1" i="0">
                <a:solidFill>
                  <a:srgbClr val="1F262F"/>
                </a:solidFill>
                <a:latin typeface="PingFang SC" panose="020B0400000000000000" charset="-122"/>
              </a:rPr>
              <a:t>这也是为什么“产品功能”和“底层原理”可以同时讲清楚：每个体验动作都有对应的数据和算法。</a:t>
            </a:r>
            <a:endParaRPr sz="1500" b="1" i="0">
              <a:solidFill>
                <a:srgbClr val="1F262F"/>
              </a:solidFill>
              <a:latin typeface="PingFang SC" panose="020B0400000000000000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5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45720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 i="0">
                <a:solidFill>
                  <a:srgbClr val="DCAF64"/>
                </a:solidFill>
                <a:latin typeface="Aptos"/>
              </a:rPr>
              <a:t>09 · TAKEAWAYS</a:t>
            </a:r>
            <a:endParaRPr sz="1000" b="1" i="0">
              <a:solidFill>
                <a:srgbClr val="DCAF64"/>
              </a:solidFill>
              <a:latin typeface="Apto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94360" y="658368"/>
            <a:ext cx="1078992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PingFang SC" panose="020B0400000000000000" charset="-122"/>
              </a:rPr>
              <a:t>两项重点功能，用最短的话讲清楚</a:t>
            </a:r>
            <a:endParaRPr sz="2700" b="1" i="0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555480" y="6510528"/>
            <a:ext cx="20574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800" b="0" i="0">
                <a:solidFill>
                  <a:srgbClr val="A6B0B8"/>
                </a:solidFill>
                <a:latin typeface="Aptos"/>
              </a:rPr>
              <a:t>11  /  DUNHUANG EXPLORER</a:t>
            </a:r>
            <a:endParaRPr sz="800" b="0" i="0">
              <a:solidFill>
                <a:srgbClr val="A6B0B8"/>
              </a:solidFill>
              <a:latin typeface="Aptos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713232" y="1417320"/>
            <a:ext cx="5257800" cy="3383280"/>
          </a:xfrm>
          <a:prstGeom prst="roundRect">
            <a:avLst>
              <a:gd name="adj" fmla="val 12000"/>
            </a:avLst>
          </a:prstGeom>
          <a:solidFill>
            <a:srgbClr val="122336"/>
          </a:solidFill>
          <a:ln>
            <a:solidFill>
              <a:srgbClr val="6AD3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755648"/>
            <a:ext cx="43891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 i="0">
                <a:solidFill>
                  <a:srgbClr val="6AD3D7"/>
                </a:solidFill>
                <a:latin typeface="PingFang SC" panose="020B0400000000000000" charset="-122"/>
              </a:rPr>
              <a:t>全景 + 点击发现</a:t>
            </a:r>
            <a:endParaRPr sz="2200" b="1" i="0">
              <a:solidFill>
                <a:srgbClr val="6AD3D7"/>
              </a:solidFill>
              <a:latin typeface="PingFang SC" panose="020B0400000000000000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05840" y="2423160"/>
            <a:ext cx="4434840" cy="1691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PingFang SC" panose="020B0400000000000000" charset="-122"/>
              </a:rPr>
              <a:t>一张 2:1 全景图
→ 球内壁
→ 相机在球心
→ 射线与球求交
→ 3D 距离命中配置点</a:t>
            </a:r>
            <a:endParaRPr sz="1800" b="1" i="0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05840" y="4370832"/>
            <a:ext cx="43891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A6B0B8"/>
                </a:solidFill>
                <a:latin typeface="PingFang SC" panose="020B0400000000000000" charset="-122"/>
              </a:rPr>
              <a:t>空间坐标让交互跨设备复用。</a:t>
            </a:r>
            <a:endParaRPr sz="1300" b="0" i="0">
              <a:solidFill>
                <a:srgbClr val="A6B0B8"/>
              </a:solidFill>
              <a:latin typeface="PingFang SC" panose="020B0400000000000000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217920" y="1417320"/>
            <a:ext cx="5257800" cy="3383280"/>
          </a:xfrm>
          <a:prstGeom prst="roundRect">
            <a:avLst>
              <a:gd name="adj" fmla="val 12000"/>
            </a:avLst>
          </a:prstGeom>
          <a:solidFill>
            <a:srgbClr val="122336"/>
          </a:solidFill>
          <a:ln>
            <a:solidFill>
              <a:srgbClr val="8770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1755648"/>
            <a:ext cx="4389120" cy="429895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lang="zh-CN" sz="2200" b="1" i="0">
                <a:solidFill>
                  <a:srgbClr val="8770DC"/>
                </a:solidFill>
                <a:latin typeface="PingFang SC" panose="020B0400000000000000" charset="-122"/>
              </a:rPr>
              <a:t>侦探游戏</a:t>
            </a:r>
            <a:r>
              <a:rPr lang="en-US" altLang="zh-CN" sz="2200" b="1" i="0">
                <a:solidFill>
                  <a:srgbClr val="8770DC"/>
                </a:solidFill>
                <a:latin typeface="PingFang SC" panose="020B0400000000000000" charset="-122"/>
              </a:rPr>
              <a:t>+</a:t>
            </a:r>
            <a:r>
              <a:rPr lang="zh-CN" altLang="en-US" sz="2200" b="1" i="0">
                <a:solidFill>
                  <a:srgbClr val="8770DC"/>
                </a:solidFill>
                <a:latin typeface="PingFang SC" panose="020B0400000000000000" charset="-122"/>
              </a:rPr>
              <a:t>沉浸式</a:t>
            </a:r>
            <a:r>
              <a:rPr lang="zh-CN" altLang="en-US" sz="2200" b="1" i="0">
                <a:solidFill>
                  <a:srgbClr val="8770DC"/>
                </a:solidFill>
                <a:latin typeface="PingFang SC" panose="020B0400000000000000" charset="-122"/>
              </a:rPr>
              <a:t>体验</a:t>
            </a:r>
            <a:endParaRPr lang="zh-CN" altLang="en-US" sz="2200" b="1" i="0">
              <a:solidFill>
                <a:srgbClr val="8770DC"/>
              </a:solidFill>
              <a:latin typeface="PingFang SC" panose="020B0400000000000000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510528" y="2423160"/>
            <a:ext cx="4434840" cy="1753235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lang="zh-CN" sz="1800" b="1" i="0">
                <a:solidFill>
                  <a:srgbClr val="FFFFFF"/>
                </a:solidFill>
                <a:latin typeface="PingFang SC" panose="020B0400000000000000" charset="-122"/>
              </a:rPr>
              <a:t>开始</a:t>
            </a:r>
            <a:r>
              <a:rPr lang="en-US" altLang="zh-CN" sz="1800" b="1" i="0">
                <a:solidFill>
                  <a:srgbClr val="FFFFFF"/>
                </a:solidFill>
                <a:latin typeface="PingFang SC" panose="020B0400000000000000" charset="-122"/>
              </a:rPr>
              <a:t>：2d</a:t>
            </a:r>
            <a:r>
              <a:rPr lang="zh-CN" altLang="en-US" sz="1800" b="1" i="0">
                <a:solidFill>
                  <a:srgbClr val="FFFFFF"/>
                </a:solidFill>
                <a:latin typeface="PingFang SC" panose="020B0400000000000000" charset="-122"/>
              </a:rPr>
              <a:t>全景图展示</a:t>
            </a:r>
            <a:br>
              <a:rPr lang="zh-CN" altLang="en-US" sz="1800" b="1" i="0">
                <a:solidFill>
                  <a:srgbClr val="FFFFFF"/>
                </a:solidFill>
                <a:latin typeface="PingFang SC" panose="020B0400000000000000" charset="-122"/>
              </a:rPr>
            </a:br>
            <a:br>
              <a:rPr lang="zh-CN" altLang="en-US" sz="1800" b="1" i="0">
                <a:solidFill>
                  <a:srgbClr val="FFFFFF"/>
                </a:solidFill>
                <a:latin typeface="PingFang SC" panose="020B0400000000000000" charset="-122"/>
              </a:rPr>
            </a:br>
            <a:r>
              <a:rPr lang="zh-CN" altLang="en-US" sz="1800" b="1" i="0">
                <a:solidFill>
                  <a:srgbClr val="FFFFFF"/>
                </a:solidFill>
                <a:latin typeface="PingFang SC" panose="020B0400000000000000" charset="-122"/>
              </a:rPr>
              <a:t>思考过程</a:t>
            </a:r>
            <a:r>
              <a:rPr lang="en-US" altLang="zh-CN" sz="1800" b="1" i="0">
                <a:solidFill>
                  <a:srgbClr val="FFFFFF"/>
                </a:solidFill>
                <a:latin typeface="PingFang SC" panose="020B0400000000000000" charset="-122"/>
              </a:rPr>
              <a:t>：3d</a:t>
            </a:r>
            <a:r>
              <a:rPr lang="zh-CN" altLang="en-US" sz="1800" b="1" i="0">
                <a:solidFill>
                  <a:srgbClr val="FFFFFF"/>
                </a:solidFill>
                <a:latin typeface="PingFang SC" panose="020B0400000000000000" charset="-122"/>
              </a:rPr>
              <a:t>全景图展示</a:t>
            </a:r>
            <a:r>
              <a:rPr lang="en-US" altLang="zh-CN" sz="1800" b="1" i="0">
                <a:solidFill>
                  <a:srgbClr val="FFFFFF"/>
                </a:solidFill>
                <a:latin typeface="PingFang SC" panose="020B0400000000000000" charset="-122"/>
              </a:rPr>
              <a:t>+</a:t>
            </a:r>
            <a:r>
              <a:rPr lang="zh-CN" altLang="en-US" sz="1800" b="1" i="0">
                <a:solidFill>
                  <a:srgbClr val="FFFFFF"/>
                </a:solidFill>
                <a:latin typeface="PingFang SC" panose="020B0400000000000000" charset="-122"/>
              </a:rPr>
              <a:t>让用户在学习与参观景点的过程中同时收获与景点交互“对话”的</a:t>
            </a:r>
            <a:r>
              <a:rPr lang="zh-CN" altLang="en-US" sz="1800" b="1" i="0">
                <a:solidFill>
                  <a:srgbClr val="FFFFFF"/>
                </a:solidFill>
                <a:latin typeface="PingFang SC" panose="020B0400000000000000" charset="-122"/>
              </a:rPr>
              <a:t>快乐</a:t>
            </a:r>
            <a:endParaRPr lang="zh-CN" altLang="en-US" sz="1800" b="1" i="0">
              <a:solidFill>
                <a:srgbClr val="FFFFFF"/>
              </a:solidFill>
              <a:latin typeface="PingFang SC" panose="020B0400000000000000" charset="-122"/>
            </a:endParaRPr>
          </a:p>
          <a:p>
            <a:pPr algn="l"/>
            <a:r>
              <a:rPr lang="zh-CN" altLang="en-US" sz="1800" b="1" i="0">
                <a:solidFill>
                  <a:srgbClr val="FFFFFF"/>
                </a:solidFill>
                <a:latin typeface="PingFang SC" panose="020B0400000000000000" charset="-122"/>
              </a:rPr>
              <a:t>结果</a:t>
            </a:r>
            <a:r>
              <a:rPr lang="en-US" altLang="zh-CN" sz="1800" b="1" i="0">
                <a:solidFill>
                  <a:srgbClr val="FFFFFF"/>
                </a:solidFill>
                <a:latin typeface="PingFang SC" panose="020B0400000000000000" charset="-122"/>
              </a:rPr>
              <a:t>：</a:t>
            </a:r>
            <a:r>
              <a:rPr lang="zh-CN" altLang="en-US" sz="1800" b="1" i="0">
                <a:solidFill>
                  <a:srgbClr val="FFFFFF"/>
                </a:solidFill>
                <a:latin typeface="PingFang SC" panose="020B0400000000000000" charset="-122"/>
              </a:rPr>
              <a:t>交互模式</a:t>
            </a:r>
            <a:r>
              <a:rPr lang="en-US" altLang="zh-CN" sz="1800" b="1" i="0">
                <a:solidFill>
                  <a:srgbClr val="FFFFFF"/>
                </a:solidFill>
                <a:latin typeface="PingFang SC" panose="020B0400000000000000" charset="-122"/>
              </a:rPr>
              <a:t>---</a:t>
            </a:r>
            <a:r>
              <a:rPr lang="zh-CN" altLang="en-US" sz="1800" b="1" i="0">
                <a:solidFill>
                  <a:srgbClr val="FFFFFF"/>
                </a:solidFill>
                <a:latin typeface="PingFang SC" panose="020B0400000000000000" charset="-122"/>
              </a:rPr>
              <a:t>进一步</a:t>
            </a:r>
            <a:r>
              <a:rPr lang="en-US" altLang="zh-CN" sz="1800" b="1" i="0">
                <a:solidFill>
                  <a:srgbClr val="FFFFFF"/>
                </a:solidFill>
                <a:latin typeface="PingFang SC" panose="020B0400000000000000" charset="-122"/>
              </a:rPr>
              <a:t>：</a:t>
            </a:r>
            <a:r>
              <a:rPr lang="zh-CN" altLang="en-US" sz="1800" b="1" i="0">
                <a:solidFill>
                  <a:srgbClr val="FFFFFF"/>
                </a:solidFill>
                <a:latin typeface="PingFang SC" panose="020B0400000000000000" charset="-122"/>
              </a:rPr>
              <a:t>优化交互</a:t>
            </a:r>
            <a:r>
              <a:rPr lang="zh-CN" altLang="en-US" sz="1800" b="1" i="0">
                <a:solidFill>
                  <a:srgbClr val="FFFFFF"/>
                </a:solidFill>
                <a:latin typeface="PingFang SC" panose="020B0400000000000000" charset="-122"/>
              </a:rPr>
              <a:t>样式</a:t>
            </a:r>
            <a:endParaRPr lang="zh-CN" altLang="en-US" sz="1800" b="1" i="0">
              <a:solidFill>
                <a:srgbClr val="FFFFFF"/>
              </a:solidFill>
              <a:latin typeface="PingFang SC" panose="020B0400000000000000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510528" y="4370832"/>
            <a:ext cx="43891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A6B0B8"/>
                </a:solidFill>
                <a:latin typeface="PingFang SC" panose="020B0400000000000000" charset="-122"/>
              </a:rPr>
              <a:t>不是染色，而是可解释的特征提取。</a:t>
            </a:r>
            <a:endParaRPr sz="1300" b="0" i="0">
              <a:solidFill>
                <a:srgbClr val="A6B0B8"/>
              </a:solidFill>
              <a:latin typeface="PingFang SC" panose="020B0400000000000000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31520" y="5669280"/>
            <a:ext cx="106984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900" b="1" i="0">
                <a:solidFill>
                  <a:srgbClr val="F5D287"/>
                </a:solidFill>
                <a:latin typeface="PingFang SC" panose="020B0400000000000000" charset="-122"/>
              </a:rPr>
              <a:t>下一步：把更多真实内容接入同一套“数据 → 渲染 → 发现 → 推理”框架。</a:t>
            </a:r>
            <a:endParaRPr sz="1900" b="1" i="0">
              <a:solidFill>
                <a:srgbClr val="F5D287"/>
              </a:solidFill>
              <a:latin typeface="PingFang SC" panose="020B0400000000000000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Box 1"/>
          <p:cNvSpPr txBox="1"/>
          <p:nvPr/>
        </p:nvSpPr>
        <p:spPr>
          <a:xfrm>
            <a:off x="1118235" y="2312035"/>
            <a:ext cx="915670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457200" algn="ctr"/>
            <a:r>
              <a:rPr lang="zh-CN" altLang="en-US" sz="2400"/>
              <a:t>已部署网页</a:t>
            </a:r>
            <a:endParaRPr lang="en-US" altLang="en-US" sz="2400"/>
          </a:p>
          <a:p>
            <a:pPr algn="ctr"/>
            <a:r>
              <a:rPr lang="en-US" altLang="en-US" sz="2400"/>
              <a:t>https://james-chenyuhang987.github.io/dunhuang-mystery/</a:t>
            </a:r>
            <a:endParaRPr lang="en-US" altLang="en-US" sz="24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5097</Words>
  <Application>WPS Presentation</Application>
  <PresentationFormat>On-screen Show (4:3)</PresentationFormat>
  <Paragraphs>436</Paragraphs>
  <Slides>20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37" baseType="lpstr">
      <vt:lpstr>Arial</vt:lpstr>
      <vt:lpstr>SimSun</vt:lpstr>
      <vt:lpstr>Wingdings</vt:lpstr>
      <vt:lpstr>Arial</vt:lpstr>
      <vt:lpstr>Aptos</vt:lpstr>
      <vt:lpstr>Helvetica Neue</vt:lpstr>
      <vt:lpstr>PingFang SC</vt:lpstr>
      <vt:lpstr>Calibri</vt:lpstr>
      <vt:lpstr>SimSun</vt:lpstr>
      <vt:lpstr>汉仪书宋二KW</vt:lpstr>
      <vt:lpstr>Microsoft YaHei</vt:lpstr>
      <vt:lpstr>汉仪旗黑</vt:lpstr>
      <vt:lpstr>Arial Unicode MS</vt:lpstr>
      <vt:lpstr>Menlo</vt:lpstr>
      <vt:lpstr>Aptos</vt:lpstr>
      <vt:lpstr>Menlo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赵玲</cp:lastModifiedBy>
  <cp:revision>8</cp:revision>
  <dcterms:created xsi:type="dcterms:W3CDTF">2026-09-14T14:12:56Z</dcterms:created>
  <dcterms:modified xsi:type="dcterms:W3CDTF">2026-09-14T14:12:56Z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354D28EE37F88A27AACAA76A1E06BE55_42</vt:lpwstr>
  </property>
  <property fmtid="{D5CDD505-2E9C-101B-9397-08002B2CF9AE}" pid="3" name="KSOProductBuildVer">
    <vt:lpwstr>1033-12.1.23540.23540</vt:lpwstr>
  </property>
</Properties>
</file>