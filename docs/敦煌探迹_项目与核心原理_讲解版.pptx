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7b9409e724f56" /><Relationship Type="http://schemas.openxmlformats.org/officeDocument/2006/relationships/extended-properties" Target="/docProps/app.xml" Id="R16fde3acce044572" /><Relationship Type="http://schemas.openxmlformats.org/officeDocument/2006/relationships/officeDocument" Target="/ppt/presentation.xml" Id="R1f96d6827ad54f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b0dde6f25c422e"/>
  </p:sldMasterIdLst>
  <p:notesMasterIdLst>
    <p:notesMasterId xmlns:r="http://schemas.openxmlformats.org/officeDocument/2006/relationships" r:id="Rb9b8e6d055434d6c"/>
  </p:notesMasterIdLst>
  <p:sldIdLst>
    <p:sldId xmlns:r="http://schemas.openxmlformats.org/officeDocument/2006/relationships" id="256" r:id="R727ccbfc35814d0e"/>
    <p:sldId xmlns:r="http://schemas.openxmlformats.org/officeDocument/2006/relationships" id="257" r:id="Ra2c03381fe9d4523"/>
    <p:sldId xmlns:r="http://schemas.openxmlformats.org/officeDocument/2006/relationships" id="258" r:id="Ref79c5e7a98b4514"/>
    <p:sldId xmlns:r="http://schemas.openxmlformats.org/officeDocument/2006/relationships" id="259" r:id="Rafc26c6645714019"/>
    <p:sldId xmlns:r="http://schemas.openxmlformats.org/officeDocument/2006/relationships" id="260" r:id="Rdac5e3a3912247d6"/>
    <p:sldId xmlns:r="http://schemas.openxmlformats.org/officeDocument/2006/relationships" id="261" r:id="R2f3f38347e9b4bfe"/>
    <p:sldId xmlns:r="http://schemas.openxmlformats.org/officeDocument/2006/relationships" id="262" r:id="R084d4dd57d9c4061"/>
    <p:sldId xmlns:r="http://schemas.openxmlformats.org/officeDocument/2006/relationships" id="263" r:id="Re207cc4342324af8"/>
    <p:sldId xmlns:r="http://schemas.openxmlformats.org/officeDocument/2006/relationships" id="264" r:id="Re0bca078d97e4081"/>
    <p:sldId xmlns:r="http://schemas.openxmlformats.org/officeDocument/2006/relationships" id="265" r:id="R610c8d0463af464b"/>
    <p:sldId xmlns:r="http://schemas.openxmlformats.org/officeDocument/2006/relationships" id="266" r:id="Re975866b3e9d495b"/>
    <p:sldId xmlns:r="http://schemas.openxmlformats.org/officeDocument/2006/relationships" id="267" r:id="R201462b2feb544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78bb3cd274982" /><Relationship Type="http://schemas.openxmlformats.org/officeDocument/2006/relationships/slideMaster" Target="/ppt/slideMasters/slideMaster1.xml" Id="R0cb0dde6f25c422e" /><Relationship Type="http://schemas.openxmlformats.org/officeDocument/2006/relationships/notesMaster" Target="/ppt/notesMasters/notesMaster1.xml" Id="Rb9b8e6d055434d6c" /><Relationship Type="http://schemas.openxmlformats.org/officeDocument/2006/relationships/presProps" Target="/ppt/presProps.xml" Id="R78e050b65e544708" /><Relationship Type="http://schemas.openxmlformats.org/officeDocument/2006/relationships/tableStyles" Target="/ppt/tableStyles.xml" Id="R8abe14b518fa486e" /><Relationship Type="http://schemas.openxmlformats.org/officeDocument/2006/relationships/slide" Target="/ppt/slides/slide1.xml" Id="R727ccbfc35814d0e" /><Relationship Type="http://schemas.openxmlformats.org/officeDocument/2006/relationships/slide" Target="/ppt/slides/slide2.xml" Id="Ra2c03381fe9d4523" /><Relationship Type="http://schemas.openxmlformats.org/officeDocument/2006/relationships/slide" Target="/ppt/slides/slide3.xml" Id="Ref79c5e7a98b4514" /><Relationship Type="http://schemas.openxmlformats.org/officeDocument/2006/relationships/slide" Target="/ppt/slides/slide4.xml" Id="Rafc26c6645714019" /><Relationship Type="http://schemas.openxmlformats.org/officeDocument/2006/relationships/slide" Target="/ppt/slides/slide5.xml" Id="Rdac5e3a3912247d6" /><Relationship Type="http://schemas.openxmlformats.org/officeDocument/2006/relationships/slide" Target="/ppt/slides/slide6.xml" Id="R2f3f38347e9b4bfe" /><Relationship Type="http://schemas.openxmlformats.org/officeDocument/2006/relationships/slide" Target="/ppt/slides/slide7.xml" Id="R084d4dd57d9c4061" /><Relationship Type="http://schemas.openxmlformats.org/officeDocument/2006/relationships/slide" Target="/ppt/slides/slide8.xml" Id="Re207cc4342324af8" /><Relationship Type="http://schemas.openxmlformats.org/officeDocument/2006/relationships/slide" Target="/ppt/slides/slide9.xml" Id="Re0bca078d97e4081" /><Relationship Type="http://schemas.openxmlformats.org/officeDocument/2006/relationships/slide" Target="/ppt/slides/slide10.xml" Id="R610c8d0463af464b" /><Relationship Type="http://schemas.openxmlformats.org/officeDocument/2006/relationships/slide" Target="/ppt/slides/slide11.xml" Id="Re975866b3e9d495b" /><Relationship Type="http://schemas.openxmlformats.org/officeDocument/2006/relationships/slide" Target="/ppt/slides/slide12.xml" Id="R201462b2feb544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ecaa807e8a45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efe0a293ef4377" /><Relationship Type="http://schemas.openxmlformats.org/officeDocument/2006/relationships/notesMaster" Target="/ppt/notesMasters/notesMaster1.xml" Id="R21331bdac8804c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dea1a597474274" /><Relationship Type="http://schemas.openxmlformats.org/officeDocument/2006/relationships/notesMaster" Target="/ppt/notesMasters/notesMaster1.xml" Id="R11432e675f6f4b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b49dd34e734917" /><Relationship Type="http://schemas.openxmlformats.org/officeDocument/2006/relationships/notesMaster" Target="/ppt/notesMasters/notesMaster1.xml" Id="R952a26549a794b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5da5957d23485c" /><Relationship Type="http://schemas.openxmlformats.org/officeDocument/2006/relationships/notesMaster" Target="/ppt/notesMasters/notesMaster1.xml" Id="Rda15de629019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f7d1da0b2047b3" /><Relationship Type="http://schemas.openxmlformats.org/officeDocument/2006/relationships/notesMaster" Target="/ppt/notesMasters/notesMaster1.xml" Id="Rec95867c5a7242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e5cfd2db9e49ef" /><Relationship Type="http://schemas.openxmlformats.org/officeDocument/2006/relationships/notesMaster" Target="/ppt/notesMasters/notesMaster1.xml" Id="Raeff9d2d476a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858805f9434f9c" /><Relationship Type="http://schemas.openxmlformats.org/officeDocument/2006/relationships/notesMaster" Target="/ppt/notesMasters/notesMaster1.xml" Id="Ra6833ed0e68a46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43a50f3c014924" /><Relationship Type="http://schemas.openxmlformats.org/officeDocument/2006/relationships/notesMaster" Target="/ppt/notesMasters/notesMaster1.xml" Id="R31ef379be846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e047b564984a51" /><Relationship Type="http://schemas.openxmlformats.org/officeDocument/2006/relationships/notesMaster" Target="/ppt/notesMasters/notesMaster1.xml" Id="R2d36cb797ba34d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0ba507ee8c4dbf" /><Relationship Type="http://schemas.openxmlformats.org/officeDocument/2006/relationships/notesMaster" Target="/ppt/notesMasters/notesMaster1.xml" Id="R96c61050267e4a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00ca8b8e58480a" /><Relationship Type="http://schemas.openxmlformats.org/officeDocument/2006/relationships/notesMaster" Target="/ppt/notesMasters/notesMaster1.xml" Id="Rc351327ba04e44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25913b1dd341a1" /><Relationship Type="http://schemas.openxmlformats.org/officeDocument/2006/relationships/notesMaster" Target="/ppt/notesMasters/notesMaster1.xml" Id="R0ed7f7b0a010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我们做的是一个在浏览器里运行的文化探索游戏。用户可以环顾洞窟、寻找线索，再结合线索答题。今天重点解释两项功能：全景和点击发现怎样工作，紫外线模式又怎样把预先设计的线索显示出来。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项目材料：docs/展示PPT.pptx，第1、2、19页。封面图直接取自原稿，不作为真实洞窟影像的证明。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产品把全景浏览和侦探式解谜结合起来。用户选择地点和关卡后，可以拖动观察、打开编号线索，也能寻找隐藏发现。题目把观察结果组织成推理过程。项目包含原创教学素材和虚构情节，演示效果不能作为考古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src/views/GameView.vue</a:t>
            </a:r>
          </a:p>
          <a:p xmlns:a="http://schemas.openxmlformats.org/drawingml/2006/main">
            <a:r>
              <a:t>src/data/game.ts</a:t>
            </a:r>
          </a:p>
          <a:p xmlns:a="http://schemas.openxmlformats.org/drawingml/2006/main">
            <a:r>
              <a:t>图：2026-09-15本地项目真实运行截图。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原来的展示稿记录了这些决策：先确定探索与解谜的形式，再在研学过程中加入观察维度和新的地点。内容越来越多后，配置生成器降低了手写配置的负担。这里强调的是产品需求怎样推动技术选择。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团队过程记录：docs/展示PPT.pptx，第6页。</a:t>
            </a:r>
          </a:p>
          <a:p xmlns:a="http://schemas.openxmlformats.org/drawingml/2006/main">
            <a:r>
              <a:t>当前实现：src/data/game.ts、utils/index.html。</a:t>
            </a:r>
          </a:p>
          <a:p xmlns:a="http://schemas.openxmlformats.org/drawingml/2006/main">
            <a:r>
              <a:t>原稿记录的Google Earth Studio开场制作工具仅在此作为团队记录，运行时播放的是导出的MP4。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e负责界面，路由负责跳转。Pinia保存当前游戏状态，localStorage让刷新后还能恢复。Three.js负责三维视图。关卡内容通过TypeScript配置，增加内容时通常无需重写页面。工具链负责构建、测试和静态部署。当前没有业务后端或服务器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package.json</a:t>
            </a:r>
          </a:p>
          <a:p xmlns:a="http://schemas.openxmlformats.org/drawingml/2006/main">
            <a:r>
              <a:t>src/main.ts</a:t>
            </a:r>
          </a:p>
          <a:p xmlns:a="http://schemas.openxmlformats.org/drawingml/2006/main">
            <a:r>
              <a:t>src/router/index.ts</a:t>
            </a:r>
          </a:p>
          <a:p xmlns:a="http://schemas.openxmlformats.org/drawingml/2006/main">
            <a:r>
              <a:t>src/stores/game.ts</a:t>
            </a:r>
          </a:p>
          <a:p xmlns:a="http://schemas.openxmlformats.org/drawingml/2006/main">
            <a:r>
              <a:t>src/types/game.ts</a:t>
            </a:r>
          </a:p>
          <a:p xmlns:a="http://schemas.openxmlformats.org/drawingml/2006/main">
            <a:r>
              <a:t>.github/workflows/deploy-pages.yml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想成站在一个内壁贴满照片的球里。等距柱状图把水平角和垂直角对应到图片坐标，完整覆盖360度乘180度，所以通常是2比1。Three.js生成球体，再反转X轴使内侧可见。相机留在球心，从一个方向看过去，就得到当前屏幕画面。单纯把普通照片拉成2比1不会变成正确的全景。项目中的半径10是场景单位，不代表真实洞窟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src/composables/SceneManager.ts：initialize()，SphereGeometry(radius,64,32)、geometry.scale(-1,1,1)，radius=10。</a:t>
            </a:r>
          </a:p>
          <a:p xmlns:a="http://schemas.openxmlformats.org/drawingml/2006/main">
            <a:r>
              <a:t>https://threejs.org/docs/pages/SphereGeometry.html</a:t>
            </a:r>
          </a:p>
          <a:p xmlns:a="http://schemas.openxmlformats.org/drawingml/2006/main">
            <a:r>
              <a:t>图：public/yungang/yungang_cave3_pano.jpg。球体插图为本次生成的概念示意，不是真实洞窟模型。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拖动时，代码修改水平角和垂直角，再让相机看向新的方向。缩放时修改FOV，也就是相机的垂直视野角：数值小，屏幕装下的范围更窄，物体就显得更大。这类似在原地用长焦观察，并没有走到物体前面。代码把FOV限制在30到100度。两个截图来自同一关卡、同一朝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src/composables/GameUI.ts：move()、zoom()。src/composables/SceneManager.ts：render()。</a:t>
            </a:r>
          </a:p>
          <a:p xmlns:a="http://schemas.openxmlformats.org/drawingml/2006/main">
            <a:r>
              <a:t>https://threejs.org/docs/pages/PerspectiveCamera.html</a:t>
            </a:r>
          </a:p>
          <a:p xmlns:a="http://schemas.openxmlformats.org/drawingml/2006/main">
            <a:r>
              <a:t>图：本次本地运行截图，70度和40度。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不是把屏幕像素坐标直接存下来。先按画布大小把点击坐标归一化到负1到1，Raycaster结合相机投影生成射线，再与半径10的球求交。交点减去球心后，和配置的Vector3计算欧氏距离。距离不超过accept_click_range才算命中，重叠区域选最近的一个，in_uv负责匹配当前观察模式。示例配置半径0.9是场景单位。同一份空间坐标能随屏幕尺寸和朝向继续工作。注意编号线索按钮是CSS2DObject，隐藏发现才由这一段射线逻辑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src/composables/GameUI.ts：discover()、rebuildHotspots()。</a:t>
            </a:r>
          </a:p>
          <a:p xmlns:a="http://schemas.openxmlformats.org/drawingml/2006/main">
            <a:r>
              <a:t>src/utils/clickPoints.ts：findMatchingClickPoint()。</a:t>
            </a:r>
          </a:p>
          <a:p xmlns:a="http://schemas.openxmlformats.org/drawingml/2006/main">
            <a:r>
              <a:t>src/utils/hotspots.ts</a:t>
            </a:r>
          </a:p>
          <a:p xmlns:a="http://schemas.openxmlformats.org/drawingml/2006/main">
            <a:r>
              <a:t>https://threejs.org/docs/pages/Raycaster.html</a:t>
            </a:r>
          </a:p>
          <a:p xmlns:a="http://schemas.openxmlformats.org/drawingml/2006/main">
            <a:r>
              <a:t>插图为本次生成的示意，位置与大小不表示真实尺度。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技术的差别在于怎样表示场景。全景把一个观察点看到的颜色存进图片，旋转相机就能环顾。3D高斯使用大量位置、形状、颜色和不透明度可调整的高斯体，从多视角照片拟合场景，再把它们投影到新视角并混合成图像。因此它能支持观察位置变化，但效果取决于拍摄覆盖、相机位姿和优化质量。原稿记录我们受采集条件限制，选择全景方案。这是本项目的取舍，不是说全景在所有场景下都比3DGS更好。当前代码没有高斯模型或渲染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团队选型：docs/展示PPT.pptx，第7页。</a:t>
            </a:r>
          </a:p>
          <a:p xmlns:a="http://schemas.openxmlformats.org/drawingml/2006/main">
            <a:r>
              <a:t>实现核验：src/composables/SceneManager.ts、src/components/PanoramaViewer.vue、package.json。</a:t>
            </a:r>
          </a:p>
          <a:p xmlns:a="http://schemas.openxmlformats.org/drawingml/2006/main">
            <a:r>
              <a:t>Kerbl等，2023，3D Gaussian Splatting for Real-Time Radiance Field Rendering：https://repo-sam.inria.fr/fungraph/3d-gaussian-splatting/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两个步骤。首先把普通纹理url换成专用的ultraviolet_url，然后启用紫外线着色器。专用素材已经画好了白色标记。着色器让背景偏紫蓝、让白色标记显得更亮。它不会从一张普通照片自动发现真实隐藏文字，也没有在测量真实紫外光。当前截图使用原创教学SVG，代表游戏里的视觉模拟。只有当前时相提供了专用素材，界面才允许开启这个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src/composables/SceneManager.ts：loadTexture()。</a:t>
            </a:r>
          </a:p>
          <a:p xmlns:a="http://schemas.openxmlformats.org/drawingml/2006/main">
            <a:r>
              <a:t>src/views/GameView.vue</a:t>
            </a:r>
          </a:p>
          <a:p xmlns:a="http://schemas.openxmlformats.org/drawingml/2006/main">
            <a:r>
              <a:t>src/data/game.ts：九色秘语的url与ultraviolet_url。</a:t>
            </a:r>
          </a:p>
          <a:p xmlns:a="http://schemas.openxmlformats.org/drawingml/2006/main">
            <a:r>
              <a:t>public/art/cave-02.svg、public/art/dunhuang-uv.svg。</a:t>
            </a:r>
          </a:p>
          <a:p xmlns:a="http://schemas.openxmlformats.org/drawingml/2006/main">
            <a:r>
              <a:t>图：同一朝向的本地项目截图，素材和效果均来自现有实现。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er可以理解成一段让GPU对每个像素执行的计算规则。代码先把sRGB纹理解码，在线性颜色空间里用加权RGB算亮度，再用最大分量减最小分量估计色差。白色既亮又没有明显色偏，所以用高亮度、低色差作为荧光候选。smoothstep让阈值平滑过渡。背景按明暗映射到紫蓝色，候选标记映射到亮青色。再取上下左右四个邻点的白色强度做平均，叠加一圈小范围辉光。流程是RenderPass渲染场景、ShaderPass改颜色、OutputPass处理最终输出。它是一种自定义后处理滤镜，不能判断文物的年代、材质或真实隐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src/composables/SceneManager.ts：ultravioletShader、initialize()。GLSL中的l()算亮度，w()算白色强度，u()负责颜色映射。</a:t>
            </a:r>
          </a:p>
          <a:p xmlns:a="http://schemas.openxmlformats.org/drawingml/2006/main">
            <a:r>
              <a:t>https://threejs.org/docs/pages/ShaderPass.html</a:t>
            </a:r>
          </a:p>
          <a:p xmlns:a="http://schemas.openxmlformats.org/drawingml/2006/main">
            <a:r>
              <a:t>https://threejs.org/docs/pages/EffectComposer.html</a:t>
            </a:r>
          </a:p>
          <a:p xmlns:a="http://schemas.openxmlformats.org/drawingml/2006/main">
            <a:r>
              <a:t>补充：亮度权重为0.2126、0.7152、0.0722。邻域步长为1.5/resolution。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除了画面效果，我们也处理真实使用中的问题。异步加载用编号区分新旧请求，避免旧请求覆盖新画面；纹理成功后才替换，并释放旧资源。普通模式直接渲染，紫外模式才运行后处理。存档在关键动作和页面离开时保存，另外每15秒备份。强制结束浏览器时，最后一小段计时仍可能丢失。项目有Vitest和Playwright测试，不能把存在测试等同于完全没有错误。虽然仓库有切片工具，当前渲染器还没有实现分级瓦片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src/composables/SceneManager.ts：pixelRatio()、render()、loadTexture()、dispose()。</a:t>
            </a:r>
          </a:p>
          <a:p xmlns:a="http://schemas.openxmlformats.org/drawingml/2006/main">
            <a:r>
              <a:t>src/App.vue</a:t>
            </a:r>
          </a:p>
          <a:p xmlns:a="http://schemas.openxmlformats.org/drawingml/2006/main">
            <a:r>
              <a:t>src/stores/game.ts</a:t>
            </a:r>
          </a:p>
          <a:p xmlns:a="http://schemas.openxmlformats.org/drawingml/2006/main">
            <a:r>
              <a:t>tools/slice-panoramas.py</a:t>
            </a:r>
          </a:p>
          <a:p xmlns:a="http://schemas.openxmlformats.org/drawingml/2006/main">
            <a:r>
              <a:t>vitest.config.ts、playwright.config.ts。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演示三个动作。第一，在同一位置拖动和缩放，观察视野怎样变化。第二，打开紫外线模式，旋转到白色示意标记所在方向，比较两套素材的区别。第三，点击编号线索并打开题目。我们的理解可以压成两句话：全景是在球心看贴图，点击用射线求交和距离判断；紫外线模式先换专用素材，再按规则改变每个像素的颜色。网络不方便时，前面的截图也足以完成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网页地址来自docs/展示PPT.pptx，第20页：https://james-chenyuhang987.github.io/dunhuang-mystery/</a:t>
            </a:r>
          </a:p>
          <a:p xmlns:a="http://schemas.openxmlformats.org/drawingml/2006/main">
            <a:r>
              <a:t>图：本次本地运行截图。</a:t>
            </a:r>
          </a:p>
          <a:p xmlns:a="http://schemas.openxmlformats.org/drawingml/2006/main">
            <a:r>
              <a:t>演示建议约60秒，总讲解建议约6至8分钟。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5f3001de6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48670972a74b37" /><Relationship Type="http://schemas.openxmlformats.org/officeDocument/2006/relationships/slideLayout" Target="/ppt/slideLayouts/slideLayout1.xml" Id="Rd3be17af6ec0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be17af6ec0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7fda87c844127" /><Relationship Type="http://schemas.openxmlformats.org/officeDocument/2006/relationships/image" Target="/ppt/media/image.png" Id="R71ce196171924f16" /><Relationship Type="http://schemas.openxmlformats.org/officeDocument/2006/relationships/notesSlide" Target="/ppt/notesSlides/notesSlide1.xml" Id="Raa9f64330dac4b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e9250ddb4c23" /><Relationship Type="http://schemas.openxmlformats.org/officeDocument/2006/relationships/image" Target="/ppt/media/image2.png" Id="R3781ca0a237a41ba" /><Relationship Type="http://schemas.openxmlformats.org/officeDocument/2006/relationships/notesSlide" Target="/ppt/notesSlides/notesSlide2.xml" Id="R79c95a0bdece44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ee5d3bf34bbb" /><Relationship Type="http://schemas.openxmlformats.org/officeDocument/2006/relationships/notesSlide" Target="/ppt/notesSlides/notesSlide3.xml" Id="Ra14908323d514f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5d54a92d047fa" /><Relationship Type="http://schemas.openxmlformats.org/officeDocument/2006/relationships/notesSlide" Target="/ppt/notesSlides/notesSlide4.xml" Id="R44ac93518bc446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1a07ac640423b" /><Relationship Type="http://schemas.openxmlformats.org/officeDocument/2006/relationships/image" Target="/ppt/media/image.jpeg" Id="Rb0136f6ebcfe4c7a" /><Relationship Type="http://schemas.openxmlformats.org/officeDocument/2006/relationships/image" Target="/ppt/media/image3.png" Id="R46328f2a96494113" /><Relationship Type="http://schemas.openxmlformats.org/officeDocument/2006/relationships/notesSlide" Target="/ppt/notesSlides/notesSlide5.xml" Id="Rde7721874f7342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6a07bd0104186" /><Relationship Type="http://schemas.openxmlformats.org/officeDocument/2006/relationships/image" Target="/ppt/media/image4.png" Id="R1b88ff2758764b59" /><Relationship Type="http://schemas.openxmlformats.org/officeDocument/2006/relationships/image" Target="/ppt/media/image5.png" Id="Ra8ef2fbc637d402c" /><Relationship Type="http://schemas.openxmlformats.org/officeDocument/2006/relationships/notesSlide" Target="/ppt/notesSlides/notesSlide6.xml" Id="Rf2e5cfdd82f14a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4a1e01e3848f3" /><Relationship Type="http://schemas.openxmlformats.org/officeDocument/2006/relationships/image" Target="/ppt/media/image6.png" Id="R7748330660fa419a" /><Relationship Type="http://schemas.openxmlformats.org/officeDocument/2006/relationships/notesSlide" Target="/ppt/notesSlides/notesSlide7.xml" Id="R41072e4bb21b40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754755c58488f" /><Relationship Type="http://schemas.openxmlformats.org/officeDocument/2006/relationships/notesSlide" Target="/ppt/notesSlides/notesSlide8.xml" Id="R80c7e1fafc42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da95e734e4f7f" /><Relationship Type="http://schemas.openxmlformats.org/officeDocument/2006/relationships/image" Target="/ppt/media/image7.png" Id="R7440da60406241ec" /><Relationship Type="http://schemas.openxmlformats.org/officeDocument/2006/relationships/image" Target="/ppt/media/image8.png" Id="Rc2d7cb968ad540f4" /><Relationship Type="http://schemas.openxmlformats.org/officeDocument/2006/relationships/notesSlide" Target="/ppt/notesSlides/notesSlide9.xml" Id="Rc5986db1d4ee41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dc884f3b24c0d" /><Relationship Type="http://schemas.openxmlformats.org/officeDocument/2006/relationships/image" Target="/ppt/media/image9.png" Id="R55bd837e37eb49f2" /><Relationship Type="http://schemas.openxmlformats.org/officeDocument/2006/relationships/notesSlide" Target="/ppt/notesSlides/notesSlide10.xml" Id="R99e0b398142549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bc96f2cf04a4c" /><Relationship Type="http://schemas.openxmlformats.org/officeDocument/2006/relationships/notesSlide" Target="/ppt/notesSlides/notesSlide11.xml" Id="Rf49c5cebcb844c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0c9bb07d947ba" /><Relationship Type="http://schemas.openxmlformats.org/officeDocument/2006/relationships/image" Target="/ppt/media/image10.png" Id="Rf0e1d294e60d452d" /><Relationship Type="http://schemas.openxmlformats.org/officeDocument/2006/relationships/hyperlink" Target="https://james-chenyuhang987.github.io/dunhuang-mystery/" TargetMode="External" Id="R1773ac1a3b814db4" /><Relationship Type="http://schemas.openxmlformats.org/officeDocument/2006/relationships/notesSlide" Target="/ppt/notesSlides/notesSlide12.xml" Id="Rcbaee3e3af9f4b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BF5B21BF-23B8-4B5B-BE7D-6EFCC0B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敦煌·探迹">
            <a:extLst xmlns:a="http://schemas.openxmlformats.org/drawingml/2006/main">
              <a:ext uri="{FF2B5EF4-FFF2-40B4-BE49-F238E27FC236}">
                <a16:creationId xmlns:a16="http://schemas.microsoft.com/office/drawing/2014/main" id="{083D9A8B-F2FA-4A94-8894-106E8462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敦煌·探迹</a:t>
            </a:r>
          </a:p>
        </p:txBody>
      </p:sp>
      <p:sp>
        <p:nvSpPr>
          <p:cNvPr id="3" name="项目与核心原理">
            <a:extLst xmlns:a="http://schemas.openxmlformats.org/drawingml/2006/main">
              <a:ext uri="{FF2B5EF4-FFF2-40B4-BE49-F238E27FC236}">
                <a16:creationId xmlns:a16="http://schemas.microsoft.com/office/drawing/2014/main" id="{CFCDE10F-B4E8-4FCD-9433-C08EBD75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项目与核心原理</a:t>
            </a:r>
          </a:p>
        </p:txBody>
      </p:sp>
      <p:sp>
        <p:nvSpPr>
          <p:cNvPr id="4" name="360° 全景与点击发现&#10;紫外线观察">
            <a:extLst xmlns:a="http://schemas.openxmlformats.org/drawingml/2006/main">
              <a:ext uri="{FF2B5EF4-FFF2-40B4-BE49-F238E27FC236}">
                <a16:creationId xmlns:a16="http://schemas.microsoft.com/office/drawing/2014/main" id="{B3917559-19E2-480C-91C0-B1444FCD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360° 全景与点击发现</a:t>
            </a:r>
          </a:p>
          <a:p xmlns:a="http://schemas.openxmlformats.org/drawingml/2006/main">
            <a:pPr>
              <a:def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紫外线观察</a:t>
            </a:r>
          </a:p>
        </p:txBody>
      </p:sp>
      <p:sp>
        <p:nvSpPr>
          <p:cNvPr id="5" name="F4·筑境者">
            <a:extLst xmlns:a="http://schemas.openxmlformats.org/drawingml/2006/main">
              <a:ext uri="{FF2B5EF4-FFF2-40B4-BE49-F238E27FC236}">
                <a16:creationId xmlns:a16="http://schemas.microsoft.com/office/drawing/2014/main" id="{31479CD9-4625-43F1-8CBB-716489DA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F4·筑境者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e196171924f16"/>
          <a:stretch xmlns:a="http://schemas.openxmlformats.org/drawingml/2006/main"/>
        </p:blipFill>
        <p:spPr>
          <a:xfrm xmlns:a="http://schemas.openxmlformats.org/drawingml/2006/main">
            <a:off x="5238750" y="1560954"/>
            <a:ext cx="6343650" cy="3593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54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在全景中观察、找线索、做推理">
            <a:extLst xmlns:a="http://schemas.openxmlformats.org/drawingml/2006/main">
              <a:ext uri="{FF2B5EF4-FFF2-40B4-BE49-F238E27FC236}">
                <a16:creationId xmlns:a16="http://schemas.microsoft.com/office/drawing/2014/main" id="{29565DB2-2389-4AA2-A0BA-A4905671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在全景中观察、找线索、做推理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888FB8E2-5E24-4D75-A796-32E3DEDE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1ca0a237a41ba"/>
          <a:stretch xmlns:a="http://schemas.openxmlformats.org/drawingml/2006/main"/>
        </p:blipFill>
        <p:spPr>
          <a:xfrm xmlns:a="http://schemas.openxmlformats.org/drawingml/2006/main">
            <a:off x="985838" y="1571625"/>
            <a:ext cx="7010400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用户在做什么">
            <a:extLst xmlns:a="http://schemas.openxmlformats.org/drawingml/2006/main">
              <a:ext uri="{FF2B5EF4-FFF2-40B4-BE49-F238E27FC236}">
                <a16:creationId xmlns:a16="http://schemas.microsoft.com/office/drawing/2014/main" id="{683737C3-CA04-4F8C-BC1A-5CC49B5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用户在做什么</a:t>
            </a:r>
          </a:p>
        </p:txBody>
      </p:sp>
      <p:sp>
        <p:nvSpPr>
          <p:cNvPr id="5" name="环顾场景&#10;寻找线索&#10;结合证据答题">
            <a:extLst xmlns:a="http://schemas.openxmlformats.org/drawingml/2006/main">
              <a:ext uri="{FF2B5EF4-FFF2-40B4-BE49-F238E27FC236}">
                <a16:creationId xmlns:a16="http://schemas.microsoft.com/office/drawing/2014/main" id="{37343D3E-84E6-4382-82E8-C1A9F232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9825"/>
            <a:ext cx="285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环顾场景</a:t>
            </a:r>
          </a:p>
          <a:p xmlns:a="http://schemas.openxmlformats.org/drawingml/2006/main">
            <a:pPr>
              <a:def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寻找线索</a:t>
            </a:r>
          </a:p>
          <a:p xmlns:a="http://schemas.openxmlformats.org/drawingml/2006/main">
            <a:pPr>
              <a:def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结合证据答题</a:t>
            </a:r>
          </a:p>
        </p:txBody>
      </p:sp>
      <p:sp>
        <p:nvSpPr>
          <p:cNvPr id="6" name="敦煌与云冈&#10;桌面和手机均可使用">
            <a:extLst xmlns:a="http://schemas.openxmlformats.org/drawingml/2006/main">
              <a:ext uri="{FF2B5EF4-FFF2-40B4-BE49-F238E27FC236}">
                <a16:creationId xmlns:a16="http://schemas.microsoft.com/office/drawing/2014/main" id="{EF95BE19-BE24-45C0-80B4-07CD30B5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敦煌与云冈</a:t>
            </a:r>
          </a:p>
          <a:p xmlns:a="http://schemas.openxmlformats.org/drawingml/2006/main">
            <a:pPr>
              <a:def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桌面和手机均可使用</a:t>
            </a:r>
          </a:p>
        </p:txBody>
      </p:sp>
    </p:spTree>
    <p:extLst>
      <p:ext uri="{BB962C8B-B14F-4D97-AF65-F5344CB8AC3E}">
        <p14:creationId xmlns:p14="http://schemas.microsoft.com/office/powerpoint/2010/main" val="435919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学过程中的几次取舍">
            <a:extLst xmlns:a="http://schemas.openxmlformats.org/drawingml/2006/main">
              <a:ext uri="{FF2B5EF4-FFF2-40B4-BE49-F238E27FC236}">
                <a16:creationId xmlns:a16="http://schemas.microsoft.com/office/drawing/2014/main" id="{8229FDCF-8901-422D-8ED1-1BDAFD8F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研学过程中的几次取舍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F162A964-CA3A-4AAE-8277-F286F342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研学前">
            <a:extLst xmlns:a="http://schemas.openxmlformats.org/drawingml/2006/main">
              <a:ext uri="{FF2B5EF4-FFF2-40B4-BE49-F238E27FC236}">
                <a16:creationId xmlns:a16="http://schemas.microsoft.com/office/drawing/2014/main" id="{CA9D737B-07EB-4F14-9633-FEAD5282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研学前</a:t>
            </a:r>
          </a:p>
        </p:txBody>
      </p:sp>
      <p:sp>
        <p:nvSpPr>
          <p:cNvPr id="4" name="确定“全景浏览 + 侦探解谜”的产品形式">
            <a:extLst xmlns:a="http://schemas.openxmlformats.org/drawingml/2006/main">
              <a:ext uri="{FF2B5EF4-FFF2-40B4-BE49-F238E27FC236}">
                <a16:creationId xmlns:a16="http://schemas.microsoft.com/office/drawing/2014/main" id="{EC03AB5D-8869-4E6E-B21E-B310E52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573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确定“全景浏览 + 侦探解谜”的产品形式</a:t>
            </a:r>
          </a:p>
        </p:txBody>
      </p:sp>
      <p:sp>
        <p:nvSpPr>
          <p:cNvPr id="5" name="研学第一天">
            <a:extLst xmlns:a="http://schemas.openxmlformats.org/drawingml/2006/main">
              <a:ext uri="{FF2B5EF4-FFF2-40B4-BE49-F238E27FC236}">
                <a16:creationId xmlns:a16="http://schemas.microsoft.com/office/drawing/2014/main" id="{DA75716D-3C5C-4B56-9C49-EE9F9724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研学第一天</a:t>
            </a:r>
          </a:p>
        </p:txBody>
      </p:sp>
      <p:sp>
        <p:nvSpPr>
          <p:cNvPr id="6" name="把地点、关卡和题目集中到配置中">
            <a:extLst xmlns:a="http://schemas.openxmlformats.org/drawingml/2006/main">
              <a:ext uri="{FF2B5EF4-FFF2-40B4-BE49-F238E27FC236}">
                <a16:creationId xmlns:a16="http://schemas.microsoft.com/office/drawing/2014/main" id="{C0D5E4C0-E4FA-409C-A277-33E26673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把地点、关卡和题目集中到配置中</a:t>
            </a:r>
          </a:p>
        </p:txBody>
      </p:sp>
      <p:sp>
        <p:nvSpPr>
          <p:cNvPr id="7" name="参观过程中">
            <a:extLst xmlns:a="http://schemas.openxmlformats.org/drawingml/2006/main">
              <a:ext uri="{FF2B5EF4-FFF2-40B4-BE49-F238E27FC236}">
                <a16:creationId xmlns:a16="http://schemas.microsoft.com/office/drawing/2014/main" id="{C7EC6BC1-156C-4502-8572-8E54835E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参观过程中</a:t>
            </a:r>
          </a:p>
        </p:txBody>
      </p:sp>
      <p:sp>
        <p:nvSpPr>
          <p:cNvPr id="8" name="加入时间轴与紫外线观察">
            <a:extLst xmlns:a="http://schemas.openxmlformats.org/drawingml/2006/main">
              <a:ext uri="{FF2B5EF4-FFF2-40B4-BE49-F238E27FC236}">
                <a16:creationId xmlns:a16="http://schemas.microsoft.com/office/drawing/2014/main" id="{3C26D5B6-8E81-4F12-B5ED-59642467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加入时间轴与紫外线观察</a:t>
            </a:r>
          </a:p>
        </p:txBody>
      </p:sp>
      <p:sp>
        <p:nvSpPr>
          <p:cNvPr id="9" name="扩展到云冈">
            <a:extLst xmlns:a="http://schemas.openxmlformats.org/drawingml/2006/main">
              <a:ext uri="{FF2B5EF4-FFF2-40B4-BE49-F238E27FC236}">
                <a16:creationId xmlns:a16="http://schemas.microsoft.com/office/drawing/2014/main" id="{68DC41FF-6191-4A68-865C-EC28562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扩展到云冈</a:t>
            </a:r>
          </a:p>
        </p:txBody>
      </p:sp>
      <p:sp>
        <p:nvSpPr>
          <p:cNvPr id="10" name="用另一组地点内容检验通用结构">
            <a:extLst xmlns:a="http://schemas.openxmlformats.org/drawingml/2006/main">
              <a:ext uri="{FF2B5EF4-FFF2-40B4-BE49-F238E27FC236}">
                <a16:creationId xmlns:a16="http://schemas.microsoft.com/office/drawing/2014/main" id="{D5B4CEC2-DB93-4D58-B473-A072CCDF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用另一组地点内容检验通用结构</a:t>
            </a:r>
          </a:p>
        </p:txBody>
      </p:sp>
      <p:sp>
        <p:nvSpPr>
          <p:cNvPr id="11" name="内容编辑阶段">
            <a:extLst xmlns:a="http://schemas.openxmlformats.org/drawingml/2006/main">
              <a:ext uri="{FF2B5EF4-FFF2-40B4-BE49-F238E27FC236}">
                <a16:creationId xmlns:a16="http://schemas.microsoft.com/office/drawing/2014/main" id="{D1CF477D-F517-413A-965D-94095DFC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内容编辑阶段</a:t>
            </a:r>
          </a:p>
        </p:txBody>
      </p:sp>
      <p:sp>
        <p:nvSpPr>
          <p:cNvPr id="12" name="增加图形化关卡配置生成器">
            <a:extLst xmlns:a="http://schemas.openxmlformats.org/drawingml/2006/main">
              <a:ext uri="{FF2B5EF4-FFF2-40B4-BE49-F238E27FC236}">
                <a16:creationId xmlns:a16="http://schemas.microsoft.com/office/drawing/2014/main" id="{D5124477-63C9-4A6A-A23E-268BA29C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01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增加图形化关卡配置生成器</a:t>
            </a:r>
          </a:p>
        </p:txBody>
      </p:sp>
    </p:spTree>
    <p:extLst>
      <p:ext uri="{BB962C8B-B14F-4D97-AF65-F5344CB8AC3E}">
        <p14:creationId xmlns:p14="http://schemas.microsoft.com/office/powerpoint/2010/main" val="794242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页面、进度和全景各有分工">
            <a:extLst xmlns:a="http://schemas.openxmlformats.org/drawingml/2006/main">
              <a:ext uri="{FF2B5EF4-FFF2-40B4-BE49-F238E27FC236}">
                <a16:creationId xmlns:a16="http://schemas.microsoft.com/office/drawing/2014/main" id="{0D6F6420-3D97-4E8D-8187-3C6E4FA1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页面、进度和全景各有分工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818AC5A3-44FB-495E-8E0B-D29858EF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3429000"/>
                <a:gridCol w="5257800"/>
              </a:tblGrid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职责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项目中的工作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页面与跳转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Vue + Vue Router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首页、选关、探索与结算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进度与存档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Pinia + localStorage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答题记录、线索解锁、刷新恢复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全景与特效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Three.js + WebGL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球面贴图、射线、紫外线着色器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内容配置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TypeScript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约束地点、关卡和题目格式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Vite 构建，GitHub Pages 发布，Vite">
            <a:extLst xmlns:a="http://schemas.openxmlformats.org/drawingml/2006/main">
              <a:ext uri="{FF2B5EF4-FFF2-40B4-BE49-F238E27FC236}">
                <a16:creationId xmlns:a16="http://schemas.microsoft.com/office/drawing/2014/main" id="{F9A43161-6E53-4D95-A8E2-490B4FF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Vite 构建，GitHub Pages 发布，Vitest 与 Playwright 验证</a:t>
            </a:r>
          </a:p>
        </p:txBody>
      </p:sp>
    </p:spTree>
    <p:extLst>
      <p:ext uri="{BB962C8B-B14F-4D97-AF65-F5344CB8AC3E}">
        <p14:creationId xmlns:p14="http://schemas.microsoft.com/office/powerpoint/2010/main" val="17531762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60° 全景：在球心看一张环绕图片">
            <a:extLst xmlns:a="http://schemas.openxmlformats.org/drawingml/2006/main">
              <a:ext uri="{FF2B5EF4-FFF2-40B4-BE49-F238E27FC236}">
                <a16:creationId xmlns:a16="http://schemas.microsoft.com/office/drawing/2014/main" id="{7562EDAC-B520-463C-8AB4-B0BF06D5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360° 全景：在球心看一张环绕图片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D0A2D256-3F99-4C3C-BE72-6B688D7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全景图横向覆盖 360°&#10;纵向覆盖 180°">
            <a:extLst xmlns:a="http://schemas.openxmlformats.org/drawingml/2006/main">
              <a:ext uri="{FF2B5EF4-FFF2-40B4-BE49-F238E27FC236}">
                <a16:creationId xmlns:a16="http://schemas.microsoft.com/office/drawing/2014/main" id="{05CABD9F-6735-4C94-BE6C-BCE3B073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1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全景图横向覆盖 360°</a:t>
            </a:r>
          </a:p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纵向覆盖 180°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36f6ebcfe4c7a"/>
          <a:stretch xmlns:a="http://schemas.openxmlformats.org/drawingml/2006/main"/>
        </p:blipFill>
        <p:spPr>
          <a:xfrm xmlns:a="http://schemas.openxmlformats.org/drawingml/2006/main">
            <a:off x="609600" y="2800350"/>
            <a:ext cx="4457700" cy="2228850"/>
          </a:xfrm>
          <a:prstGeom xmlns:a="http://schemas.openxmlformats.org/drawingml/2006/main" prst="rect">
            <a:avLst/>
          </a:prstGeom>
        </p:spPr>
      </p:pic>
      <p:sp>
        <p:nvSpPr>
          <p:cNvPr id="5" name="把 2:1 等距柱状图贴到球内壁&#10;虚拟相机固定在球心">
            <a:extLst xmlns:a="http://schemas.openxmlformats.org/drawingml/2006/main">
              <a:ext uri="{FF2B5EF4-FFF2-40B4-BE49-F238E27FC236}">
                <a16:creationId xmlns:a16="http://schemas.microsoft.com/office/drawing/2014/main" id="{93AA5D6A-C1C9-4419-99F3-6BE52DB5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把 2:1 等距柱状图贴到球内壁</a:t>
            </a:r>
          </a:p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虚拟相机固定在球心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28f2a96494113"/>
          <a:stretch xmlns:a="http://schemas.openxmlformats.org/drawingml/2006/main"/>
        </p:blipFill>
        <p:spPr>
          <a:xfrm xmlns:a="http://schemas.openxmlformats.org/drawingml/2006/main">
            <a:off x="5353050" y="1431925"/>
            <a:ext cx="6362700" cy="4241800"/>
          </a:xfrm>
          <a:prstGeom xmlns:a="http://schemas.openxmlformats.org/drawingml/2006/main" prst="rect">
            <a:avLst/>
          </a:prstGeom>
        </p:spPr>
      </p:pic>
      <p:sp>
        <p:nvSpPr>
          <p:cNvPr id="7" name="概念示意">
            <a:extLst xmlns:a="http://schemas.openxmlformats.org/drawingml/2006/main">
              <a:ext uri="{FF2B5EF4-FFF2-40B4-BE49-F238E27FC236}">
                <a16:creationId xmlns:a16="http://schemas.microsoft.com/office/drawing/2014/main" id="{B96611C6-214C-4FF3-93EE-BD16845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7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1358390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拖动改变朝向，缩放改变视野">
            <a:extLst xmlns:a="http://schemas.openxmlformats.org/drawingml/2006/main">
              <a:ext uri="{FF2B5EF4-FFF2-40B4-BE49-F238E27FC236}">
                <a16:creationId xmlns:a16="http://schemas.microsoft.com/office/drawing/2014/main" id="{2E158BE8-88E3-4B3A-83F8-FBB0E82D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拖动改变朝向，缩放改变视野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636618A0-2395-4F61-A003-80AE08E1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FOV 70°：看得更宽">
            <a:extLst xmlns:a="http://schemas.openxmlformats.org/drawingml/2006/main">
              <a:ext uri="{FF2B5EF4-FFF2-40B4-BE49-F238E27FC236}">
                <a16:creationId xmlns:a16="http://schemas.microsoft.com/office/drawing/2014/main" id="{E64DB2D5-4706-4A50-8317-3A60BD7F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FOV 70°：看得更宽</a:t>
            </a:r>
          </a:p>
        </p:txBody>
      </p:sp>
      <p:sp>
        <p:nvSpPr>
          <p:cNvPr id="4" name="FOV 40°：同一方向看得更近">
            <a:extLst xmlns:a="http://schemas.openxmlformats.org/drawingml/2006/main">
              <a:ext uri="{FF2B5EF4-FFF2-40B4-BE49-F238E27FC236}">
                <a16:creationId xmlns:a16="http://schemas.microsoft.com/office/drawing/2014/main" id="{BDCE707E-8889-4416-89AC-A54DCF88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525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FOV 40°：同一方向看得更近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8ff2758764b59"/>
          <a:stretch xmlns:a="http://schemas.openxmlformats.org/drawingml/2006/main"/>
        </p:blipFill>
        <p:spPr>
          <a:xfrm xmlns:a="http://schemas.openxmlformats.org/drawingml/2006/main">
            <a:off x="609600" y="2195513"/>
            <a:ext cx="5257800" cy="3286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f2fbc637d402c"/>
          <a:stretch xmlns:a="http://schemas.openxmlformats.org/drawingml/2006/main"/>
        </p:blipFill>
        <p:spPr>
          <a:xfrm xmlns:a="http://schemas.openxmlformats.org/drawingml/2006/main">
            <a:off x="6324600" y="2195513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相机位置保持不变，图片也没有增加新细节">
            <a:extLst xmlns:a="http://schemas.openxmlformats.org/drawingml/2006/main">
              <a:ext uri="{FF2B5EF4-FFF2-40B4-BE49-F238E27FC236}">
                <a16:creationId xmlns:a16="http://schemas.microsoft.com/office/drawing/2014/main" id="{34C788B3-0208-4B60-B028-0246D33C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相机位置保持不变，图片也没有增加新细节</a:t>
            </a:r>
          </a:p>
        </p:txBody>
      </p:sp>
    </p:spTree>
    <p:extLst>
      <p:ext uri="{BB962C8B-B14F-4D97-AF65-F5344CB8AC3E}">
        <p14:creationId xmlns:p14="http://schemas.microsoft.com/office/powerpoint/2010/main" val="1806031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点击发现：求交点，再比较距离">
            <a:extLst xmlns:a="http://schemas.openxmlformats.org/drawingml/2006/main">
              <a:ext uri="{FF2B5EF4-FFF2-40B4-BE49-F238E27FC236}">
                <a16:creationId xmlns:a16="http://schemas.microsoft.com/office/drawing/2014/main" id="{E70691FD-5FF5-4D38-BC17-C6A52CCB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点击发现：求交点，再比较距离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CF1EB710-90EA-449C-A581-54587122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8330660fa419a"/>
          <a:stretch xmlns:a="http://schemas.openxmlformats.org/drawingml/2006/main"/>
        </p:blipFill>
        <p:spPr>
          <a:xfrm xmlns:a="http://schemas.openxmlformats.org/drawingml/2006/main">
            <a:off x="285750" y="1447800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点击怎样变成一个三维点">
            <a:extLst xmlns:a="http://schemas.openxmlformats.org/drawingml/2006/main">
              <a:ext uri="{FF2B5EF4-FFF2-40B4-BE49-F238E27FC236}">
                <a16:creationId xmlns:a16="http://schemas.microsoft.com/office/drawing/2014/main" id="{06DF08C1-B949-437B-B09F-41CBE11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点击怎样变成一个三维点</a:t>
            </a:r>
          </a:p>
        </p:txBody>
      </p:sp>
      <p:sp>
        <p:nvSpPr>
          <p:cNvPr id="5" name="1  将屏幕点击换成射线&#10;2  求出射线与球面的交点&#10;3">
            <a:extLst xmlns:a="http://schemas.openxmlformats.org/drawingml/2006/main">
              <a:ext uri="{FF2B5EF4-FFF2-40B4-BE49-F238E27FC236}">
                <a16:creationId xmlns:a16="http://schemas.microsoft.com/office/drawing/2014/main" id="{622A3D42-40D8-4389-8BB2-4856F4A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457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1  将屏幕点击换成射线</a:t>
            </a:r>
          </a:p>
          <a:p xmlns:a="http://schemas.openxmlformats.org/drawingml/2006/main">
            <a:pPr>
              <a:def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2  求出射线与球面的交点</a:t>
            </a:r>
          </a:p>
          <a:p xmlns:a="http://schemas.openxmlformats.org/drawingml/2006/main">
            <a:pPr>
              <a:def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  找范围内最近的配置点</a:t>
            </a:r>
          </a:p>
        </p:txBody>
      </p:sp>
      <p:sp>
        <p:nvSpPr>
          <p:cNvPr id="6" name="距离 ≤ 点击半径&#10;且普通／紫外模式一致">
            <a:extLst xmlns:a="http://schemas.openxmlformats.org/drawingml/2006/main">
              <a:ext uri="{FF2B5EF4-FFF2-40B4-BE49-F238E27FC236}">
                <a16:creationId xmlns:a16="http://schemas.microsoft.com/office/drawing/2014/main" id="{2425E3C9-1B1F-48D6-B156-CC371692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67225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rPr>
              <a:t>距离 ≤ 点击半径</a:t>
            </a:r>
          </a:p>
          <a:p xmlns:a="http://schemas.openxmlformats.org/drawingml/2006/main">
            <a:pPr>
              <a:def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rPr>
              <a:t>且普通／紫外模式一致</a:t>
            </a:r>
          </a:p>
        </p:txBody>
      </p:sp>
      <p:sp>
        <p:nvSpPr>
          <p:cNvPr id="7" name="编号按钮用 CSS2D 定位，隐藏发现使用射线判定">
            <a:extLst xmlns:a="http://schemas.openxmlformats.org/drawingml/2006/main">
              <a:ext uri="{FF2B5EF4-FFF2-40B4-BE49-F238E27FC236}">
                <a16:creationId xmlns:a16="http://schemas.microsoft.com/office/drawing/2014/main" id="{03879938-F8B0-4F79-8F21-33C90E59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编号按钮用 CSS2D 定位，隐藏发现使用射线判定</a:t>
            </a:r>
          </a:p>
        </p:txBody>
      </p:sp>
    </p:spTree>
    <p:extLst>
      <p:ext uri="{BB962C8B-B14F-4D97-AF65-F5344CB8AC3E}">
        <p14:creationId xmlns:p14="http://schemas.microsoft.com/office/powerpoint/2010/main" val="8605931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为什么选择球面全景">
            <a:extLst xmlns:a="http://schemas.openxmlformats.org/drawingml/2006/main">
              <a:ext uri="{FF2B5EF4-FFF2-40B4-BE49-F238E27FC236}">
                <a16:creationId xmlns:a16="http://schemas.microsoft.com/office/drawing/2014/main" id="{E742222C-CD3C-431B-B4F0-352583F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为什么选择球面全景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CB0EA6F6-918B-41B7-8CFC-14AC6058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400550"/>
                <a:gridCol w="4857750"/>
              </a:tblGrid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本项目的球面全景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3D 高斯（3DGS）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一个观察点的全景图片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多角度照片与相机位姿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场景表示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球体内壁的一张贴图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许多带颜色和透明度的空间椭球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观察方式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在原地环顾、改变视野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在采集覆盖范围内渲染新视角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当前项目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已经实现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未接入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团队记录：采集条件有限，先保证环顾和解谜体验">
            <a:extLst xmlns:a="http://schemas.openxmlformats.org/drawingml/2006/main">
              <a:ext uri="{FF2B5EF4-FFF2-40B4-BE49-F238E27FC236}">
                <a16:creationId xmlns:a16="http://schemas.microsoft.com/office/drawing/2014/main" id="{5F33EE3F-3F22-49BE-B41E-313A02AF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团队记录：采集条件有限，先保证环顾和解谜体验</a:t>
            </a:r>
          </a:p>
        </p:txBody>
      </p:sp>
    </p:spTree>
    <p:extLst>
      <p:ext uri="{BB962C8B-B14F-4D97-AF65-F5344CB8AC3E}">
        <p14:creationId xmlns:p14="http://schemas.microsoft.com/office/powerpoint/2010/main" val="17770289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紫外线观察：切换素材，再突出标记">
            <a:extLst xmlns:a="http://schemas.openxmlformats.org/drawingml/2006/main">
              <a:ext uri="{FF2B5EF4-FFF2-40B4-BE49-F238E27FC236}">
                <a16:creationId xmlns:a16="http://schemas.microsoft.com/office/drawing/2014/main" id="{CCF63BA0-89CA-480A-AB2D-9664CE85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紫外线观察：切换素材，再突出标记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B1BA3606-3E83-4D14-A5E7-A37FAD40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普通素材">
            <a:extLst xmlns:a="http://schemas.openxmlformats.org/drawingml/2006/main">
              <a:ext uri="{FF2B5EF4-FFF2-40B4-BE49-F238E27FC236}">
                <a16:creationId xmlns:a16="http://schemas.microsoft.com/office/drawing/2014/main" id="{28DF5D7E-18B0-4358-92F5-2CED183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普通素材</a:t>
            </a:r>
          </a:p>
        </p:txBody>
      </p:sp>
      <p:sp>
        <p:nvSpPr>
          <p:cNvPr id="4" name="紫外线素材 + 着色器">
            <a:extLst xmlns:a="http://schemas.openxmlformats.org/drawingml/2006/main">
              <a:ext uri="{FF2B5EF4-FFF2-40B4-BE49-F238E27FC236}">
                <a16:creationId xmlns:a16="http://schemas.microsoft.com/office/drawing/2014/main" id="{8D581151-96CA-4D0F-9182-79860C75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525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rPr>
              <a:t>紫外线素材 + 着色器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0da60406241ec"/>
          <a:stretch xmlns:a="http://schemas.openxmlformats.org/drawingml/2006/main"/>
        </p:blipFill>
        <p:spPr>
          <a:xfrm xmlns:a="http://schemas.openxmlformats.org/drawingml/2006/main">
            <a:off x="609600" y="2128838"/>
            <a:ext cx="5257800" cy="3286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7cb968ad540f4"/>
          <a:stretch xmlns:a="http://schemas.openxmlformats.org/drawingml/2006/main"/>
        </p:blipFill>
        <p:spPr>
          <a:xfrm xmlns:a="http://schemas.openxmlformats.org/drawingml/2006/main">
            <a:off x="6324600" y="2128838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线索先画进专用素材，程序负责让它更醒目">
            <a:extLst xmlns:a="http://schemas.openxmlformats.org/drawingml/2006/main">
              <a:ext uri="{FF2B5EF4-FFF2-40B4-BE49-F238E27FC236}">
                <a16:creationId xmlns:a16="http://schemas.microsoft.com/office/drawing/2014/main" id="{28425B66-BD60-4C74-9CC0-211FFDF8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线索先画进专用素材，程序负责让它更醒目</a:t>
            </a:r>
          </a:p>
        </p:txBody>
      </p:sp>
    </p:spTree>
    <p:extLst>
      <p:ext uri="{BB962C8B-B14F-4D97-AF65-F5344CB8AC3E}">
        <p14:creationId xmlns:p14="http://schemas.microsoft.com/office/powerpoint/2010/main" val="1976844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着色器给每个像素重新算颜色">
            <a:extLst xmlns:a="http://schemas.openxmlformats.org/drawingml/2006/main">
              <a:ext uri="{FF2B5EF4-FFF2-40B4-BE49-F238E27FC236}">
                <a16:creationId xmlns:a16="http://schemas.microsoft.com/office/drawing/2014/main" id="{8624B36E-B508-4ABD-873A-551AEC48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着色器给每个像素重新算颜色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4DE169DE-C73B-47FD-9E77-11E58F1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专用素材中已有白色标记">
            <a:extLst xmlns:a="http://schemas.openxmlformats.org/drawingml/2006/main">
              <a:ext uri="{FF2B5EF4-FFF2-40B4-BE49-F238E27FC236}">
                <a16:creationId xmlns:a16="http://schemas.microsoft.com/office/drawing/2014/main" id="{8F9404C8-5BA7-4E3C-8A32-C4965260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专用素材中已有白色标记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837e37eb49f2"/>
          <a:stretch xmlns:a="http://schemas.openxmlformats.org/drawingml/2006/main"/>
        </p:blipFill>
        <p:spPr>
          <a:xfrm xmlns:a="http://schemas.openxmlformats.org/drawingml/2006/main">
            <a:off x="609600" y="2190750"/>
            <a:ext cx="5200650" cy="2600325"/>
          </a:xfrm>
          <a:prstGeom xmlns:a="http://schemas.openxmlformats.org/drawingml/2006/main" prst="rect">
            <a:avLst/>
          </a:prstGeom>
        </p:spPr>
      </p:pic>
      <p:sp>
        <p:nvSpPr>
          <p:cNvPr id="5" name="1  读取像素明暗和色差&#10;&#10;2  用“亮且接近白色”找标">
            <a:extLst xmlns:a="http://schemas.openxmlformats.org/drawingml/2006/main">
              <a:ext uri="{FF2B5EF4-FFF2-40B4-BE49-F238E27FC236}">
                <a16:creationId xmlns:a16="http://schemas.microsoft.com/office/drawing/2014/main" id="{58808965-B26C-4637-94CD-DDCB551E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149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1  读取像素明暗和色差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2  用“亮且接近白色”找标记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  背景转紫蓝，标记转亮青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4  采样上下左右，叠加辉光</a:t>
            </a:r>
          </a:p>
        </p:txBody>
      </p:sp>
      <p:sp>
        <p:nvSpPr>
          <p:cNvPr id="6" name="亮度 = 0.2126R + 0.7152G + 0.0">
            <a:extLst xmlns:a="http://schemas.openxmlformats.org/drawingml/2006/main">
              <a:ext uri="{FF2B5EF4-FFF2-40B4-BE49-F238E27FC236}">
                <a16:creationId xmlns:a16="http://schemas.microsoft.com/office/drawing/2014/main" id="{7CF626E2-38B4-4DBC-ADA2-F723C0B1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7D4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77D4D5"/>
                </a:solidFill>
                <a:latin typeface="Helvetica Neue"/>
                <a:ea typeface="Helvetica Neue"/>
                <a:cs typeface="Helvetica Neue"/>
              </a:rPr>
              <a:t>亮度 = 0.2126R + 0.7152G + 0.0722B</a:t>
            </a:r>
          </a:p>
        </p:txBody>
      </p:sp>
      <p:sp>
        <p:nvSpPr>
          <p:cNvPr id="7" name="GPU 在当前画面上逐像素处理，形成可控的视觉滤镜">
            <a:extLst xmlns:a="http://schemas.openxmlformats.org/drawingml/2006/main">
              <a:ext uri="{FF2B5EF4-FFF2-40B4-BE49-F238E27FC236}">
                <a16:creationId xmlns:a16="http://schemas.microsoft.com/office/drawing/2014/main" id="{24B74134-2316-4F9B-BD0C-2028524C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GPU 在当前画面上逐像素处理，形成可控的视觉滤镜</a:t>
            </a:r>
          </a:p>
        </p:txBody>
      </p:sp>
    </p:spTree>
    <p:extLst>
      <p:ext uri="{BB962C8B-B14F-4D97-AF65-F5344CB8AC3E}">
        <p14:creationId xmlns:p14="http://schemas.microsoft.com/office/powerpoint/2010/main" val="8764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功能落地，还要处理加载和恢复">
            <a:extLst xmlns:a="http://schemas.openxmlformats.org/drawingml/2006/main">
              <a:ext uri="{FF2B5EF4-FFF2-40B4-BE49-F238E27FC236}">
                <a16:creationId xmlns:a16="http://schemas.microsoft.com/office/drawing/2014/main" id="{AB57C0F0-A6C6-4FB7-AFDB-C12BA4D3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功能落地，还要处理加载和恢复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A91BF42-1DDF-4D74-9067-56DB54DA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用户遇到的情况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目前的处理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快速切换全景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新素材加载成功后替换，丢弃过期结果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手机渲染压力较大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像素比上限1.5，普通模式直接渲染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刷新或离开页面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保存进度，另有每15秒自动备份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素材失败或存档损坏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显示错误和重试入口，恢复前校验数据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目前全景仍整图加载，分辨率决定放大后的细节上限">
            <a:extLst xmlns:a="http://schemas.openxmlformats.org/drawingml/2006/main">
              <a:ext uri="{FF2B5EF4-FFF2-40B4-BE49-F238E27FC236}">
                <a16:creationId xmlns:a16="http://schemas.microsoft.com/office/drawing/2014/main" id="{9C25865C-975B-4BFF-A2E6-4B8525B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目前全景仍整图加载，分辨率决定放大后的细节上限</a:t>
            </a:r>
          </a:p>
        </p:txBody>
      </p:sp>
    </p:spTree>
    <p:extLst>
      <p:ext uri="{BB962C8B-B14F-4D97-AF65-F5344CB8AC3E}">
        <p14:creationId xmlns:p14="http://schemas.microsoft.com/office/powerpoint/2010/main" val="4406568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现场演示">
            <a:extLst xmlns:a="http://schemas.openxmlformats.org/drawingml/2006/main">
              <a:ext uri="{FF2B5EF4-FFF2-40B4-BE49-F238E27FC236}">
                <a16:creationId xmlns:a16="http://schemas.microsoft.com/office/drawing/2014/main" id="{F763C2D6-B60C-40FA-B431-CC0F8B62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现场演示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38FA5CF2-92A5-4B4E-9071-FFAB374E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全景与点击">
            <a:extLst xmlns:a="http://schemas.openxmlformats.org/drawingml/2006/main">
              <a:ext uri="{FF2B5EF4-FFF2-40B4-BE49-F238E27FC236}">
                <a16:creationId xmlns:a16="http://schemas.microsoft.com/office/drawing/2014/main" id="{035B8442-3223-45B2-BAD0-C0804953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全景与点击</a:t>
            </a:r>
          </a:p>
        </p:txBody>
      </p:sp>
      <p:sp>
        <p:nvSpPr>
          <p:cNvPr id="4" name="球内贴图，原地环顾&#10;射线求交，距离判定">
            <a:extLst xmlns:a="http://schemas.openxmlformats.org/drawingml/2006/main">
              <a:ext uri="{FF2B5EF4-FFF2-40B4-BE49-F238E27FC236}">
                <a16:creationId xmlns:a16="http://schemas.microsoft.com/office/drawing/2014/main" id="{E7CB781B-ADF5-4D34-AE96-366B597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球内贴图，原地环顾</a:t>
            </a:r>
          </a:p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射线求交，距离判定</a:t>
            </a:r>
          </a:p>
        </p:txBody>
      </p:sp>
      <p:sp>
        <p:nvSpPr>
          <p:cNvPr id="5" name="紫外线观察">
            <a:extLst xmlns:a="http://schemas.openxmlformats.org/drawingml/2006/main">
              <a:ext uri="{FF2B5EF4-FFF2-40B4-BE49-F238E27FC236}">
                <a16:creationId xmlns:a16="http://schemas.microsoft.com/office/drawing/2014/main" id="{642821BE-3678-450D-87F6-30850151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rPr>
              <a:t>紫外线观察</a:t>
            </a:r>
          </a:p>
        </p:txBody>
      </p:sp>
      <p:sp>
        <p:nvSpPr>
          <p:cNvPr id="6" name="切换专用素材&#10;按像素计算颜色和辉光">
            <a:extLst xmlns:a="http://schemas.openxmlformats.org/drawingml/2006/main">
              <a:ext uri="{FF2B5EF4-FFF2-40B4-BE49-F238E27FC236}">
                <a16:creationId xmlns:a16="http://schemas.microsoft.com/office/drawing/2014/main" id="{24BB4B16-639F-4E3C-A942-132D1DD3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切换专用素材</a:t>
            </a:r>
          </a:p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按像素计算颜色和辉光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1d294e60d452d"/>
          <a:stretch xmlns:a="http://schemas.openxmlformats.org/drawingml/2006/main"/>
        </p:blipFill>
        <p:spPr>
          <a:xfrm xmlns:a="http://schemas.openxmlformats.org/drawingml/2006/main">
            <a:off x="6686550" y="1632347"/>
            <a:ext cx="4895850" cy="3059906"/>
          </a:xfrm>
          <a:prstGeom xmlns:a="http://schemas.openxmlformats.org/drawingml/2006/main" prst="rect">
            <a:avLst/>
          </a:prstGeom>
        </p:spPr>
      </p:pic>
      <p:sp>
        <p:nvSpPr>
          <p:cNvPr id="8" name="打开项目网页">
            <a:extLst xmlns:a="http://schemas.openxmlformats.org/drawingml/2006/main">
              <a:ext uri="{FF2B5EF4-FFF2-40B4-BE49-F238E27FC236}">
                <a16:creationId xmlns:a16="http://schemas.microsoft.com/office/drawing/2014/main" id="{9E712836-DC18-44CC-A9C4-BD2DD47E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006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u="sng">
                <a:solidFill>
                  <a:srgbClr val="77D4D5"/>
                </a:solidFill>
                <a:hlinkClick xmlns:r="http://schemas.openxmlformats.org/officeDocument/2006/relationships" r:id="R1773ac1a3b814db4"/>
              </a:rPr>
              <a:t>打开项目网页</a:t>
            </a:r>
          </a:p>
        </p:txBody>
      </p:sp>
      <p:sp>
        <p:nvSpPr>
          <p:cNvPr id="9" name="拖动和缩放，切换紫外线，查看线索">
            <a:extLst xmlns:a="http://schemas.openxmlformats.org/drawingml/2006/main">
              <a:ext uri="{FF2B5EF4-FFF2-40B4-BE49-F238E27FC236}">
                <a16:creationId xmlns:a16="http://schemas.microsoft.com/office/drawing/2014/main" id="{E0C3B7F1-1671-44FE-AC18-B83E8516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拖动和缩放，切换紫外线，查看线索</a:t>
            </a:r>
          </a:p>
        </p:txBody>
      </p:sp>
    </p:spTree>
    <p:extLst>
      <p:ext uri="{BB962C8B-B14F-4D97-AF65-F5344CB8AC3E}">
        <p14:creationId xmlns:p14="http://schemas.microsoft.com/office/powerpoint/2010/main" val="811448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2026-09-18T07:23:06.5540000Z</dcterms:created>
  <dcterms:modified xsi:type="dcterms:W3CDTF">2026-09-18T07:23:06.5540000Z</dcterms:modified>
</coreProperties>
</file>