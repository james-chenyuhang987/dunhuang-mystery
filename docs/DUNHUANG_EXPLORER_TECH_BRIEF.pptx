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ome-desktop.png"/>
          <p:cNvPicPr>
            <a:picLocks noChangeAspect="1"/>
          </p:cNvPicPr>
          <p:nvPr/>
        </p:nvPicPr>
        <p:blipFill>
          <a:blip r:embed="rId2"/>
          <a:srcRect l="22083" r="22083"/>
          <a:stretch>
            <a:fillRect/>
          </a:stretch>
        </p:blipFill>
        <p:spPr>
          <a:xfrm>
            <a:off x="6675120" y="0"/>
            <a:ext cx="55138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5040" y="0"/>
            <a:ext cx="914400" cy="6858000"/>
          </a:xfrm>
          <a:prstGeom prst="rect">
            <a:avLst/>
          </a:prstGeom>
          <a:solidFill>
            <a:srgbClr val="0A1523"/>
          </a:solidFill>
          <a:ln>
            <a:solidFill>
              <a:srgbClr val="0A1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DCAF64"/>
                </a:solidFill>
                <a:latin typeface="Aptos"/>
              </a:rPr>
              <a:t>DUNHUANG ·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</a:rPr>
              <a:t>一眼千年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04872"/>
            <a:ext cx="5029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F5D287"/>
                </a:solidFill>
                <a:latin typeface="PingFang SC"/>
              </a:rPr>
              <a:t>敦煌·探迹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27248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0" i="0">
                <a:solidFill>
                  <a:srgbClr val="E0E5E4"/>
                </a:solidFill>
                <a:latin typeface="PingFang SC"/>
              </a:rPr>
              <a:t>产品与代码技术介绍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069080"/>
            <a:ext cx="4846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A6B0B8"/>
                </a:solidFill>
                <a:latin typeface="PingFang SC"/>
              </a:rPr>
              <a:t>让千年壁画，再次开口。
从“能用”到“知道为什么能用”。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5074920"/>
            <a:ext cx="2130552" cy="0"/>
          </a:xfrm>
          <a:prstGeom prst="line">
            <a:avLst/>
          </a:prstGeom>
          <a:ln w="25400">
            <a:solidFill>
              <a:srgbClr val="DCAF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530352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AD3D7"/>
                </a:solidFill>
                <a:latin typeface="Aptos"/>
              </a:rPr>
              <a:t>Vue 3  ·  TypeScript  ·  Three.js  ·  Pinia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172200"/>
            <a:ext cx="5212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6B0B8"/>
                </a:solidFill>
                <a:latin typeface="Aptos"/>
              </a:rPr>
              <a:t>2026  |  PRODUCT + ENGINEERING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CONTENTS · 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/>
              </a:rPr>
              <a:t>今天讲三件事：产品是什么、技术怎么做、还能怎么发展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02  /  DUNHUANG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6070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1F262F"/>
                </a:solidFill>
                <a:latin typeface="PingFang SC"/>
              </a:rPr>
              <a:t>从用户体验出发，再回到代码和原理。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4698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58568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DCAF6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2199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F262F"/>
                </a:solidFill>
                <a:latin typeface="PingFang SC"/>
              </a:rPr>
              <a:t>产品体验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40280"/>
            <a:ext cx="69494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2585E"/>
                </a:solidFill>
                <a:latin typeface="PingFang SC"/>
              </a:rPr>
              <a:t>我们做了什么？用户如何从进入地点走到完成探索？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104698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55848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8770D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3192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F262F"/>
                </a:solidFill>
                <a:latin typeface="PingFang SC"/>
              </a:rPr>
              <a:t>技术原理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37560"/>
            <a:ext cx="69494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2585E"/>
                </a:solidFill>
                <a:latin typeface="PingFang SC"/>
              </a:rPr>
              <a:t>全景为什么能转？点击为什么能命中？UV 模式到底做了什么？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51960"/>
            <a:ext cx="104698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53128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D3D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1655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F262F"/>
                </a:solidFill>
                <a:latin typeface="PingFang SC"/>
              </a:rPr>
              <a:t>工程总结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434840"/>
            <a:ext cx="69494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2585E"/>
                </a:solidFill>
                <a:latin typeface="PingFang SC"/>
              </a:rPr>
              <a:t>如何让它稳定、可恢复、可扩展，并继续接入更多文化内容？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262F"/>
                </a:solidFill>
                <a:latin typeface="PingFang SC"/>
              </a:rPr>
              <a:t>重点技术部分：第 6–9 页，用“先讲人话，再讲实现”的方式解释。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078992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DCAF64"/>
                </a:solidFill>
                <a:latin typeface="Aptos"/>
              </a:rPr>
              <a:t>PART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669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PingFang SC"/>
              </a:rPr>
              <a:t>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34640"/>
            <a:ext cx="6766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D8E0E1"/>
                </a:solidFill>
                <a:latin typeface="PingFang SC"/>
              </a:rPr>
              <a:t>用户如何进入、观察、发现，并完成一段文化探索？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8096" y="3703320"/>
            <a:ext cx="2340864" cy="0"/>
          </a:xfrm>
          <a:prstGeom prst="line">
            <a:avLst/>
          </a:prstGeom>
          <a:ln w="25400">
            <a:solidFill>
              <a:srgbClr val="DCAF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68096" y="4160520"/>
            <a:ext cx="1051560" cy="27432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183380"/>
            <a:ext cx="10515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体验入口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4160520"/>
            <a:ext cx="1143000" cy="27432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4183380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探索闭环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4160520"/>
            <a:ext cx="114300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4183380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产品形态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436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A6B0B8"/>
                </a:solidFill>
                <a:latin typeface="Aptos"/>
              </a:rPr>
              <a:t>第 1 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03  /  DUNHUANG EXPLORER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1 · 产品体验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/>
              </a:rPr>
              <a:t>不是看图，而是进入一段可推理的故事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04  /  DUNHUANG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1F262F"/>
                </a:solidFill>
                <a:latin typeface="PingFang SC"/>
              </a:rPr>
              <a:t>用户在洞窟全景里观察、切换时相、拾取线索，再用问题把证据连接起来。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环顾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D3DADD"/>
                </a:solidFill>
                <a:latin typeface="PingFang SC"/>
              </a:rPr>
              <a:t>拖动 360° 观察洞窟，滚轮 / 双指改变视野。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寻迹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D3DADD"/>
                </a:solidFill>
                <a:latin typeface="PingFang SC"/>
              </a:rPr>
              <a:t>点击全景中的隐藏发现，编号热点直达探秘手札。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辨色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D3DADD"/>
                </a:solidFill>
                <a:latin typeface="PingFang SC"/>
              </a:rPr>
              <a:t>切换时间档案与紫外线观察，发现肉眼看不到的线索。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D3DADD"/>
                </a:solidFill>
                <a:latin typeface="PingFang SC"/>
              </a:rPr>
              <a:t>结合线索答题，答错也保留记录，完成一关后形成探索回响。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57200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DCAF64"/>
                </a:solidFill>
                <a:latin typeface="PingFang SC"/>
              </a:rPr>
              <a:t>产品形态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19472"/>
            <a:ext cx="1417320" cy="27432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42332"/>
            <a:ext cx="1417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敦煌莫高窟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0280" y="4919472"/>
            <a:ext cx="1234440" cy="27432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4942332"/>
            <a:ext cx="1234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云冈石窟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39312" y="4919472"/>
            <a:ext cx="160020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4942332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桌面 + 移动端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3248" y="4919472"/>
            <a:ext cx="160020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4942332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原创教学素材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71500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62F"/>
                </a:solidFill>
                <a:latin typeface="PingFang SC"/>
              </a:rPr>
              <a:t>核心价值：把文化内容变成“可进入、可观察、可验证”的互动体验。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1 · 产品体验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/>
              </a:rPr>
              <a:t>一条完整的探索路径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05  /  DUNHUANG EXPLORER</a:t>
            </a:r>
          </a:p>
        </p:txBody>
      </p:sp>
      <p:pic>
        <p:nvPicPr>
          <p:cNvPr id="5" name="Picture 4" descr="home-desktop.png"/>
          <p:cNvPicPr>
            <a:picLocks noChangeAspect="1"/>
          </p:cNvPicPr>
          <p:nvPr/>
        </p:nvPicPr>
        <p:blipFill>
          <a:blip r:embed="rId2"/>
          <a:srcRect l="119" r="119"/>
          <a:stretch>
            <a:fillRect/>
          </a:stretch>
        </p:blipFill>
        <p:spPr>
          <a:xfrm>
            <a:off x="640080" y="1371600"/>
            <a:ext cx="3520440" cy="2450592"/>
          </a:xfrm>
          <a:prstGeom prst="rect">
            <a:avLst/>
          </a:prstGeom>
          <a:ln w="16510">
            <a:solidFill>
              <a:srgbClr val="3D576A"/>
            </a:solidFill>
          </a:ln>
        </p:spPr>
      </p:pic>
      <p:pic>
        <p:nvPicPr>
          <p:cNvPr id="6" name="Picture 5" descr="selection-desktop.png"/>
          <p:cNvPicPr>
            <a:picLocks noChangeAspect="1"/>
          </p:cNvPicPr>
          <p:nvPr/>
        </p:nvPicPr>
        <p:blipFill>
          <a:blip r:embed="rId3"/>
          <a:srcRect t="3421" b="3421"/>
          <a:stretch>
            <a:fillRect/>
          </a:stretch>
        </p:blipFill>
        <p:spPr>
          <a:xfrm>
            <a:off x="4334256" y="1371600"/>
            <a:ext cx="3520440" cy="2450592"/>
          </a:xfrm>
          <a:prstGeom prst="rect">
            <a:avLst/>
          </a:prstGeom>
          <a:ln w="16510">
            <a:solidFill>
              <a:srgbClr val="3D576A"/>
            </a:solidFill>
          </a:ln>
        </p:spPr>
      </p:pic>
      <p:pic>
        <p:nvPicPr>
          <p:cNvPr id="7" name="Picture 6" descr="game-desktop.png"/>
          <p:cNvPicPr>
            <a:picLocks noChangeAspect="1"/>
          </p:cNvPicPr>
          <p:nvPr/>
        </p:nvPicPr>
        <p:blipFill>
          <a:blip r:embed="rId4"/>
          <a:srcRect l="119" r="119"/>
          <a:stretch>
            <a:fillRect/>
          </a:stretch>
        </p:blipFill>
        <p:spPr>
          <a:xfrm>
            <a:off x="8028431" y="1371600"/>
            <a:ext cx="3520440" cy="2450592"/>
          </a:xfrm>
          <a:prstGeom prst="rect">
            <a:avLst/>
          </a:prstGeom>
          <a:ln w="16510">
            <a:solidFill>
              <a:srgbClr val="3D576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94944" y="3977639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DCAF64"/>
                </a:solidFill>
                <a:latin typeface="PingFang SC"/>
              </a:rPr>
              <a:t>01 进入地点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431596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6B0B8"/>
                </a:solidFill>
                <a:latin typeface="PingFang SC"/>
              </a:rPr>
              <a:t>开场动画只播放一次，入口以地点为单位组织。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977639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DCAF64"/>
                </a:solidFill>
                <a:latin typeface="PingFang SC"/>
              </a:rPr>
              <a:t>02 选择关卡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31596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6B0B8"/>
                </a:solidFill>
                <a:latin typeface="PingFang SC"/>
              </a:rPr>
              <a:t>难度决定题量；关卡、时相和线索全部由数据驱动。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3977639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DCAF64"/>
                </a:solidFill>
                <a:latin typeface="PingFang SC"/>
              </a:rPr>
              <a:t>03 沉浸探索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431596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6B0B8"/>
                </a:solidFill>
                <a:latin typeface="PingFang SC"/>
              </a:rPr>
              <a:t>全景 + 时间轴 + 热点 + 题目，形成完整闭环。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587752"/>
            <a:ext cx="155448" cy="0"/>
          </a:xfrm>
          <a:prstGeom prst="line">
            <a:avLst/>
          </a:prstGeom>
          <a:ln w="2540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54696" y="2587752"/>
            <a:ext cx="155448" cy="0"/>
          </a:xfrm>
          <a:prstGeom prst="line">
            <a:avLst/>
          </a:prstGeom>
          <a:ln w="2540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486400"/>
            <a:ext cx="7315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ingFang SC"/>
              </a:rPr>
              <a:t>“先看见，再解释；先发现，再作答。”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577840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6AD3D7"/>
                </a:solidFill>
                <a:latin typeface="Aptos"/>
              </a:rPr>
              <a:t>视觉验证：Playwright snapshots / desktop + mobile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1 · 产品体验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/>
              </a:rPr>
              <a:t>一份配置，驱动一条可扩展的产品链路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06  /  DUNHUANG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0A1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VIEW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554480"/>
            <a:ext cx="8138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HomeView  ·  PlaceHome  ·  GameView  ·  EndingView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12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5059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6AD3D7"/>
                </a:solidFill>
                <a:latin typeface="Aptos"/>
              </a:rPr>
              <a:t>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423160"/>
            <a:ext cx="8412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PanoramaViewer  ·  CluePanel  ·  DifficultyControl  ·  MediaViewer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E5E0D3"/>
          </a:solidFill>
          <a:ln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1927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8770DC"/>
                </a:solidFill>
                <a:latin typeface="Aptos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291840"/>
            <a:ext cx="8412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F262F"/>
                </a:solidFill>
                <a:latin typeface="PingFang SC"/>
              </a:rPr>
              <a:t>Pinia game store  ·  答题记录  ·  线索解锁  ·  localStorage 存档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DBEBE7"/>
          </a:solidFill>
          <a:ln>
            <a:solidFill>
              <a:srgbClr val="AD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8795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47F7E"/>
                </a:solidFill>
                <a:latin typeface="Aptos"/>
              </a:rPr>
              <a:t>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160520"/>
            <a:ext cx="8412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F262F"/>
                </a:solidFill>
                <a:latin typeface="PingFang SC"/>
              </a:rPr>
              <a:t>Three.js / WebGL  ·  SphereGeometry  ·  Raycaster  ·  ShaderPass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TOOLING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5102352"/>
            <a:ext cx="685800" cy="27432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5125212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Vite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5102352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25212"/>
            <a:ext cx="822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Vitest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5102352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125212"/>
            <a:ext cx="1097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Playwright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5102352"/>
            <a:ext cx="123444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5125212"/>
            <a:ext cx="1234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GitHub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795527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62F"/>
                </a:solidFill>
                <a:latin typeface="PingFang SC"/>
              </a:rPr>
              <a:t>新增地点主要改 data/game.ts；新增交互不必重写页面骨架。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078992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DCAF64"/>
                </a:solidFill>
                <a:latin typeface="Aptos"/>
              </a:rPr>
              <a:t>PART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669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PingFang SC"/>
              </a:rPr>
              <a:t>技术原理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34640"/>
            <a:ext cx="8412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E0DCEF"/>
                </a:solidFill>
                <a:latin typeface="PingFang SC"/>
              </a:rPr>
              <a:t>不只知道怎么用，还要知道全景、点击和 UV 到底怎么工作。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8096" y="3703320"/>
            <a:ext cx="2340864" cy="0"/>
          </a:xfrm>
          <a:prstGeom prst="line">
            <a:avLst/>
          </a:prstGeom>
          <a:ln w="25400">
            <a:solidFill>
              <a:srgbClr val="877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68096" y="4160520"/>
            <a:ext cx="1143000" cy="27432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183380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先讲人话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4160520"/>
            <a:ext cx="1143000" cy="27432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1" y="4183380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再讲实现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160520"/>
            <a:ext cx="1143000" cy="27432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4183380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能做产品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43600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A6B0B8"/>
                </a:solidFill>
                <a:latin typeface="Aptos"/>
              </a:rPr>
              <a:t>第 2 部分 · 技术重点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07  /  DUNHUANG EXPLORER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2 · 技术原理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/>
              </a:rPr>
              <a:t>代码怎么分工：让“页面、状态、渲染、数据”各司其职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08  /  DUNHUANG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98448"/>
            <a:ext cx="5074920" cy="429768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408176"/>
            <a:ext cx="4782312" cy="40782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CADCE0"/>
                </a:solidFill>
                <a:latin typeface="Menlo"/>
              </a:rPr>
              <a:t>src/
├─ views/                 页面编排
├─ components/            交互组件
│  ├─ PanoramaViewer.vue   WebGL 全景 / 热点 / UV
│  ├─ CluePanel.vue        线索锁定与展开
│  └─ MediaViewer.vue      全屏、缩放、拖动
├─ stores/game.ts          Pinia + 存档 + 答题规则
├─ data/game.ts            地点 / 关卡 / 线索 / 题目
├─ utils/
│  ├─ clickPoints.ts       最近命中判断
│  └─ hotspots.ts          3D → CSS2D 投影
└─ types/game.ts           领域模型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864" cy="150876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361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数据驱动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38528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地点 → 关卡 → panorama → click_points / hotspots / clues / problems
同一套 UI 可以承载敦煌和云冈两套内容。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63240"/>
            <a:ext cx="5257800" cy="128016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063240"/>
            <a:ext cx="54864" cy="128016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22783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渲染隔离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630168"/>
            <a:ext cx="4892040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PanoramaViewer 只处理“如何看见”；GameView 处理“看见后怎么推进”。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553712"/>
            <a:ext cx="5257800" cy="128016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4553712"/>
            <a:ext cx="54864" cy="128016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71830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状态持久化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5120640"/>
            <a:ext cx="4892040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Pinia 记录进行中的事实，localStorage 让刷新、切换页面、后台恢复都可继续。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94360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5D287"/>
                </a:solidFill>
                <a:latin typeface="PingFang SC"/>
              </a:rPr>
              <a:t>核心原则：配置是内容，组件是能力，store 是进度。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2 · 技术原理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/>
              </a:rPr>
              <a:t>360° 全景：把一张 2:1 图片变成“可以走进去”的球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09  /  DUNHUANG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580644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262F"/>
                </a:solidFill>
                <a:latin typeface="PingFang SC"/>
              </a:rPr>
              <a:t>等距柱状全景 → 球内壁 → 摄像机在球心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5A4938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SC"/>
              </a:rPr>
              <a:t>2:1 pano
(u, v)</a:t>
            </a:r>
          </a:p>
        </p:txBody>
      </p:sp>
      <p:sp>
        <p:nvSpPr>
          <p:cNvPr id="9" name="Oval 8"/>
          <p:cNvSpPr/>
          <p:nvPr/>
        </p:nvSpPr>
        <p:spPr>
          <a:xfrm>
            <a:off x="3218688" y="1938528"/>
            <a:ext cx="2148840" cy="2148840"/>
          </a:xfrm>
          <a:prstGeom prst="ellipse">
            <a:avLst/>
          </a:prstGeom>
          <a:solidFill>
            <a:srgbClr val="143041"/>
          </a:solidFill>
          <a:ln w="25400"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429000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67912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06824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45736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01568" y="3017520"/>
            <a:ext cx="1746504" cy="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87952" y="2916936"/>
            <a:ext cx="201168" cy="201168"/>
          </a:xfrm>
          <a:prstGeom prst="ellipse">
            <a:avLst/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0208" y="3273552"/>
            <a:ext cx="685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DCAF64"/>
                </a:solidFill>
                <a:latin typeface="PingFang SC"/>
              </a:rPr>
              <a:t>camera</a:t>
            </a:r>
          </a:p>
        </p:txBody>
      </p:sp>
      <p:sp>
        <p:nvSpPr>
          <p:cNvPr id="17" name="Oval 16"/>
          <p:cNvSpPr/>
          <p:nvPr/>
        </p:nvSpPr>
        <p:spPr>
          <a:xfrm>
            <a:off x="5193792" y="2441448"/>
            <a:ext cx="146304" cy="146304"/>
          </a:xfrm>
          <a:prstGeom prst="ellipse">
            <a:avLst/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4288536" y="2514600"/>
            <a:ext cx="978408" cy="502920"/>
          </a:xfrm>
          <a:prstGeom prst="line">
            <a:avLst/>
          </a:prstGeom>
          <a:ln w="17780">
            <a:solidFill>
              <a:srgbClr val="EB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4608" y="246888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EB7E74"/>
                </a:solidFill>
                <a:latin typeface="Aptos"/>
              </a:rPr>
              <a:t>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4343400"/>
            <a:ext cx="1920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Menlo"/>
              </a:rPr>
              <a:t>SphereGeometry(10)
scale(-1, 1, 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1417320"/>
            <a:ext cx="4617720" cy="11155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12280" y="1417320"/>
            <a:ext cx="54864" cy="1115568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1581912"/>
            <a:ext cx="42519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1 / 贴图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984248"/>
            <a:ext cx="4251959" cy="4023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把 2:1 等距柱状纹理贴到球面；反转 X 轴，把可见面放到球体内部。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2697480"/>
            <a:ext cx="4617720" cy="11155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12280" y="2697480"/>
            <a:ext cx="54864" cy="1115568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2862072"/>
            <a:ext cx="42519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2 / 看见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264408"/>
            <a:ext cx="4251959" cy="4023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相机留在球心，拖动改变经纬角；FOV 改变“望远 / 广角”。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3977639"/>
            <a:ext cx="4617720" cy="11155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12280" y="3977639"/>
            <a:ext cx="54864" cy="1115568"/>
          </a:xfrm>
          <a:prstGeom prst="roundRect">
            <a:avLst>
              <a:gd name="adj" fmla="val 12000"/>
            </a:avLst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4142231"/>
            <a:ext cx="42519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3 / 命中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4544568"/>
            <a:ext cx="4251959" cy="4023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屏幕点击 → Raycaster 射线 → 球面交点 → 最近点击点。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559552"/>
            <a:ext cx="4389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262F"/>
                </a:solidFill>
                <a:latin typeface="PingFang SC"/>
              </a:rPr>
              <a:t>同一坐标数据，不依赖屏幕尺寸。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2 · 技术原理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/>
              </a:rPr>
              <a:t>点击发现的核心：不是“猜屏幕坐标”，而是比较两个 3D 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10  /  DUNHUANG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527048"/>
            <a:ext cx="4919472" cy="11978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0" i="0">
                <a:solidFill>
                  <a:srgbClr val="CADCE0"/>
                </a:solidFill>
                <a:latin typeface="Menlo"/>
              </a:rPr>
              <a:t>const hit = position.distanceTo(point.vec)
if (hit &lt;= point.accept_click_range)
  return nearestIndex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DCAF64"/>
                </a:solidFill>
                <a:latin typeface="Aptos"/>
              </a:rPr>
              <a:t>数据示例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474720"/>
            <a:ext cx="5212080" cy="178308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584448"/>
            <a:ext cx="4919472" cy="1563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CADCE0"/>
                </a:solidFill>
                <a:latin typeface="Menlo"/>
              </a:rPr>
              <a:t>{
  vec: new Vector3(10, 0, 0),
  accept_click_range: 0.9,
  in_uv: false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6AD3D7"/>
                </a:solidFill>
                <a:latin typeface="Aptos"/>
              </a:rPr>
              <a:t>命中判定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1828800"/>
            <a:ext cx="1005840" cy="1005840"/>
          </a:xfrm>
          <a:prstGeom prst="ellipse">
            <a:avLst/>
          </a:prstGeom>
          <a:solidFill>
            <a:srgbClr val="122336"/>
          </a:solidFill>
          <a:ln w="25400"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21408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</a:rPr>
              <a:t>点击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53512"/>
            <a:ext cx="13350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A6B0B8"/>
                </a:solidFill>
                <a:latin typeface="Menlo"/>
              </a:rPr>
              <a:t>射线与球相交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1828800"/>
            <a:ext cx="1005840" cy="1005840"/>
          </a:xfrm>
          <a:prstGeom prst="ellipse">
            <a:avLst/>
          </a:prstGeom>
          <a:solidFill>
            <a:srgbClr val="122336"/>
          </a:solidFill>
          <a:ln w="25400"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21408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</a:rPr>
              <a:t>交点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953512"/>
            <a:ext cx="13350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A6B0B8"/>
                </a:solidFill>
                <a:latin typeface="Menlo"/>
              </a:rPr>
              <a:t>position</a:t>
            </a:r>
          </a:p>
        </p:txBody>
      </p:sp>
      <p:sp>
        <p:nvSpPr>
          <p:cNvPr id="17" name="Oval 16"/>
          <p:cNvSpPr/>
          <p:nvPr/>
        </p:nvSpPr>
        <p:spPr>
          <a:xfrm>
            <a:off x="9738360" y="1828800"/>
            <a:ext cx="1005840" cy="1005840"/>
          </a:xfrm>
          <a:prstGeom prst="ellipse">
            <a:avLst/>
          </a:prstGeom>
          <a:solidFill>
            <a:srgbClr val="122336"/>
          </a:solidFill>
          <a:ln w="25400"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121408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</a:rPr>
              <a:t>配置点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953512"/>
            <a:ext cx="13350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A6B0B8"/>
                </a:solidFill>
                <a:latin typeface="Menlo"/>
              </a:rPr>
              <a:t>point.vec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2331720"/>
            <a:ext cx="411479" cy="0"/>
          </a:xfrm>
          <a:prstGeom prst="line">
            <a:avLst/>
          </a:prstGeom>
          <a:ln w="2286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81160" y="2331720"/>
            <a:ext cx="411480" cy="0"/>
          </a:xfrm>
          <a:prstGeom prst="line">
            <a:avLst/>
          </a:prstGeom>
          <a:ln w="2286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36576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5D287"/>
                </a:solidFill>
                <a:latin typeface="Menlo"/>
              </a:rPr>
              <a:t>distance(position, point.vec) ≤ accept_click_range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370832"/>
            <a:ext cx="4526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CFD8DB"/>
                </a:solidFill>
                <a:latin typeface="PingFang SC"/>
              </a:rPr>
              <a:t>如果普通模式与 UV 模式各有一个同位置点，
in_uv 会把两种观察状态隔离开。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F5D287"/>
                </a:solidFill>
                <a:latin typeface="PingFang SC"/>
              </a:rPr>
              <a:t>一句话：把交互语义绑定到空间，而不是绑定到屏幕。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2 · 技术原理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/>
              </a:rPr>
              <a:t>紫外线观察：一条可解释的 Shader，把隐迹“提”出来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11  /  DUNHUANG EXPLORER</a:t>
            </a:r>
          </a:p>
        </p:txBody>
      </p:sp>
      <p:pic>
        <p:nvPicPr>
          <p:cNvPr id="5" name="Picture 4" descr="game-desktop.png"/>
          <p:cNvPicPr>
            <a:picLocks noChangeAspect="1"/>
          </p:cNvPicPr>
          <p:nvPr/>
        </p:nvPicPr>
        <p:blipFill>
          <a:blip r:embed="rId2"/>
          <a:srcRect l="57" r="57"/>
          <a:stretch>
            <a:fillRect/>
          </a:stretch>
        </p:blipFill>
        <p:spPr>
          <a:xfrm>
            <a:off x="658368" y="1417320"/>
            <a:ext cx="3840480" cy="2670048"/>
          </a:xfrm>
          <a:prstGeom prst="rect">
            <a:avLst/>
          </a:prstGeom>
          <a:ln w="16510">
            <a:solidFill>
              <a:srgbClr val="C6BEAF"/>
            </a:solidFill>
          </a:ln>
        </p:spPr>
      </p:pic>
      <p:pic>
        <p:nvPicPr>
          <p:cNvPr id="6" name="Picture 5" descr="game-desktop-ultraviolet.png"/>
          <p:cNvPicPr>
            <a:picLocks noChangeAspect="1"/>
          </p:cNvPicPr>
          <p:nvPr/>
        </p:nvPicPr>
        <p:blipFill>
          <a:blip r:embed="rId3"/>
          <a:srcRect l="57" r="57"/>
          <a:stretch>
            <a:fillRect/>
          </a:stretch>
        </p:blipFill>
        <p:spPr>
          <a:xfrm>
            <a:off x="4553712" y="1417320"/>
            <a:ext cx="3840480" cy="2670048"/>
          </a:xfrm>
          <a:prstGeom prst="rect">
            <a:avLst/>
          </a:prstGeom>
          <a:ln w="16510">
            <a:solidFill>
              <a:srgbClr val="C6BEA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" y="4233672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F262F"/>
                </a:solidFill>
                <a:latin typeface="PingFang SC"/>
              </a:rPr>
              <a:t>普通纹理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23367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8770DC"/>
                </a:solidFill>
                <a:latin typeface="PingFang SC"/>
              </a:rPr>
              <a:t>UV Shader 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417320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DCAF64"/>
                </a:solidFill>
                <a:latin typeface="Aptos"/>
              </a:rPr>
              <a:t>Render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874519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020824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RenderPass
原始场景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40112" y="2514600"/>
            <a:ext cx="0" cy="228600"/>
          </a:xfrm>
          <a:prstGeom prst="line">
            <a:avLst/>
          </a:prstGeom>
          <a:ln w="1905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78240" y="2761488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907792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ShaderPass
亮度 / 色差 / 辉光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40112" y="3401568"/>
            <a:ext cx="0" cy="228600"/>
          </a:xfrm>
          <a:prstGeom prst="line">
            <a:avLst/>
          </a:prstGeom>
          <a:ln w="19050">
            <a:solidFill>
              <a:srgbClr val="877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78240" y="3648456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794760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OutputPass
输出到屏幕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92040"/>
            <a:ext cx="7726679" cy="96012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001768"/>
            <a:ext cx="7434071" cy="7406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CADCE0"/>
                </a:solidFill>
                <a:latin typeface="Menlo"/>
              </a:rPr>
              <a:t>luminance = 0.2126R + 0.7152G + 0.0722B
chroma = max(rgb) - min(rgb)
white = high luminance + low chroma
glow = neighbor samples × blue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983480"/>
            <a:ext cx="26517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F262F"/>
                </a:solidFill>
                <a:latin typeface="PingFang SC"/>
              </a:rPr>
              <a:t>不是滤镜：是“输入 → 特征 → 颜色映射 → 可观察结果”。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078992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DCAF64"/>
                </a:solidFill>
                <a:latin typeface="Aptos"/>
              </a:rPr>
              <a:t>PART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669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PingFang SC"/>
              </a:rPr>
              <a:t>工程总结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34640"/>
            <a:ext cx="8046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D8E0E1"/>
                </a:solidFill>
                <a:latin typeface="PingFang SC"/>
              </a:rPr>
              <a:t>把一次演示，变成可继续、可恢复、可扩展的产品。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8096" y="3703320"/>
            <a:ext cx="2340864" cy="0"/>
          </a:xfrm>
          <a:prstGeom prst="line">
            <a:avLst/>
          </a:prstGeom>
          <a:ln w="2540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68096" y="416052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183380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稳定性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7088" y="416052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088" y="4183380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可维护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16052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183380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436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A6B0B8"/>
                </a:solidFill>
                <a:latin typeface="Aptos"/>
              </a:rPr>
              <a:t>第 3 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12  /  DUNHUANG EXPLORER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3 · 工程总结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/>
              </a:rPr>
              <a:t>产品体验背后：把“能跑”变成“可继续、可恢复、可维护”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13  /  DUNHUANG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异步资源不串台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每次纹理加载都有 loadId；新时相加载后，旧回调自动丢弃。旧纹理及时 dispose。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8191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性能有边界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8424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设备像素比限制为 1.5；普通模式绕开 EffectComposer，只在 UV 模式启用后处理。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进度不丢失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pagehide / visibilitychange / 15 秒备份；刷新后按题目指纹校验并恢复。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54787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失败可重试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95020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纹理、图片、视频、WebGL context lost 均提供错误态和重新加载入口。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38328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338328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89D39E"/>
          </a:solidFill>
          <a:ln>
            <a:solidFill>
              <a:srgbClr val="89D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354787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内容可扩展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95020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新地点、新关卡、新时相主要是配置新增；组件能力复用，页面骨架不变。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38328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38328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54787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验证可复现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95020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/>
              </a:rPr>
              <a:t>Vitest 验证纯函数和 store；Playwright 验证关键路径与视觉快照。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80644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F5D287"/>
                </a:solidFill>
                <a:latin typeface="PingFang SC"/>
              </a:rPr>
              <a:t>工程底线：用户的探索状态是事实，渲染层只是事实的一个视图。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3 · 工程总结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/>
              </a:rPr>
              <a:t>从配置到用户动作：一条闭环如何跑起来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14  /  DUNHUANG EXPLORER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914400" cy="914400"/>
          </a:xfrm>
          <a:prstGeom prst="ellipse">
            <a:avLst/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/>
              </a:rPr>
              <a:t>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/>
              </a:rPr>
              <a:t>data/game.ts
levels / panorama / clues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8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80360" y="1828800"/>
            <a:ext cx="914400" cy="914400"/>
          </a:xfrm>
          <a:prstGeom prst="ellipse">
            <a:avLst/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/>
              </a:rPr>
              <a:t>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/>
              </a:rPr>
              <a:t>PanoramaViewer
Three.js + WebGL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94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66360" y="1828800"/>
            <a:ext cx="914400" cy="914400"/>
          </a:xfrm>
          <a:prstGeom prst="ellipse">
            <a:avLst/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/>
              </a:rPr>
              <a:t>发现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/>
              </a:rPr>
              <a:t>Raycaster
click point / hotspot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52360" y="1828800"/>
            <a:ext cx="914400" cy="914400"/>
          </a:xfrm>
          <a:prstGeom prst="ellipse">
            <a:avLst/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/>
              </a:rPr>
              <a:t>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/>
              </a:rPr>
              <a:t>GameView
题目与线索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66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738360" y="1828800"/>
            <a:ext cx="914400" cy="914400"/>
          </a:xfrm>
          <a:prstGeom prst="ellipse">
            <a:avLst/>
          </a:prstGeom>
          <a:solidFill>
            <a:srgbClr val="89D39E"/>
          </a:solidFill>
          <a:ln>
            <a:solidFill>
              <a:srgbClr val="89D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/>
              </a:rPr>
              <a:t>持久化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/>
              </a:rPr>
              <a:t>Pinia → localStorage
恢复与迁移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90288"/>
            <a:ext cx="10287000" cy="713232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0A1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10287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ingFang SC"/>
              </a:rPr>
              <a:t>用户动作 → 产生事实 → store 记录事实 → UI 反映事实 → 下一次动作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262F"/>
                </a:solidFill>
                <a:latin typeface="PingFang SC"/>
              </a:rPr>
              <a:t>这也是为什么“产品功能”和“底层原理”可以同时讲清楚：每个体验动作都有对应的数据和算法。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PART 3 · 工程总结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/>
              </a:rPr>
              <a:t>两项重点功能，用最短的话讲清楚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15  /  DUNHUANG 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257800" cy="33832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6AD3D7"/>
                </a:solidFill>
                <a:latin typeface="PingFang SC"/>
              </a:rPr>
              <a:t>全景 + 点击发现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43484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</a:rPr>
              <a:t>一张 2:1 全景图
→ 球内壁
→ 相机在球心
→ 射线与球求交
→ 3D 距离命中配置点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70832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A6B0B8"/>
                </a:solidFill>
                <a:latin typeface="PingFang SC"/>
              </a:rPr>
              <a:t>空间坐标让交互跨设备复用。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33832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5564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8770DC"/>
                </a:solidFill>
                <a:latin typeface="PingFang SC"/>
              </a:rPr>
              <a:t>UV Shader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23160"/>
            <a:ext cx="443484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</a:rPr>
              <a:t>原始纹理
→ 亮度 / 色差
→ 深紫蓝映射
→ 高亮低色差识别
→ 邻域采样产生辉光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370832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A6B0B8"/>
                </a:solidFill>
                <a:latin typeface="PingFang SC"/>
              </a:rPr>
              <a:t>不是染色，而是可解释的特征提取。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F5D287"/>
                </a:solidFill>
                <a:latin typeface="PingFang SC"/>
              </a:rPr>
              <a:t>下一步：把更多真实内容接入同一套“数据 → 渲染 → 发现 → 推理”框架。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